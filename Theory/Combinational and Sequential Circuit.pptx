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webp" ContentType="image/webp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71"/>
  </p:notesMasterIdLst>
  <p:sldIdLst>
    <p:sldId id="342" r:id="rId2"/>
    <p:sldId id="343" r:id="rId3"/>
    <p:sldId id="344" r:id="rId4"/>
    <p:sldId id="345" r:id="rId5"/>
    <p:sldId id="346" r:id="rId6"/>
    <p:sldId id="347" r:id="rId7"/>
    <p:sldId id="348" r:id="rId8"/>
    <p:sldId id="256" r:id="rId9"/>
    <p:sldId id="336" r:id="rId10"/>
    <p:sldId id="337" r:id="rId11"/>
    <p:sldId id="355" r:id="rId12"/>
    <p:sldId id="311" r:id="rId13"/>
    <p:sldId id="310" r:id="rId14"/>
    <p:sldId id="339" r:id="rId15"/>
    <p:sldId id="352" r:id="rId16"/>
    <p:sldId id="353" r:id="rId17"/>
    <p:sldId id="354" r:id="rId18"/>
    <p:sldId id="356" r:id="rId19"/>
    <p:sldId id="357" r:id="rId20"/>
    <p:sldId id="359" r:id="rId21"/>
    <p:sldId id="360" r:id="rId22"/>
    <p:sldId id="313" r:id="rId23"/>
    <p:sldId id="361" r:id="rId24"/>
    <p:sldId id="362" r:id="rId25"/>
    <p:sldId id="364" r:id="rId26"/>
    <p:sldId id="363" r:id="rId27"/>
    <p:sldId id="366" r:id="rId28"/>
    <p:sldId id="365" r:id="rId29"/>
    <p:sldId id="367" r:id="rId30"/>
    <p:sldId id="368" r:id="rId31"/>
    <p:sldId id="369" r:id="rId32"/>
    <p:sldId id="370" r:id="rId33"/>
    <p:sldId id="371" r:id="rId34"/>
    <p:sldId id="372" r:id="rId35"/>
    <p:sldId id="373" r:id="rId36"/>
    <p:sldId id="314" r:id="rId37"/>
    <p:sldId id="374" r:id="rId38"/>
    <p:sldId id="375" r:id="rId39"/>
    <p:sldId id="376" r:id="rId40"/>
    <p:sldId id="377" r:id="rId41"/>
    <p:sldId id="378" r:id="rId42"/>
    <p:sldId id="379" r:id="rId43"/>
    <p:sldId id="380" r:id="rId44"/>
    <p:sldId id="381" r:id="rId45"/>
    <p:sldId id="315" r:id="rId46"/>
    <p:sldId id="382" r:id="rId47"/>
    <p:sldId id="383" r:id="rId48"/>
    <p:sldId id="384" r:id="rId49"/>
    <p:sldId id="385" r:id="rId50"/>
    <p:sldId id="386" r:id="rId51"/>
    <p:sldId id="387" r:id="rId52"/>
    <p:sldId id="388" r:id="rId53"/>
    <p:sldId id="389" r:id="rId54"/>
    <p:sldId id="390" r:id="rId55"/>
    <p:sldId id="391" r:id="rId56"/>
    <p:sldId id="392" r:id="rId57"/>
    <p:sldId id="393" r:id="rId58"/>
    <p:sldId id="394" r:id="rId59"/>
    <p:sldId id="395" r:id="rId60"/>
    <p:sldId id="318" r:id="rId61"/>
    <p:sldId id="319" r:id="rId62"/>
    <p:sldId id="320" r:id="rId63"/>
    <p:sldId id="396" r:id="rId64"/>
    <p:sldId id="397" r:id="rId65"/>
    <p:sldId id="321" r:id="rId66"/>
    <p:sldId id="322" r:id="rId67"/>
    <p:sldId id="323" r:id="rId68"/>
    <p:sldId id="324" r:id="rId69"/>
    <p:sldId id="330" r:id="rId7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88151" autoAdjust="0"/>
  </p:normalViewPr>
  <p:slideViewPr>
    <p:cSldViewPr snapToGrid="0">
      <p:cViewPr varScale="1">
        <p:scale>
          <a:sx n="65" d="100"/>
          <a:sy n="65" d="100"/>
        </p:scale>
        <p:origin x="31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8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9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4.emf"/><Relationship Id="rId1" Type="http://schemas.openxmlformats.org/officeDocument/2006/relationships/image" Target="../media/image53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6.e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6.emf"/><Relationship Id="rId1" Type="http://schemas.openxmlformats.org/officeDocument/2006/relationships/image" Target="../media/image57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BE66F9-3D7B-49D0-B83D-490C3005C8CA}" type="datetimeFigureOut">
              <a:rPr lang="en-GB" smtClean="0"/>
              <a:t>03/12/2022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F2A64F-D846-4562-9B1C-493B3418D95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9240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9219D8-BCF2-4D20-AE53-24B13507923B}" type="slidenum">
              <a:rPr lang="en-US"/>
              <a:pPr/>
              <a:t>1</a:t>
            </a:fld>
            <a:endParaRPr lang="en-US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66252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9219D8-BCF2-4D20-AE53-24B13507923B}" type="slidenum">
              <a:rPr lang="en-US"/>
              <a:pPr/>
              <a:t>2</a:t>
            </a:fld>
            <a:endParaRPr lang="en-US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12912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9219D8-BCF2-4D20-AE53-24B13507923B}" type="slidenum">
              <a:rPr lang="en-US"/>
              <a:pPr/>
              <a:t>3</a:t>
            </a:fld>
            <a:endParaRPr lang="en-US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2411260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9219D8-BCF2-4D20-AE53-24B13507923B}" type="slidenum">
              <a:rPr lang="en-US"/>
              <a:pPr/>
              <a:t>4</a:t>
            </a:fld>
            <a:endParaRPr lang="en-US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926668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9219D8-BCF2-4D20-AE53-24B13507923B}" type="slidenum">
              <a:rPr lang="en-US"/>
              <a:pPr/>
              <a:t>5</a:t>
            </a:fld>
            <a:endParaRPr lang="en-US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05773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9219D8-BCF2-4D20-AE53-24B13507923B}" type="slidenum">
              <a:rPr lang="en-US"/>
              <a:pPr/>
              <a:t>6</a:t>
            </a:fld>
            <a:endParaRPr lang="en-US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6211776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9219D8-BCF2-4D20-AE53-24B13507923B}" type="slidenum">
              <a:rPr lang="en-US"/>
              <a:pPr/>
              <a:t>7</a:t>
            </a:fld>
            <a:endParaRPr lang="en-US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762566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F2A64F-D846-4562-9B1C-493B3418D95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87103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C9219D8-BCF2-4D20-AE53-24B13507923B}" type="slidenum">
              <a:rPr lang="en-US"/>
              <a:pPr/>
              <a:t>11</a:t>
            </a:fld>
            <a:endParaRPr lang="en-US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2838534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1015CA-440C-4EB1-9663-E9454C860197}" type="slidenum">
              <a:rPr lang="en-US"/>
              <a:pPr/>
              <a:t>12</a:t>
            </a:fld>
            <a:endParaRPr lang="en-US"/>
          </a:p>
        </p:txBody>
      </p:sp>
      <p:sp>
        <p:nvSpPr>
          <p:cNvPr id="132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321510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DDAE0D-277D-44DD-B16F-93A98D32166E}" type="slidenum">
              <a:rPr lang="en-US"/>
              <a:pPr/>
              <a:t>13</a:t>
            </a:fld>
            <a:endParaRPr lang="en-US"/>
          </a:p>
        </p:txBody>
      </p:sp>
      <p:sp>
        <p:nvSpPr>
          <p:cNvPr id="1300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0608776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F2A64F-D846-4562-9B1C-493B3418D95F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458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F2A64F-D846-4562-9B1C-493B3418D95F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397415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F2A64F-D846-4562-9B1C-493B3418D95F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13889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6F2A64F-D846-4562-9B1C-493B3418D95F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79398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F26F57-7CA6-4F3C-AFA3-76D77075D824}" type="slidenum">
              <a:rPr lang="en-US"/>
              <a:pPr/>
              <a:t>22</a:t>
            </a:fld>
            <a:endParaRPr lang="en-US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877510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F26F57-7CA6-4F3C-AFA3-76D77075D824}" type="slidenum">
              <a:rPr lang="en-US"/>
              <a:pPr/>
              <a:t>23</a:t>
            </a:fld>
            <a:endParaRPr lang="en-US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294338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F26F57-7CA6-4F3C-AFA3-76D77075D824}" type="slidenum">
              <a:rPr lang="en-US"/>
              <a:pPr/>
              <a:t>24</a:t>
            </a:fld>
            <a:endParaRPr lang="en-US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5605863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F26F57-7CA6-4F3C-AFA3-76D77075D824}" type="slidenum">
              <a:rPr lang="en-US"/>
              <a:pPr/>
              <a:t>25</a:t>
            </a:fld>
            <a:endParaRPr lang="en-US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034739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F26F57-7CA6-4F3C-AFA3-76D77075D824}" type="slidenum">
              <a:rPr lang="en-US"/>
              <a:pPr/>
              <a:t>26</a:t>
            </a:fld>
            <a:endParaRPr lang="en-US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0902329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F26F57-7CA6-4F3C-AFA3-76D77075D824}" type="slidenum">
              <a:rPr lang="en-US"/>
              <a:pPr/>
              <a:t>27</a:t>
            </a:fld>
            <a:endParaRPr lang="en-US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3906447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F26F57-7CA6-4F3C-AFA3-76D77075D824}" type="slidenum">
              <a:rPr lang="en-US"/>
              <a:pPr/>
              <a:t>28</a:t>
            </a:fld>
            <a:endParaRPr lang="en-US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6508601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F26F57-7CA6-4F3C-AFA3-76D77075D824}" type="slidenum">
              <a:rPr lang="en-US"/>
              <a:pPr/>
              <a:t>29</a:t>
            </a:fld>
            <a:endParaRPr lang="en-US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228238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F26F57-7CA6-4F3C-AFA3-76D77075D824}" type="slidenum">
              <a:rPr lang="en-US"/>
              <a:pPr/>
              <a:t>30</a:t>
            </a:fld>
            <a:endParaRPr lang="en-US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19913041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F26F57-7CA6-4F3C-AFA3-76D77075D824}" type="slidenum">
              <a:rPr lang="en-US"/>
              <a:pPr/>
              <a:t>31</a:t>
            </a:fld>
            <a:endParaRPr lang="en-US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6873304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F26F57-7CA6-4F3C-AFA3-76D77075D824}" type="slidenum">
              <a:rPr lang="en-US"/>
              <a:pPr/>
              <a:t>32</a:t>
            </a:fld>
            <a:endParaRPr lang="en-US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3657953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F26F57-7CA6-4F3C-AFA3-76D77075D824}" type="slidenum">
              <a:rPr lang="en-US"/>
              <a:pPr/>
              <a:t>33</a:t>
            </a:fld>
            <a:endParaRPr lang="en-US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32175670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F26F57-7CA6-4F3C-AFA3-76D77075D824}" type="slidenum">
              <a:rPr lang="en-US"/>
              <a:pPr/>
              <a:t>34</a:t>
            </a:fld>
            <a:endParaRPr lang="en-US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124017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F26F57-7CA6-4F3C-AFA3-76D77075D824}" type="slidenum">
              <a:rPr lang="en-US"/>
              <a:pPr/>
              <a:t>35</a:t>
            </a:fld>
            <a:endParaRPr lang="en-US"/>
          </a:p>
        </p:txBody>
      </p:sp>
      <p:sp>
        <p:nvSpPr>
          <p:cNvPr id="1361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5697059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7EC4D2-2514-4DDE-B4FD-E8958696F78B}" type="slidenum">
              <a:rPr lang="en-US"/>
              <a:pPr/>
              <a:t>36</a:t>
            </a:fld>
            <a:endParaRPr lang="en-US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9836926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7EC4D2-2514-4DDE-B4FD-E8958696F78B}" type="slidenum">
              <a:rPr lang="en-US"/>
              <a:pPr/>
              <a:t>37</a:t>
            </a:fld>
            <a:endParaRPr lang="en-US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14282412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7EC4D2-2514-4DDE-B4FD-E8958696F78B}" type="slidenum">
              <a:rPr lang="en-US"/>
              <a:pPr/>
              <a:t>38</a:t>
            </a:fld>
            <a:endParaRPr lang="en-US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999828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7EC4D2-2514-4DDE-B4FD-E8958696F78B}" type="slidenum">
              <a:rPr lang="en-US"/>
              <a:pPr/>
              <a:t>39</a:t>
            </a:fld>
            <a:endParaRPr lang="en-US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93327533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7EC4D2-2514-4DDE-B4FD-E8958696F78B}" type="slidenum">
              <a:rPr lang="en-US"/>
              <a:pPr/>
              <a:t>40</a:t>
            </a:fld>
            <a:endParaRPr lang="en-US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50420167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7EC4D2-2514-4DDE-B4FD-E8958696F78B}" type="slidenum">
              <a:rPr lang="en-US"/>
              <a:pPr/>
              <a:t>41</a:t>
            </a:fld>
            <a:endParaRPr lang="en-US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40199217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7EC4D2-2514-4DDE-B4FD-E8958696F78B}" type="slidenum">
              <a:rPr lang="en-US"/>
              <a:pPr/>
              <a:t>42</a:t>
            </a:fld>
            <a:endParaRPr lang="en-US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72374576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7EC4D2-2514-4DDE-B4FD-E8958696F78B}" type="slidenum">
              <a:rPr lang="en-US"/>
              <a:pPr/>
              <a:t>43</a:t>
            </a:fld>
            <a:endParaRPr lang="en-US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05738045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7EC4D2-2514-4DDE-B4FD-E8958696F78B}" type="slidenum">
              <a:rPr lang="en-US"/>
              <a:pPr/>
              <a:t>44</a:t>
            </a:fld>
            <a:endParaRPr lang="en-US"/>
          </a:p>
        </p:txBody>
      </p:sp>
      <p:sp>
        <p:nvSpPr>
          <p:cNvPr id="138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2487995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863308-6A39-42FA-BD45-192F979D31C4}" type="slidenum">
              <a:rPr lang="en-US"/>
              <a:pPr/>
              <a:t>45</a:t>
            </a:fld>
            <a:endParaRPr lang="en-US"/>
          </a:p>
        </p:txBody>
      </p:sp>
      <p:sp>
        <p:nvSpPr>
          <p:cNvPr id="1402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4503238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54B850-3775-4137-A761-A67582456FEE}" type="slidenum">
              <a:rPr lang="en-US"/>
              <a:pPr/>
              <a:t>60</a:t>
            </a:fld>
            <a:endParaRPr lang="en-US"/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04403418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195057-DAEE-4C6F-BC8C-7AB738CC3A99}" type="slidenum">
              <a:rPr lang="en-US"/>
              <a:pPr/>
              <a:t>61</a:t>
            </a:fld>
            <a:endParaRPr lang="en-US"/>
          </a:p>
        </p:txBody>
      </p:sp>
      <p:sp>
        <p:nvSpPr>
          <p:cNvPr id="1464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3108106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1D12D1-116D-4A00-8B23-D3D192AE62BF}" type="slidenum">
              <a:rPr lang="en-US"/>
              <a:pPr/>
              <a:t>62</a:t>
            </a:fld>
            <a:endParaRPr lang="en-US"/>
          </a:p>
        </p:txBody>
      </p:sp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68461170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1D12D1-116D-4A00-8B23-D3D192AE62BF}" type="slidenum">
              <a:rPr lang="en-US"/>
              <a:pPr/>
              <a:t>63</a:t>
            </a:fld>
            <a:endParaRPr lang="en-US"/>
          </a:p>
        </p:txBody>
      </p:sp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74140989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21D12D1-116D-4A00-8B23-D3D192AE62BF}" type="slidenum">
              <a:rPr lang="en-US"/>
              <a:pPr/>
              <a:t>64</a:t>
            </a:fld>
            <a:endParaRPr lang="en-US"/>
          </a:p>
        </p:txBody>
      </p:sp>
      <p:sp>
        <p:nvSpPr>
          <p:cNvPr id="148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0407378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0250687-889A-41D5-965F-D694E5EB2A3B}" type="slidenum">
              <a:rPr lang="en-US"/>
              <a:pPr/>
              <a:t>65</a:t>
            </a:fld>
            <a:endParaRPr lang="en-US"/>
          </a:p>
        </p:txBody>
      </p:sp>
      <p:sp>
        <p:nvSpPr>
          <p:cNvPr id="150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4569526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71515B9-A3B2-4D8D-9756-576FC15044E2}" type="slidenum">
              <a:rPr lang="en-US"/>
              <a:pPr/>
              <a:t>66</a:t>
            </a:fld>
            <a:endParaRPr lang="en-US"/>
          </a:p>
        </p:txBody>
      </p:sp>
      <p:sp>
        <p:nvSpPr>
          <p:cNvPr id="152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65856187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14AA2D-F391-4FB7-B5B0-412C8EC96356}" type="slidenum">
              <a:rPr lang="en-US"/>
              <a:pPr/>
              <a:t>67</a:t>
            </a:fld>
            <a:endParaRPr lang="en-US"/>
          </a:p>
        </p:txBody>
      </p:sp>
      <p:sp>
        <p:nvSpPr>
          <p:cNvPr id="183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32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4815976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B8118D-F320-449D-98EF-1A06B6F9D409}" type="slidenum">
              <a:rPr lang="en-US"/>
              <a:pPr/>
              <a:t>68</a:t>
            </a:fld>
            <a:endParaRPr lang="en-US"/>
          </a:p>
        </p:txBody>
      </p:sp>
      <p:sp>
        <p:nvSpPr>
          <p:cNvPr id="154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86456379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EA17C9-394E-416D-B10C-819265BD90A6}" type="slidenum">
              <a:rPr lang="en-US"/>
              <a:pPr/>
              <a:t>69</a:t>
            </a:fld>
            <a:endParaRPr lang="en-US"/>
          </a:p>
        </p:txBody>
      </p:sp>
      <p:sp>
        <p:nvSpPr>
          <p:cNvPr id="160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9011315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by, Adil Khan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by, Adil Khan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by, Adil Khan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by, Adil Khan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by, Adil Khan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by, Adil Khan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by, Adil Khan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by, Adil Khan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by, Adil Khan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by, Adil Khan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Designed by, Adil Khan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شريحة عنوان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8" name="Rectangle 10"/>
          <p:cNvSpPr>
            <a:spLocks noChangeArrowheads="1"/>
          </p:cNvSpPr>
          <p:nvPr userDrawn="1"/>
        </p:nvSpPr>
        <p:spPr bwMode="auto">
          <a:xfrm>
            <a:off x="0" y="2330450"/>
            <a:ext cx="11988800" cy="2241550"/>
          </a:xfrm>
          <a:prstGeom prst="rect">
            <a:avLst/>
          </a:prstGeom>
          <a:gradFill rotWithShape="1">
            <a:gsLst>
              <a:gs pos="0">
                <a:srgbClr val="3399FF"/>
              </a:gs>
              <a:gs pos="50000">
                <a:schemeClr val="hlink"/>
              </a:gs>
              <a:gs pos="100000">
                <a:srgbClr val="3399FF"/>
              </a:gs>
            </a:gsLst>
            <a:lin ang="2700000" scaled="1"/>
          </a:gradFill>
          <a:ln w="19050">
            <a:solidFill>
              <a:schemeClr val="tx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SA" sz="1800"/>
          </a:p>
        </p:txBody>
      </p:sp>
      <p:sp>
        <p:nvSpPr>
          <p:cNvPr id="37902" name="Rectangle 14"/>
          <p:cNvSpPr>
            <a:spLocks noChangeArrowheads="1"/>
          </p:cNvSpPr>
          <p:nvPr userDrawn="1"/>
        </p:nvSpPr>
        <p:spPr bwMode="auto">
          <a:xfrm>
            <a:off x="609600" y="457200"/>
            <a:ext cx="10871200" cy="5791200"/>
          </a:xfrm>
          <a:prstGeom prst="rect">
            <a:avLst/>
          </a:prstGeom>
          <a:solidFill>
            <a:srgbClr val="FFFFFF"/>
          </a:solidFill>
          <a:ln w="28575">
            <a:solidFill>
              <a:srgbClr val="996633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SA" sz="1800"/>
          </a:p>
        </p:txBody>
      </p:sp>
      <p:sp>
        <p:nvSpPr>
          <p:cNvPr id="37903" name="Text Box 15"/>
          <p:cNvSpPr txBox="1">
            <a:spLocks noChangeArrowheads="1"/>
          </p:cNvSpPr>
          <p:nvPr userDrawn="1"/>
        </p:nvSpPr>
        <p:spPr bwMode="auto">
          <a:xfrm>
            <a:off x="5181600" y="6400800"/>
            <a:ext cx="68072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1200">
                <a:solidFill>
                  <a:srgbClr val="996633"/>
                </a:solidFill>
              </a:rPr>
              <a:t>© 2009 Pearson Education, Upper Saddle River, NJ 07458. All Rights Reserved</a:t>
            </a:r>
          </a:p>
        </p:txBody>
      </p:sp>
      <p:sp>
        <p:nvSpPr>
          <p:cNvPr id="37904" name="Text Box 16"/>
          <p:cNvSpPr txBox="1">
            <a:spLocks noChangeArrowheads="1"/>
          </p:cNvSpPr>
          <p:nvPr userDrawn="1"/>
        </p:nvSpPr>
        <p:spPr bwMode="auto">
          <a:xfrm>
            <a:off x="203200" y="6400800"/>
            <a:ext cx="37592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200" b="1">
                <a:solidFill>
                  <a:srgbClr val="FFFFFF"/>
                </a:solidFill>
              </a:rPr>
              <a:t>Floyd, Digital Fundamentals, 10</a:t>
            </a:r>
            <a:r>
              <a:rPr lang="en-US" sz="1200" b="1" baseline="30000">
                <a:solidFill>
                  <a:srgbClr val="FFFFFF"/>
                </a:solidFill>
              </a:rPr>
              <a:t>th</a:t>
            </a:r>
            <a:r>
              <a:rPr lang="en-US" sz="1200" b="1">
                <a:solidFill>
                  <a:srgbClr val="FFFFFF"/>
                </a:solidFill>
              </a:rPr>
              <a:t> ed</a:t>
            </a:r>
          </a:p>
        </p:txBody>
      </p:sp>
    </p:spTree>
    <p:extLst>
      <p:ext uri="{BB962C8B-B14F-4D97-AF65-F5344CB8AC3E}">
        <p14:creationId xmlns:p14="http://schemas.microsoft.com/office/powerpoint/2010/main" val="884930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Designed by, Adil Khan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3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image" Target="../media/image3.jp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notesSlide" Target="../notesSlides/notesSlide10.xml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notesSlide" Target="../notesSlides/notesSlide11.xml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9.e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eb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eb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eb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eb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web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webp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web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web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jpg"/><Relationship Id="rId4" Type="http://schemas.openxmlformats.org/officeDocument/2006/relationships/image" Target="../media/image3.jp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3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3.jp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3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3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3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3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3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3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4.png"/><Relationship Id="rId4" Type="http://schemas.openxmlformats.org/officeDocument/2006/relationships/image" Target="../media/image3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5.png"/><Relationship Id="rId4" Type="http://schemas.openxmlformats.org/officeDocument/2006/relationships/image" Target="../media/image3.jp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6.png"/><Relationship Id="rId4" Type="http://schemas.openxmlformats.org/officeDocument/2006/relationships/image" Target="../media/image3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7.png"/><Relationship Id="rId4" Type="http://schemas.openxmlformats.org/officeDocument/2006/relationships/image" Target="../media/image3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3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9.png"/><Relationship Id="rId4" Type="http://schemas.openxmlformats.org/officeDocument/2006/relationships/image" Target="../media/image3.jp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3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1.png"/><Relationship Id="rId4" Type="http://schemas.openxmlformats.org/officeDocument/2006/relationships/image" Target="../media/image3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2.png"/><Relationship Id="rId4" Type="http://schemas.openxmlformats.org/officeDocument/2006/relationships/image" Target="../media/image3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3.png"/><Relationship Id="rId4" Type="http://schemas.openxmlformats.org/officeDocument/2006/relationships/image" Target="../media/image3.jp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4.png"/><Relationship Id="rId4" Type="http://schemas.openxmlformats.org/officeDocument/2006/relationships/image" Target="../media/image3.jp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5.png"/><Relationship Id="rId4" Type="http://schemas.openxmlformats.org/officeDocument/2006/relationships/image" Target="../media/image3.jp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6.png"/><Relationship Id="rId4" Type="http://schemas.openxmlformats.org/officeDocument/2006/relationships/image" Target="../media/image3.jp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7.png"/><Relationship Id="rId4" Type="http://schemas.openxmlformats.org/officeDocument/2006/relationships/image" Target="../media/image3.jp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9.xml"/><Relationship Id="rId7" Type="http://schemas.openxmlformats.org/officeDocument/2006/relationships/image" Target="../media/image3.jp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38.e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2.jpe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7" Type="http://schemas.openxmlformats.org/officeDocument/2006/relationships/image" Target="../media/image3.jp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7.e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2.jpe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7" Type="http://schemas.openxmlformats.org/officeDocument/2006/relationships/image" Target="../media/image3.jp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48.e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2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7" Type="http://schemas.openxmlformats.org/officeDocument/2006/relationships/image" Target="../media/image3.jp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49.e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2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gif"/><Relationship Id="rId5" Type="http://schemas.openxmlformats.org/officeDocument/2006/relationships/image" Target="../media/image50.gif"/><Relationship Id="rId4" Type="http://schemas.openxmlformats.org/officeDocument/2006/relationships/image" Target="../media/image3.jp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1.gif"/><Relationship Id="rId5" Type="http://schemas.openxmlformats.org/officeDocument/2006/relationships/image" Target="../media/image50.gif"/><Relationship Id="rId4" Type="http://schemas.openxmlformats.org/officeDocument/2006/relationships/image" Target="../media/image3.jp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3" Type="http://schemas.openxmlformats.org/officeDocument/2006/relationships/notesSlide" Target="../notesSlides/notesSlide45.xml"/><Relationship Id="rId7" Type="http://schemas.openxmlformats.org/officeDocument/2006/relationships/oleObject" Target="../embeddings/oleObject11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3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2.jpeg"/><Relationship Id="rId9" Type="http://schemas.openxmlformats.org/officeDocument/2006/relationships/image" Target="../media/image3.jp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6.xml"/><Relationship Id="rId7" Type="http://schemas.openxmlformats.org/officeDocument/2006/relationships/image" Target="../media/image3.jp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5.e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2.jpe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7.xml"/><Relationship Id="rId7" Type="http://schemas.openxmlformats.org/officeDocument/2006/relationships/image" Target="../media/image3.jp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6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2.jpe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emf"/><Relationship Id="rId3" Type="http://schemas.openxmlformats.org/officeDocument/2006/relationships/notesSlide" Target="../notesSlides/notesSlide48.xml"/><Relationship Id="rId7" Type="http://schemas.openxmlformats.org/officeDocument/2006/relationships/oleObject" Target="../embeddings/oleObject15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.jpeg"/><Relationship Id="rId5" Type="http://schemas.openxmlformats.org/officeDocument/2006/relationships/image" Target="../media/image57.emf"/><Relationship Id="rId4" Type="http://schemas.openxmlformats.org/officeDocument/2006/relationships/oleObject" Target="../embeddings/oleObject14.bin"/><Relationship Id="rId9" Type="http://schemas.openxmlformats.org/officeDocument/2006/relationships/image" Target="../media/image3.jp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6" name="Picture 24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3084" name="Text Box 12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3111" name="Text Box 39"/>
          <p:cNvSpPr txBox="1">
            <a:spLocks noChangeArrowheads="1"/>
          </p:cNvSpPr>
          <p:nvPr/>
        </p:nvSpPr>
        <p:spPr bwMode="auto">
          <a:xfrm>
            <a:off x="8610600" y="39624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i="1">
                <a:solidFill>
                  <a:srgbClr val="FF0000"/>
                </a:solidFill>
              </a:rPr>
              <a:t>Q</a:t>
            </a:r>
          </a:p>
        </p:txBody>
      </p:sp>
      <p:grpSp>
        <p:nvGrpSpPr>
          <p:cNvPr id="3127" name="Group 55"/>
          <p:cNvGrpSpPr>
            <a:grpSpLocks/>
          </p:cNvGrpSpPr>
          <p:nvPr/>
        </p:nvGrpSpPr>
        <p:grpSpPr bwMode="auto">
          <a:xfrm>
            <a:off x="6629400" y="3810000"/>
            <a:ext cx="381000" cy="336550"/>
            <a:chOff x="3216" y="2400"/>
            <a:chExt cx="240" cy="212"/>
          </a:xfrm>
        </p:grpSpPr>
        <p:sp>
          <p:nvSpPr>
            <p:cNvPr id="3109" name="Text Box 37"/>
            <p:cNvSpPr txBox="1">
              <a:spLocks noChangeArrowheads="1"/>
            </p:cNvSpPr>
            <p:nvPr/>
          </p:nvSpPr>
          <p:spPr bwMode="auto">
            <a:xfrm>
              <a:off x="3216" y="2400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S</a:t>
              </a:r>
            </a:p>
          </p:txBody>
        </p:sp>
        <p:sp>
          <p:nvSpPr>
            <p:cNvPr id="3121" name="Line 49"/>
            <p:cNvSpPr>
              <a:spLocks noChangeShapeType="1"/>
            </p:cNvSpPr>
            <p:nvPr/>
          </p:nvSpPr>
          <p:spPr bwMode="auto">
            <a:xfrm>
              <a:off x="3264" y="2448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grpSp>
        <p:nvGrpSpPr>
          <p:cNvPr id="3126" name="Group 54"/>
          <p:cNvGrpSpPr>
            <a:grpSpLocks/>
          </p:cNvGrpSpPr>
          <p:nvPr/>
        </p:nvGrpSpPr>
        <p:grpSpPr bwMode="auto">
          <a:xfrm>
            <a:off x="6629400" y="5257800"/>
            <a:ext cx="381000" cy="336550"/>
            <a:chOff x="3216" y="3312"/>
            <a:chExt cx="240" cy="212"/>
          </a:xfrm>
        </p:grpSpPr>
        <p:sp>
          <p:nvSpPr>
            <p:cNvPr id="3107" name="Text Box 35"/>
            <p:cNvSpPr txBox="1">
              <a:spLocks noChangeArrowheads="1"/>
            </p:cNvSpPr>
            <p:nvPr/>
          </p:nvSpPr>
          <p:spPr bwMode="auto">
            <a:xfrm>
              <a:off x="3216" y="3312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R</a:t>
              </a:r>
            </a:p>
          </p:txBody>
        </p:sp>
        <p:sp>
          <p:nvSpPr>
            <p:cNvPr id="3122" name="Line 50"/>
            <p:cNvSpPr>
              <a:spLocks noChangeShapeType="1"/>
            </p:cNvSpPr>
            <p:nvPr/>
          </p:nvSpPr>
          <p:spPr bwMode="auto">
            <a:xfrm>
              <a:off x="3264" y="3360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grpSp>
        <p:nvGrpSpPr>
          <p:cNvPr id="3124" name="Group 52"/>
          <p:cNvGrpSpPr>
            <a:grpSpLocks/>
          </p:cNvGrpSpPr>
          <p:nvPr/>
        </p:nvGrpSpPr>
        <p:grpSpPr bwMode="auto">
          <a:xfrm>
            <a:off x="8620125" y="5081588"/>
            <a:ext cx="381000" cy="336550"/>
            <a:chOff x="4470" y="3201"/>
            <a:chExt cx="240" cy="212"/>
          </a:xfrm>
        </p:grpSpPr>
        <p:sp>
          <p:nvSpPr>
            <p:cNvPr id="3112" name="Text Box 40"/>
            <p:cNvSpPr txBox="1">
              <a:spLocks noChangeArrowheads="1"/>
            </p:cNvSpPr>
            <p:nvPr/>
          </p:nvSpPr>
          <p:spPr bwMode="auto">
            <a:xfrm>
              <a:off x="4470" y="3201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Q</a:t>
              </a:r>
            </a:p>
          </p:txBody>
        </p:sp>
        <p:sp>
          <p:nvSpPr>
            <p:cNvPr id="3123" name="Line 51"/>
            <p:cNvSpPr>
              <a:spLocks noChangeShapeType="1"/>
            </p:cNvSpPr>
            <p:nvPr/>
          </p:nvSpPr>
          <p:spPr bwMode="auto">
            <a:xfrm>
              <a:off x="4547" y="3237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sp>
        <p:nvSpPr>
          <p:cNvPr id="3128" name="Rectangle 56"/>
          <p:cNvSpPr>
            <a:spLocks noChangeArrowheads="1"/>
          </p:cNvSpPr>
          <p:nvPr/>
        </p:nvSpPr>
        <p:spPr bwMode="auto">
          <a:xfrm>
            <a:off x="6400800" y="3581400"/>
            <a:ext cx="3124200" cy="24384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SA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3065155" y="2717226"/>
            <a:ext cx="64598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3200" b="1" dirty="0"/>
              <a:t>Combinational and Sequential Circuit</a:t>
            </a:r>
          </a:p>
        </p:txBody>
      </p:sp>
    </p:spTree>
    <p:extLst>
      <p:ext uri="{BB962C8B-B14F-4D97-AF65-F5344CB8AC3E}">
        <p14:creationId xmlns:p14="http://schemas.microsoft.com/office/powerpoint/2010/main" val="1437559811"/>
      </p:ext>
    </p:extLst>
  </p:cSld>
  <p:clrMapOvr>
    <a:masterClrMapping/>
  </p:clrMapOvr>
  <p:transition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3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6" name="Picture 24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3084" name="Text Box 12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3111" name="Text Box 39"/>
          <p:cNvSpPr txBox="1">
            <a:spLocks noChangeArrowheads="1"/>
          </p:cNvSpPr>
          <p:nvPr/>
        </p:nvSpPr>
        <p:spPr bwMode="auto">
          <a:xfrm>
            <a:off x="8610600" y="39624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i="1">
                <a:solidFill>
                  <a:srgbClr val="FF0000"/>
                </a:solidFill>
              </a:rPr>
              <a:t>Q</a:t>
            </a:r>
          </a:p>
        </p:txBody>
      </p:sp>
      <p:grpSp>
        <p:nvGrpSpPr>
          <p:cNvPr id="3127" name="Group 55"/>
          <p:cNvGrpSpPr>
            <a:grpSpLocks/>
          </p:cNvGrpSpPr>
          <p:nvPr/>
        </p:nvGrpSpPr>
        <p:grpSpPr bwMode="auto">
          <a:xfrm>
            <a:off x="6629400" y="3810000"/>
            <a:ext cx="381000" cy="336550"/>
            <a:chOff x="3216" y="2400"/>
            <a:chExt cx="240" cy="212"/>
          </a:xfrm>
        </p:grpSpPr>
        <p:sp>
          <p:nvSpPr>
            <p:cNvPr id="3109" name="Text Box 37"/>
            <p:cNvSpPr txBox="1">
              <a:spLocks noChangeArrowheads="1"/>
            </p:cNvSpPr>
            <p:nvPr/>
          </p:nvSpPr>
          <p:spPr bwMode="auto">
            <a:xfrm>
              <a:off x="3216" y="2400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S</a:t>
              </a:r>
            </a:p>
          </p:txBody>
        </p:sp>
        <p:sp>
          <p:nvSpPr>
            <p:cNvPr id="3121" name="Line 49"/>
            <p:cNvSpPr>
              <a:spLocks noChangeShapeType="1"/>
            </p:cNvSpPr>
            <p:nvPr/>
          </p:nvSpPr>
          <p:spPr bwMode="auto">
            <a:xfrm>
              <a:off x="3264" y="2448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grpSp>
        <p:nvGrpSpPr>
          <p:cNvPr id="3126" name="Group 54"/>
          <p:cNvGrpSpPr>
            <a:grpSpLocks/>
          </p:cNvGrpSpPr>
          <p:nvPr/>
        </p:nvGrpSpPr>
        <p:grpSpPr bwMode="auto">
          <a:xfrm>
            <a:off x="6629400" y="5257800"/>
            <a:ext cx="381000" cy="336550"/>
            <a:chOff x="3216" y="3312"/>
            <a:chExt cx="240" cy="212"/>
          </a:xfrm>
        </p:grpSpPr>
        <p:sp>
          <p:nvSpPr>
            <p:cNvPr id="3107" name="Text Box 35"/>
            <p:cNvSpPr txBox="1">
              <a:spLocks noChangeArrowheads="1"/>
            </p:cNvSpPr>
            <p:nvPr/>
          </p:nvSpPr>
          <p:spPr bwMode="auto">
            <a:xfrm>
              <a:off x="3216" y="3312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R</a:t>
              </a:r>
            </a:p>
          </p:txBody>
        </p:sp>
        <p:sp>
          <p:nvSpPr>
            <p:cNvPr id="3122" name="Line 50"/>
            <p:cNvSpPr>
              <a:spLocks noChangeShapeType="1"/>
            </p:cNvSpPr>
            <p:nvPr/>
          </p:nvSpPr>
          <p:spPr bwMode="auto">
            <a:xfrm>
              <a:off x="3264" y="3360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grpSp>
        <p:nvGrpSpPr>
          <p:cNvPr id="3124" name="Group 52"/>
          <p:cNvGrpSpPr>
            <a:grpSpLocks/>
          </p:cNvGrpSpPr>
          <p:nvPr/>
        </p:nvGrpSpPr>
        <p:grpSpPr bwMode="auto">
          <a:xfrm>
            <a:off x="8620125" y="5081588"/>
            <a:ext cx="381000" cy="336550"/>
            <a:chOff x="4470" y="3201"/>
            <a:chExt cx="240" cy="212"/>
          </a:xfrm>
        </p:grpSpPr>
        <p:sp>
          <p:nvSpPr>
            <p:cNvPr id="3112" name="Text Box 40"/>
            <p:cNvSpPr txBox="1">
              <a:spLocks noChangeArrowheads="1"/>
            </p:cNvSpPr>
            <p:nvPr/>
          </p:nvSpPr>
          <p:spPr bwMode="auto">
            <a:xfrm>
              <a:off x="4470" y="3201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Q</a:t>
              </a:r>
            </a:p>
          </p:txBody>
        </p:sp>
        <p:sp>
          <p:nvSpPr>
            <p:cNvPr id="3123" name="Line 51"/>
            <p:cNvSpPr>
              <a:spLocks noChangeShapeType="1"/>
            </p:cNvSpPr>
            <p:nvPr/>
          </p:nvSpPr>
          <p:spPr bwMode="auto">
            <a:xfrm>
              <a:off x="4547" y="3237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sp>
        <p:nvSpPr>
          <p:cNvPr id="3128" name="Rectangle 56"/>
          <p:cNvSpPr>
            <a:spLocks noChangeArrowheads="1"/>
          </p:cNvSpPr>
          <p:nvPr/>
        </p:nvSpPr>
        <p:spPr bwMode="auto">
          <a:xfrm>
            <a:off x="6400800" y="3581400"/>
            <a:ext cx="3124200" cy="24384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SA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959887" y="2331529"/>
            <a:ext cx="1027222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b="1" dirty="0"/>
              <a:t>Combinational circuits</a:t>
            </a:r>
            <a:r>
              <a:rPr lang="en-GB" sz="3200" dirty="0"/>
              <a:t> are defined as the time independent circuits which do not depends upon previous inputs to generate any output are termed as combinational circuits.</a:t>
            </a:r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val="3110934347"/>
      </p:ext>
    </p:extLst>
  </p:cSld>
  <p:clrMapOvr>
    <a:masterClrMapping/>
  </p:clrMapOvr>
  <p:transition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3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6" name="Picture 24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3084" name="Text Box 12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3111" name="Text Box 39"/>
          <p:cNvSpPr txBox="1">
            <a:spLocks noChangeArrowheads="1"/>
          </p:cNvSpPr>
          <p:nvPr/>
        </p:nvSpPr>
        <p:spPr bwMode="auto">
          <a:xfrm>
            <a:off x="8610600" y="39624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i="1">
                <a:solidFill>
                  <a:srgbClr val="FF0000"/>
                </a:solidFill>
              </a:rPr>
              <a:t>Q</a:t>
            </a:r>
          </a:p>
        </p:txBody>
      </p:sp>
      <p:grpSp>
        <p:nvGrpSpPr>
          <p:cNvPr id="3127" name="Group 55"/>
          <p:cNvGrpSpPr>
            <a:grpSpLocks/>
          </p:cNvGrpSpPr>
          <p:nvPr/>
        </p:nvGrpSpPr>
        <p:grpSpPr bwMode="auto">
          <a:xfrm>
            <a:off x="6629400" y="3810000"/>
            <a:ext cx="381000" cy="336550"/>
            <a:chOff x="3216" y="2400"/>
            <a:chExt cx="240" cy="212"/>
          </a:xfrm>
        </p:grpSpPr>
        <p:sp>
          <p:nvSpPr>
            <p:cNvPr id="3109" name="Text Box 37"/>
            <p:cNvSpPr txBox="1">
              <a:spLocks noChangeArrowheads="1"/>
            </p:cNvSpPr>
            <p:nvPr/>
          </p:nvSpPr>
          <p:spPr bwMode="auto">
            <a:xfrm>
              <a:off x="3216" y="2400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S</a:t>
              </a:r>
            </a:p>
          </p:txBody>
        </p:sp>
        <p:sp>
          <p:nvSpPr>
            <p:cNvPr id="3121" name="Line 49"/>
            <p:cNvSpPr>
              <a:spLocks noChangeShapeType="1"/>
            </p:cNvSpPr>
            <p:nvPr/>
          </p:nvSpPr>
          <p:spPr bwMode="auto">
            <a:xfrm>
              <a:off x="3264" y="2448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grpSp>
        <p:nvGrpSpPr>
          <p:cNvPr id="3126" name="Group 54"/>
          <p:cNvGrpSpPr>
            <a:grpSpLocks/>
          </p:cNvGrpSpPr>
          <p:nvPr/>
        </p:nvGrpSpPr>
        <p:grpSpPr bwMode="auto">
          <a:xfrm>
            <a:off x="6629400" y="5257800"/>
            <a:ext cx="381000" cy="336550"/>
            <a:chOff x="3216" y="3312"/>
            <a:chExt cx="240" cy="212"/>
          </a:xfrm>
        </p:grpSpPr>
        <p:sp>
          <p:nvSpPr>
            <p:cNvPr id="3107" name="Text Box 35"/>
            <p:cNvSpPr txBox="1">
              <a:spLocks noChangeArrowheads="1"/>
            </p:cNvSpPr>
            <p:nvPr/>
          </p:nvSpPr>
          <p:spPr bwMode="auto">
            <a:xfrm>
              <a:off x="3216" y="3312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R</a:t>
              </a:r>
            </a:p>
          </p:txBody>
        </p:sp>
        <p:sp>
          <p:nvSpPr>
            <p:cNvPr id="3122" name="Line 50"/>
            <p:cNvSpPr>
              <a:spLocks noChangeShapeType="1"/>
            </p:cNvSpPr>
            <p:nvPr/>
          </p:nvSpPr>
          <p:spPr bwMode="auto">
            <a:xfrm>
              <a:off x="3264" y="3360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grpSp>
        <p:nvGrpSpPr>
          <p:cNvPr id="3124" name="Group 52"/>
          <p:cNvGrpSpPr>
            <a:grpSpLocks/>
          </p:cNvGrpSpPr>
          <p:nvPr/>
        </p:nvGrpSpPr>
        <p:grpSpPr bwMode="auto">
          <a:xfrm>
            <a:off x="8620125" y="5081588"/>
            <a:ext cx="381000" cy="336550"/>
            <a:chOff x="4470" y="3201"/>
            <a:chExt cx="240" cy="212"/>
          </a:xfrm>
        </p:grpSpPr>
        <p:sp>
          <p:nvSpPr>
            <p:cNvPr id="3112" name="Text Box 40"/>
            <p:cNvSpPr txBox="1">
              <a:spLocks noChangeArrowheads="1"/>
            </p:cNvSpPr>
            <p:nvPr/>
          </p:nvSpPr>
          <p:spPr bwMode="auto">
            <a:xfrm>
              <a:off x="4470" y="3201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Q</a:t>
              </a:r>
            </a:p>
          </p:txBody>
        </p:sp>
        <p:sp>
          <p:nvSpPr>
            <p:cNvPr id="3123" name="Line 51"/>
            <p:cNvSpPr>
              <a:spLocks noChangeShapeType="1"/>
            </p:cNvSpPr>
            <p:nvPr/>
          </p:nvSpPr>
          <p:spPr bwMode="auto">
            <a:xfrm>
              <a:off x="4547" y="3237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sp>
        <p:nvSpPr>
          <p:cNvPr id="3128" name="Rectangle 56"/>
          <p:cNvSpPr>
            <a:spLocks noChangeArrowheads="1"/>
          </p:cNvSpPr>
          <p:nvPr/>
        </p:nvSpPr>
        <p:spPr bwMode="auto">
          <a:xfrm>
            <a:off x="6400800" y="3581400"/>
            <a:ext cx="3124200" cy="24384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SA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63444" y="1981200"/>
            <a:ext cx="8721214" cy="33547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2000" b="1" dirty="0"/>
              <a:t>Combinational Circuit –</a:t>
            </a:r>
          </a:p>
          <a:p>
            <a:pPr indent="-342900" fontAlgn="base">
              <a:buFont typeface="Arial" panose="020B0604020202020204" pitchFamily="34" charset="0"/>
              <a:buChar char="•"/>
            </a:pPr>
            <a:r>
              <a:rPr lang="en-GB" sz="2400" dirty="0"/>
              <a:t>In this output depends only upon present input.</a:t>
            </a:r>
          </a:p>
          <a:p>
            <a:pPr indent="-342900" fontAlgn="base">
              <a:buFont typeface="Arial" panose="020B0604020202020204" pitchFamily="34" charset="0"/>
              <a:buChar char="•"/>
            </a:pPr>
            <a:r>
              <a:rPr lang="en-GB" sz="2400" dirty="0"/>
              <a:t>Speed is fast.</a:t>
            </a:r>
          </a:p>
          <a:p>
            <a:pPr indent="-342900" fontAlgn="base">
              <a:buFont typeface="Arial" panose="020B0604020202020204" pitchFamily="34" charset="0"/>
              <a:buChar char="•"/>
            </a:pPr>
            <a:r>
              <a:rPr lang="en-GB" sz="2400" dirty="0"/>
              <a:t>It is designed easy.</a:t>
            </a:r>
          </a:p>
          <a:p>
            <a:pPr indent="-342900" fontAlgn="base">
              <a:buFont typeface="Arial" panose="020B0604020202020204" pitchFamily="34" charset="0"/>
              <a:buChar char="•"/>
            </a:pPr>
            <a:r>
              <a:rPr lang="en-GB" sz="2400" dirty="0"/>
              <a:t>There is no feedback between input and output.</a:t>
            </a:r>
          </a:p>
          <a:p>
            <a:pPr indent="-342900" fontAlgn="base">
              <a:buFont typeface="Arial" panose="020B0604020202020204" pitchFamily="34" charset="0"/>
              <a:buChar char="•"/>
            </a:pPr>
            <a:r>
              <a:rPr lang="en-GB" sz="2400" dirty="0"/>
              <a:t>This is time independent.</a:t>
            </a:r>
          </a:p>
          <a:p>
            <a:pPr indent="-342900" fontAlgn="base">
              <a:buFont typeface="Arial" panose="020B0604020202020204" pitchFamily="34" charset="0"/>
              <a:buChar char="•"/>
            </a:pPr>
            <a:r>
              <a:rPr lang="en-GB" sz="2400" dirty="0"/>
              <a:t>Elementary building blocks: Logic gates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 sz="2400" dirty="0"/>
              <a:t>Combinational circuits don’t have capability to store any state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 sz="2400" dirty="0"/>
              <a:t>These circuits do not have any memory element</a:t>
            </a:r>
            <a:endParaRPr lang="en-GB" sz="2400" b="0" i="0" dirty="0">
              <a:solidFill>
                <a:srgbClr val="273239"/>
              </a:solidFill>
              <a:effectLst/>
              <a:latin typeface="urw-din"/>
            </a:endParaRPr>
          </a:p>
        </p:txBody>
      </p:sp>
    </p:spTree>
    <p:extLst>
      <p:ext uri="{BB962C8B-B14F-4D97-AF65-F5344CB8AC3E}">
        <p14:creationId xmlns:p14="http://schemas.microsoft.com/office/powerpoint/2010/main" val="407752655"/>
      </p:ext>
    </p:extLst>
  </p:cSld>
  <p:clrMapOvr>
    <a:masterClrMapping/>
  </p:clrMapOvr>
  <p:transition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3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6" name="Picture 24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3084" name="Text Box 12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3111" name="Text Box 39"/>
          <p:cNvSpPr txBox="1">
            <a:spLocks noChangeArrowheads="1"/>
          </p:cNvSpPr>
          <p:nvPr/>
        </p:nvSpPr>
        <p:spPr bwMode="auto">
          <a:xfrm>
            <a:off x="8610600" y="39624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i="1">
                <a:solidFill>
                  <a:srgbClr val="FF0000"/>
                </a:solidFill>
              </a:rPr>
              <a:t>Q</a:t>
            </a:r>
          </a:p>
        </p:txBody>
      </p:sp>
      <p:grpSp>
        <p:nvGrpSpPr>
          <p:cNvPr id="3127" name="Group 55"/>
          <p:cNvGrpSpPr>
            <a:grpSpLocks/>
          </p:cNvGrpSpPr>
          <p:nvPr/>
        </p:nvGrpSpPr>
        <p:grpSpPr bwMode="auto">
          <a:xfrm>
            <a:off x="6629400" y="3810000"/>
            <a:ext cx="381000" cy="336550"/>
            <a:chOff x="3216" y="2400"/>
            <a:chExt cx="240" cy="212"/>
          </a:xfrm>
        </p:grpSpPr>
        <p:sp>
          <p:nvSpPr>
            <p:cNvPr id="3109" name="Text Box 37"/>
            <p:cNvSpPr txBox="1">
              <a:spLocks noChangeArrowheads="1"/>
            </p:cNvSpPr>
            <p:nvPr/>
          </p:nvSpPr>
          <p:spPr bwMode="auto">
            <a:xfrm>
              <a:off x="3216" y="2400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S</a:t>
              </a:r>
            </a:p>
          </p:txBody>
        </p:sp>
        <p:sp>
          <p:nvSpPr>
            <p:cNvPr id="3121" name="Line 49"/>
            <p:cNvSpPr>
              <a:spLocks noChangeShapeType="1"/>
            </p:cNvSpPr>
            <p:nvPr/>
          </p:nvSpPr>
          <p:spPr bwMode="auto">
            <a:xfrm>
              <a:off x="3264" y="2448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grpSp>
        <p:nvGrpSpPr>
          <p:cNvPr id="3126" name="Group 54"/>
          <p:cNvGrpSpPr>
            <a:grpSpLocks/>
          </p:cNvGrpSpPr>
          <p:nvPr/>
        </p:nvGrpSpPr>
        <p:grpSpPr bwMode="auto">
          <a:xfrm>
            <a:off x="6629400" y="5257800"/>
            <a:ext cx="381000" cy="336550"/>
            <a:chOff x="3216" y="3312"/>
            <a:chExt cx="240" cy="212"/>
          </a:xfrm>
        </p:grpSpPr>
        <p:sp>
          <p:nvSpPr>
            <p:cNvPr id="3107" name="Text Box 35"/>
            <p:cNvSpPr txBox="1">
              <a:spLocks noChangeArrowheads="1"/>
            </p:cNvSpPr>
            <p:nvPr/>
          </p:nvSpPr>
          <p:spPr bwMode="auto">
            <a:xfrm>
              <a:off x="3216" y="3312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R</a:t>
              </a:r>
            </a:p>
          </p:txBody>
        </p:sp>
        <p:sp>
          <p:nvSpPr>
            <p:cNvPr id="3122" name="Line 50"/>
            <p:cNvSpPr>
              <a:spLocks noChangeShapeType="1"/>
            </p:cNvSpPr>
            <p:nvPr/>
          </p:nvSpPr>
          <p:spPr bwMode="auto">
            <a:xfrm>
              <a:off x="3264" y="3360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grpSp>
        <p:nvGrpSpPr>
          <p:cNvPr id="3124" name="Group 52"/>
          <p:cNvGrpSpPr>
            <a:grpSpLocks/>
          </p:cNvGrpSpPr>
          <p:nvPr/>
        </p:nvGrpSpPr>
        <p:grpSpPr bwMode="auto">
          <a:xfrm>
            <a:off x="8620125" y="5081588"/>
            <a:ext cx="381000" cy="336550"/>
            <a:chOff x="4470" y="3201"/>
            <a:chExt cx="240" cy="212"/>
          </a:xfrm>
        </p:grpSpPr>
        <p:sp>
          <p:nvSpPr>
            <p:cNvPr id="3112" name="Text Box 40"/>
            <p:cNvSpPr txBox="1">
              <a:spLocks noChangeArrowheads="1"/>
            </p:cNvSpPr>
            <p:nvPr/>
          </p:nvSpPr>
          <p:spPr bwMode="auto">
            <a:xfrm>
              <a:off x="4470" y="3201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Q</a:t>
              </a:r>
            </a:p>
          </p:txBody>
        </p:sp>
        <p:sp>
          <p:nvSpPr>
            <p:cNvPr id="3123" name="Line 51"/>
            <p:cNvSpPr>
              <a:spLocks noChangeShapeType="1"/>
            </p:cNvSpPr>
            <p:nvPr/>
          </p:nvSpPr>
          <p:spPr bwMode="auto">
            <a:xfrm>
              <a:off x="4547" y="3237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sp>
        <p:nvSpPr>
          <p:cNvPr id="3128" name="Rectangle 56"/>
          <p:cNvSpPr>
            <a:spLocks noChangeArrowheads="1"/>
          </p:cNvSpPr>
          <p:nvPr/>
        </p:nvSpPr>
        <p:spPr bwMode="auto">
          <a:xfrm>
            <a:off x="6400800" y="3581400"/>
            <a:ext cx="3124200" cy="24384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SA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63444" y="1981200"/>
            <a:ext cx="8721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2000" b="1" dirty="0"/>
              <a:t>Combinational Circuit </a:t>
            </a:r>
            <a:r>
              <a:rPr lang="fr-FR" sz="2000" b="1" dirty="0"/>
              <a:t>Exemples –</a:t>
            </a:r>
            <a:r>
              <a:rPr lang="fr-FR" sz="2000" dirty="0"/>
              <a:t> </a:t>
            </a:r>
            <a:r>
              <a:rPr lang="fr-FR" sz="2000" b="1" dirty="0"/>
              <a:t>Encoder, </a:t>
            </a:r>
            <a:r>
              <a:rPr lang="fr-FR" sz="2000" b="1" dirty="0" err="1"/>
              <a:t>Decoder</a:t>
            </a:r>
            <a:r>
              <a:rPr lang="fr-FR" sz="2000" dirty="0"/>
              <a:t>, </a:t>
            </a:r>
            <a:r>
              <a:rPr lang="fr-FR" sz="2000" b="1" dirty="0"/>
              <a:t>Multiplexer,</a:t>
            </a:r>
            <a:r>
              <a:rPr lang="fr-FR" sz="2000" dirty="0"/>
              <a:t> </a:t>
            </a:r>
            <a:r>
              <a:rPr lang="fr-FR" sz="2000" b="1" dirty="0" err="1"/>
              <a:t>Demultiplexer</a:t>
            </a:r>
            <a:endParaRPr lang="en-GB" sz="20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8645" y="3448110"/>
            <a:ext cx="6890812" cy="1997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86053"/>
      </p:ext>
    </p:extLst>
  </p:cSld>
  <p:clrMapOvr>
    <a:masterClrMapping/>
  </p:clrMapOvr>
  <p:transition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3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6" name="Picture 24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3084" name="Text Box 12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3111" name="Text Box 39"/>
          <p:cNvSpPr txBox="1">
            <a:spLocks noChangeArrowheads="1"/>
          </p:cNvSpPr>
          <p:nvPr/>
        </p:nvSpPr>
        <p:spPr bwMode="auto">
          <a:xfrm>
            <a:off x="8610600" y="39624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i="1">
                <a:solidFill>
                  <a:srgbClr val="FF0000"/>
                </a:solidFill>
              </a:rPr>
              <a:t>Q</a:t>
            </a:r>
          </a:p>
        </p:txBody>
      </p:sp>
      <p:grpSp>
        <p:nvGrpSpPr>
          <p:cNvPr id="3127" name="Group 55"/>
          <p:cNvGrpSpPr>
            <a:grpSpLocks/>
          </p:cNvGrpSpPr>
          <p:nvPr/>
        </p:nvGrpSpPr>
        <p:grpSpPr bwMode="auto">
          <a:xfrm>
            <a:off x="6629400" y="3810000"/>
            <a:ext cx="381000" cy="336550"/>
            <a:chOff x="3216" y="2400"/>
            <a:chExt cx="240" cy="212"/>
          </a:xfrm>
        </p:grpSpPr>
        <p:sp>
          <p:nvSpPr>
            <p:cNvPr id="3109" name="Text Box 37"/>
            <p:cNvSpPr txBox="1">
              <a:spLocks noChangeArrowheads="1"/>
            </p:cNvSpPr>
            <p:nvPr/>
          </p:nvSpPr>
          <p:spPr bwMode="auto">
            <a:xfrm>
              <a:off x="3216" y="2400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S</a:t>
              </a:r>
            </a:p>
          </p:txBody>
        </p:sp>
        <p:sp>
          <p:nvSpPr>
            <p:cNvPr id="3121" name="Line 49"/>
            <p:cNvSpPr>
              <a:spLocks noChangeShapeType="1"/>
            </p:cNvSpPr>
            <p:nvPr/>
          </p:nvSpPr>
          <p:spPr bwMode="auto">
            <a:xfrm>
              <a:off x="3264" y="2448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grpSp>
        <p:nvGrpSpPr>
          <p:cNvPr id="3126" name="Group 54"/>
          <p:cNvGrpSpPr>
            <a:grpSpLocks/>
          </p:cNvGrpSpPr>
          <p:nvPr/>
        </p:nvGrpSpPr>
        <p:grpSpPr bwMode="auto">
          <a:xfrm>
            <a:off x="6629400" y="5257800"/>
            <a:ext cx="381000" cy="336550"/>
            <a:chOff x="3216" y="3312"/>
            <a:chExt cx="240" cy="212"/>
          </a:xfrm>
        </p:grpSpPr>
        <p:sp>
          <p:nvSpPr>
            <p:cNvPr id="3107" name="Text Box 35"/>
            <p:cNvSpPr txBox="1">
              <a:spLocks noChangeArrowheads="1"/>
            </p:cNvSpPr>
            <p:nvPr/>
          </p:nvSpPr>
          <p:spPr bwMode="auto">
            <a:xfrm>
              <a:off x="3216" y="3312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R</a:t>
              </a:r>
            </a:p>
          </p:txBody>
        </p:sp>
        <p:sp>
          <p:nvSpPr>
            <p:cNvPr id="3122" name="Line 50"/>
            <p:cNvSpPr>
              <a:spLocks noChangeShapeType="1"/>
            </p:cNvSpPr>
            <p:nvPr/>
          </p:nvSpPr>
          <p:spPr bwMode="auto">
            <a:xfrm>
              <a:off x="3264" y="3360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grpSp>
        <p:nvGrpSpPr>
          <p:cNvPr id="3124" name="Group 52"/>
          <p:cNvGrpSpPr>
            <a:grpSpLocks/>
          </p:cNvGrpSpPr>
          <p:nvPr/>
        </p:nvGrpSpPr>
        <p:grpSpPr bwMode="auto">
          <a:xfrm>
            <a:off x="8620125" y="5081588"/>
            <a:ext cx="381000" cy="336550"/>
            <a:chOff x="4470" y="3201"/>
            <a:chExt cx="240" cy="212"/>
          </a:xfrm>
        </p:grpSpPr>
        <p:sp>
          <p:nvSpPr>
            <p:cNvPr id="3112" name="Text Box 40"/>
            <p:cNvSpPr txBox="1">
              <a:spLocks noChangeArrowheads="1"/>
            </p:cNvSpPr>
            <p:nvPr/>
          </p:nvSpPr>
          <p:spPr bwMode="auto">
            <a:xfrm>
              <a:off x="4470" y="3201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Q</a:t>
              </a:r>
            </a:p>
          </p:txBody>
        </p:sp>
        <p:sp>
          <p:nvSpPr>
            <p:cNvPr id="3123" name="Line 51"/>
            <p:cNvSpPr>
              <a:spLocks noChangeShapeType="1"/>
            </p:cNvSpPr>
            <p:nvPr/>
          </p:nvSpPr>
          <p:spPr bwMode="auto">
            <a:xfrm>
              <a:off x="4547" y="3237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sp>
        <p:nvSpPr>
          <p:cNvPr id="3128" name="Rectangle 56"/>
          <p:cNvSpPr>
            <a:spLocks noChangeArrowheads="1"/>
          </p:cNvSpPr>
          <p:nvPr/>
        </p:nvSpPr>
        <p:spPr bwMode="auto">
          <a:xfrm>
            <a:off x="6400800" y="3581400"/>
            <a:ext cx="3124200" cy="24384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SA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959887" y="2331529"/>
            <a:ext cx="1027222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3200" b="1" dirty="0"/>
              <a:t>Sequential circuits</a:t>
            </a:r>
            <a:r>
              <a:rPr lang="en-GB" sz="3200" dirty="0"/>
              <a:t> are those which are dependent on clock cycles and depends on present as well as past inputs to generate any output.</a:t>
            </a:r>
            <a:endParaRPr lang="en-GB" sz="3200" b="1" dirty="0"/>
          </a:p>
        </p:txBody>
      </p:sp>
    </p:spTree>
    <p:extLst>
      <p:ext uri="{BB962C8B-B14F-4D97-AF65-F5344CB8AC3E}">
        <p14:creationId xmlns:p14="http://schemas.microsoft.com/office/powerpoint/2010/main" val="456013595"/>
      </p:ext>
    </p:extLst>
  </p:cSld>
  <p:clrMapOvr>
    <a:masterClrMapping/>
  </p:clrMapOvr>
  <p:transition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3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6" name="Picture 24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3084" name="Text Box 12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3111" name="Text Box 39"/>
          <p:cNvSpPr txBox="1">
            <a:spLocks noChangeArrowheads="1"/>
          </p:cNvSpPr>
          <p:nvPr/>
        </p:nvSpPr>
        <p:spPr bwMode="auto">
          <a:xfrm>
            <a:off x="8610600" y="39624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i="1">
                <a:solidFill>
                  <a:srgbClr val="FF0000"/>
                </a:solidFill>
              </a:rPr>
              <a:t>Q</a:t>
            </a:r>
          </a:p>
        </p:txBody>
      </p:sp>
      <p:grpSp>
        <p:nvGrpSpPr>
          <p:cNvPr id="3127" name="Group 55"/>
          <p:cNvGrpSpPr>
            <a:grpSpLocks/>
          </p:cNvGrpSpPr>
          <p:nvPr/>
        </p:nvGrpSpPr>
        <p:grpSpPr bwMode="auto">
          <a:xfrm>
            <a:off x="6629400" y="3810000"/>
            <a:ext cx="381000" cy="336550"/>
            <a:chOff x="3216" y="2400"/>
            <a:chExt cx="240" cy="212"/>
          </a:xfrm>
        </p:grpSpPr>
        <p:sp>
          <p:nvSpPr>
            <p:cNvPr id="3109" name="Text Box 37"/>
            <p:cNvSpPr txBox="1">
              <a:spLocks noChangeArrowheads="1"/>
            </p:cNvSpPr>
            <p:nvPr/>
          </p:nvSpPr>
          <p:spPr bwMode="auto">
            <a:xfrm>
              <a:off x="3216" y="2400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S</a:t>
              </a:r>
            </a:p>
          </p:txBody>
        </p:sp>
        <p:sp>
          <p:nvSpPr>
            <p:cNvPr id="3121" name="Line 49"/>
            <p:cNvSpPr>
              <a:spLocks noChangeShapeType="1"/>
            </p:cNvSpPr>
            <p:nvPr/>
          </p:nvSpPr>
          <p:spPr bwMode="auto">
            <a:xfrm>
              <a:off x="3264" y="2448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grpSp>
        <p:nvGrpSpPr>
          <p:cNvPr id="3126" name="Group 54"/>
          <p:cNvGrpSpPr>
            <a:grpSpLocks/>
          </p:cNvGrpSpPr>
          <p:nvPr/>
        </p:nvGrpSpPr>
        <p:grpSpPr bwMode="auto">
          <a:xfrm>
            <a:off x="6629400" y="5257800"/>
            <a:ext cx="381000" cy="336550"/>
            <a:chOff x="3216" y="3312"/>
            <a:chExt cx="240" cy="212"/>
          </a:xfrm>
        </p:grpSpPr>
        <p:sp>
          <p:nvSpPr>
            <p:cNvPr id="3107" name="Text Box 35"/>
            <p:cNvSpPr txBox="1">
              <a:spLocks noChangeArrowheads="1"/>
            </p:cNvSpPr>
            <p:nvPr/>
          </p:nvSpPr>
          <p:spPr bwMode="auto">
            <a:xfrm>
              <a:off x="3216" y="3312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R</a:t>
              </a:r>
            </a:p>
          </p:txBody>
        </p:sp>
        <p:sp>
          <p:nvSpPr>
            <p:cNvPr id="3122" name="Line 50"/>
            <p:cNvSpPr>
              <a:spLocks noChangeShapeType="1"/>
            </p:cNvSpPr>
            <p:nvPr/>
          </p:nvSpPr>
          <p:spPr bwMode="auto">
            <a:xfrm>
              <a:off x="3264" y="3360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grpSp>
        <p:nvGrpSpPr>
          <p:cNvPr id="3124" name="Group 52"/>
          <p:cNvGrpSpPr>
            <a:grpSpLocks/>
          </p:cNvGrpSpPr>
          <p:nvPr/>
        </p:nvGrpSpPr>
        <p:grpSpPr bwMode="auto">
          <a:xfrm>
            <a:off x="8620125" y="5081588"/>
            <a:ext cx="381000" cy="336550"/>
            <a:chOff x="4470" y="3201"/>
            <a:chExt cx="240" cy="212"/>
          </a:xfrm>
        </p:grpSpPr>
        <p:sp>
          <p:nvSpPr>
            <p:cNvPr id="3112" name="Text Box 40"/>
            <p:cNvSpPr txBox="1">
              <a:spLocks noChangeArrowheads="1"/>
            </p:cNvSpPr>
            <p:nvPr/>
          </p:nvSpPr>
          <p:spPr bwMode="auto">
            <a:xfrm>
              <a:off x="4470" y="3201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Q</a:t>
              </a:r>
            </a:p>
          </p:txBody>
        </p:sp>
        <p:sp>
          <p:nvSpPr>
            <p:cNvPr id="3123" name="Line 51"/>
            <p:cNvSpPr>
              <a:spLocks noChangeShapeType="1"/>
            </p:cNvSpPr>
            <p:nvPr/>
          </p:nvSpPr>
          <p:spPr bwMode="auto">
            <a:xfrm>
              <a:off x="4547" y="3237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sp>
        <p:nvSpPr>
          <p:cNvPr id="3128" name="Rectangle 56"/>
          <p:cNvSpPr>
            <a:spLocks noChangeArrowheads="1"/>
          </p:cNvSpPr>
          <p:nvPr/>
        </p:nvSpPr>
        <p:spPr bwMode="auto">
          <a:xfrm>
            <a:off x="6400800" y="3581400"/>
            <a:ext cx="3124200" cy="24384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SA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337186" y="1515576"/>
            <a:ext cx="1038778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2400" b="1" dirty="0"/>
              <a:t>Sequential Circuit –</a:t>
            </a:r>
            <a:endParaRPr lang="en-GB" sz="24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 sz="2400" dirty="0"/>
              <a:t>Output depends upon present as well as past input.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 sz="2400" dirty="0"/>
              <a:t>Speed is slow.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 sz="2400" dirty="0"/>
              <a:t>It is designed tough as compared to combinational circuits.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 sz="2400" dirty="0"/>
              <a:t>There exists a feedback path between input and output.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 sz="2400" dirty="0"/>
              <a:t> Time dependent.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 sz="2400" dirty="0"/>
              <a:t>Elementary building blocks: Flip-flops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 sz="2400" dirty="0"/>
              <a:t>Mainly used for storing data.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 sz="2400" dirty="0"/>
              <a:t>Sequential circuits have capability to store any state or to retain earlier state.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 sz="2400" dirty="0"/>
              <a:t>As sequential circuits are clock dependent they need triggering.</a:t>
            </a:r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GB" sz="2400" dirty="0"/>
              <a:t>These circuits have memory element.</a:t>
            </a:r>
          </a:p>
          <a:p>
            <a:pPr fontAlgn="base"/>
            <a:endParaRPr lang="en-GB" sz="2400" b="0" i="0" dirty="0">
              <a:solidFill>
                <a:srgbClr val="273239"/>
              </a:solidFill>
              <a:effectLst/>
              <a:latin typeface="urw-din"/>
            </a:endParaRPr>
          </a:p>
        </p:txBody>
      </p:sp>
    </p:spTree>
    <p:extLst>
      <p:ext uri="{BB962C8B-B14F-4D97-AF65-F5344CB8AC3E}">
        <p14:creationId xmlns:p14="http://schemas.microsoft.com/office/powerpoint/2010/main" val="67538958"/>
      </p:ext>
    </p:extLst>
  </p:cSld>
  <p:clrMapOvr>
    <a:masterClrMapping/>
  </p:clrMapOvr>
  <p:transition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3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6" name="Picture 24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3084" name="Text Box 12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3111" name="Text Box 39"/>
          <p:cNvSpPr txBox="1">
            <a:spLocks noChangeArrowheads="1"/>
          </p:cNvSpPr>
          <p:nvPr/>
        </p:nvSpPr>
        <p:spPr bwMode="auto">
          <a:xfrm>
            <a:off x="8610600" y="39624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i="1">
                <a:solidFill>
                  <a:srgbClr val="FF0000"/>
                </a:solidFill>
              </a:rPr>
              <a:t>Q</a:t>
            </a:r>
          </a:p>
        </p:txBody>
      </p:sp>
      <p:grpSp>
        <p:nvGrpSpPr>
          <p:cNvPr id="3127" name="Group 55"/>
          <p:cNvGrpSpPr>
            <a:grpSpLocks/>
          </p:cNvGrpSpPr>
          <p:nvPr/>
        </p:nvGrpSpPr>
        <p:grpSpPr bwMode="auto">
          <a:xfrm>
            <a:off x="6629400" y="3810000"/>
            <a:ext cx="381000" cy="336550"/>
            <a:chOff x="3216" y="2400"/>
            <a:chExt cx="240" cy="212"/>
          </a:xfrm>
        </p:grpSpPr>
        <p:sp>
          <p:nvSpPr>
            <p:cNvPr id="3109" name="Text Box 37"/>
            <p:cNvSpPr txBox="1">
              <a:spLocks noChangeArrowheads="1"/>
            </p:cNvSpPr>
            <p:nvPr/>
          </p:nvSpPr>
          <p:spPr bwMode="auto">
            <a:xfrm>
              <a:off x="3216" y="2400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S</a:t>
              </a:r>
            </a:p>
          </p:txBody>
        </p:sp>
        <p:sp>
          <p:nvSpPr>
            <p:cNvPr id="3121" name="Line 49"/>
            <p:cNvSpPr>
              <a:spLocks noChangeShapeType="1"/>
            </p:cNvSpPr>
            <p:nvPr/>
          </p:nvSpPr>
          <p:spPr bwMode="auto">
            <a:xfrm>
              <a:off x="3264" y="2448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grpSp>
        <p:nvGrpSpPr>
          <p:cNvPr id="3126" name="Group 54"/>
          <p:cNvGrpSpPr>
            <a:grpSpLocks/>
          </p:cNvGrpSpPr>
          <p:nvPr/>
        </p:nvGrpSpPr>
        <p:grpSpPr bwMode="auto">
          <a:xfrm>
            <a:off x="6629400" y="5257800"/>
            <a:ext cx="381000" cy="336550"/>
            <a:chOff x="3216" y="3312"/>
            <a:chExt cx="240" cy="212"/>
          </a:xfrm>
        </p:grpSpPr>
        <p:sp>
          <p:nvSpPr>
            <p:cNvPr id="3107" name="Text Box 35"/>
            <p:cNvSpPr txBox="1">
              <a:spLocks noChangeArrowheads="1"/>
            </p:cNvSpPr>
            <p:nvPr/>
          </p:nvSpPr>
          <p:spPr bwMode="auto">
            <a:xfrm>
              <a:off x="3216" y="3312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R</a:t>
              </a:r>
            </a:p>
          </p:txBody>
        </p:sp>
        <p:sp>
          <p:nvSpPr>
            <p:cNvPr id="3122" name="Line 50"/>
            <p:cNvSpPr>
              <a:spLocks noChangeShapeType="1"/>
            </p:cNvSpPr>
            <p:nvPr/>
          </p:nvSpPr>
          <p:spPr bwMode="auto">
            <a:xfrm>
              <a:off x="3264" y="3360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grpSp>
        <p:nvGrpSpPr>
          <p:cNvPr id="3124" name="Group 52"/>
          <p:cNvGrpSpPr>
            <a:grpSpLocks/>
          </p:cNvGrpSpPr>
          <p:nvPr/>
        </p:nvGrpSpPr>
        <p:grpSpPr bwMode="auto">
          <a:xfrm>
            <a:off x="8620125" y="5081588"/>
            <a:ext cx="381000" cy="336550"/>
            <a:chOff x="4470" y="3201"/>
            <a:chExt cx="240" cy="212"/>
          </a:xfrm>
        </p:grpSpPr>
        <p:sp>
          <p:nvSpPr>
            <p:cNvPr id="3112" name="Text Box 40"/>
            <p:cNvSpPr txBox="1">
              <a:spLocks noChangeArrowheads="1"/>
            </p:cNvSpPr>
            <p:nvPr/>
          </p:nvSpPr>
          <p:spPr bwMode="auto">
            <a:xfrm>
              <a:off x="4470" y="3201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Q</a:t>
              </a:r>
            </a:p>
          </p:txBody>
        </p:sp>
        <p:sp>
          <p:nvSpPr>
            <p:cNvPr id="3123" name="Line 51"/>
            <p:cNvSpPr>
              <a:spLocks noChangeShapeType="1"/>
            </p:cNvSpPr>
            <p:nvPr/>
          </p:nvSpPr>
          <p:spPr bwMode="auto">
            <a:xfrm>
              <a:off x="4547" y="3237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sp>
        <p:nvSpPr>
          <p:cNvPr id="3128" name="Rectangle 56"/>
          <p:cNvSpPr>
            <a:spLocks noChangeArrowheads="1"/>
          </p:cNvSpPr>
          <p:nvPr/>
        </p:nvSpPr>
        <p:spPr bwMode="auto">
          <a:xfrm>
            <a:off x="6400800" y="3581400"/>
            <a:ext cx="3124200" cy="24384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SA"/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263444" y="1981200"/>
            <a:ext cx="8721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GB" sz="2000" b="1" dirty="0"/>
              <a:t>Sequential Circuit Examples –</a:t>
            </a:r>
            <a:r>
              <a:rPr lang="en-GB" sz="2000" dirty="0"/>
              <a:t> Flip-flops, Counters</a:t>
            </a:r>
            <a:endParaRPr lang="en-GB" sz="2000" b="1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869" y="2779939"/>
            <a:ext cx="4891087" cy="303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323390"/>
      </p:ext>
    </p:extLst>
  </p:cSld>
  <p:clrMapOvr>
    <a:masterClrMapping/>
  </p:clrMapOvr>
  <p:transition>
    <p:comb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31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7020" y="2805624"/>
            <a:ext cx="9144000" cy="1922999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</a:pPr>
            <a:r>
              <a:rPr lang="en-US" sz="6000" dirty="0">
                <a:latin typeface="+mj-lt"/>
                <a:ea typeface="+mj-ea"/>
                <a:cs typeface="+mj-cs"/>
              </a:rPr>
              <a:t>Latches</a:t>
            </a:r>
            <a:endParaRPr lang="en-GB" sz="6000" dirty="0"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4172697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E3838C6-F692-DFB3-04CF-03816E378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9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A52C6D22-7D52-4356-6B13-FAC7BBFDD9F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538" y="3384942"/>
            <a:ext cx="1915160" cy="9575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DE292892-97C0-3AD0-14A3-7A190D157B7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958" y="3384942"/>
            <a:ext cx="1915160" cy="95758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F44E1898-135F-94EE-07E6-B8F47B8062ED}"/>
              </a:ext>
            </a:extLst>
          </p:cNvPr>
          <p:cNvCxnSpPr>
            <a:cxnSpLocks/>
          </p:cNvCxnSpPr>
          <p:nvPr/>
        </p:nvCxnSpPr>
        <p:spPr>
          <a:xfrm flipV="1">
            <a:off x="4038600" y="2408947"/>
            <a:ext cx="0" cy="147082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6CEE296E-0B71-8CAE-7D30-4786D4089542}"/>
              </a:ext>
            </a:extLst>
          </p:cNvPr>
          <p:cNvCxnSpPr>
            <a:cxnSpLocks/>
          </p:cNvCxnSpPr>
          <p:nvPr/>
        </p:nvCxnSpPr>
        <p:spPr>
          <a:xfrm flipH="1">
            <a:off x="4038600" y="2392905"/>
            <a:ext cx="344718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C5A23E00-EB30-A5EC-3E3B-CDD764C3298A}"/>
              </a:ext>
            </a:extLst>
          </p:cNvPr>
          <p:cNvCxnSpPr>
            <a:cxnSpLocks/>
          </p:cNvCxnSpPr>
          <p:nvPr/>
        </p:nvCxnSpPr>
        <p:spPr>
          <a:xfrm flipV="1">
            <a:off x="7485780" y="2392905"/>
            <a:ext cx="0" cy="147082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6E2D56-BAEB-162B-E5C7-61ABFDD018AC}"/>
              </a:ext>
            </a:extLst>
          </p:cNvPr>
          <p:cNvSpPr txBox="1"/>
          <p:nvPr/>
        </p:nvSpPr>
        <p:spPr>
          <a:xfrm>
            <a:off x="5622892" y="3366327"/>
            <a:ext cx="1187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031E2D9F-9B37-6EEF-DEAF-FE7DAE65DEDF}"/>
              </a:ext>
            </a:extLst>
          </p:cNvPr>
          <p:cNvSpPr txBox="1"/>
          <p:nvPr/>
        </p:nvSpPr>
        <p:spPr>
          <a:xfrm>
            <a:off x="4146152" y="3332501"/>
            <a:ext cx="1187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ECAAD7DD-8C0E-CD24-825E-F0CFB27254D9}"/>
              </a:ext>
            </a:extLst>
          </p:cNvPr>
          <p:cNvSpPr txBox="1"/>
          <p:nvPr/>
        </p:nvSpPr>
        <p:spPr>
          <a:xfrm>
            <a:off x="6928018" y="3366327"/>
            <a:ext cx="1187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 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C9001275-07C2-02F8-B13D-DE50F81C6E17}"/>
              </a:ext>
            </a:extLst>
          </p:cNvPr>
          <p:cNvSpPr txBox="1"/>
          <p:nvPr/>
        </p:nvSpPr>
        <p:spPr>
          <a:xfrm>
            <a:off x="2308613" y="3723239"/>
            <a:ext cx="1187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INPUT</a:t>
            </a:r>
          </a:p>
        </p:txBody>
      </p:sp>
    </p:spTree>
    <p:extLst>
      <p:ext uri="{BB962C8B-B14F-4D97-AF65-F5344CB8AC3E}">
        <p14:creationId xmlns:p14="http://schemas.microsoft.com/office/powerpoint/2010/main" val="1200799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E3838C6-F692-DFB3-04CF-03816E378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10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A52C6D22-7D52-4356-6B13-FAC7BBFDD9F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64538" y="3384942"/>
            <a:ext cx="1915160" cy="9575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DE292892-97C0-3AD0-14A3-7A190D157B76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8958" y="3384942"/>
            <a:ext cx="1915160" cy="95758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xmlns="" id="{F44E1898-135F-94EE-07E6-B8F47B8062ED}"/>
              </a:ext>
            </a:extLst>
          </p:cNvPr>
          <p:cNvCxnSpPr>
            <a:cxnSpLocks/>
          </p:cNvCxnSpPr>
          <p:nvPr/>
        </p:nvCxnSpPr>
        <p:spPr>
          <a:xfrm flipV="1">
            <a:off x="4038600" y="2408947"/>
            <a:ext cx="0" cy="147082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xmlns="" id="{6CEE296E-0B71-8CAE-7D30-4786D4089542}"/>
              </a:ext>
            </a:extLst>
          </p:cNvPr>
          <p:cNvCxnSpPr>
            <a:cxnSpLocks/>
          </p:cNvCxnSpPr>
          <p:nvPr/>
        </p:nvCxnSpPr>
        <p:spPr>
          <a:xfrm flipH="1">
            <a:off x="4038600" y="2392905"/>
            <a:ext cx="344718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xmlns="" id="{C5A23E00-EB30-A5EC-3E3B-CDD764C3298A}"/>
              </a:ext>
            </a:extLst>
          </p:cNvPr>
          <p:cNvCxnSpPr>
            <a:cxnSpLocks/>
          </p:cNvCxnSpPr>
          <p:nvPr/>
        </p:nvCxnSpPr>
        <p:spPr>
          <a:xfrm flipV="1">
            <a:off x="7485780" y="2392905"/>
            <a:ext cx="0" cy="147082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56E2D56-BAEB-162B-E5C7-61ABFDD018AC}"/>
              </a:ext>
            </a:extLst>
          </p:cNvPr>
          <p:cNvSpPr txBox="1"/>
          <p:nvPr/>
        </p:nvSpPr>
        <p:spPr>
          <a:xfrm>
            <a:off x="5622892" y="3366327"/>
            <a:ext cx="1187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031E2D9F-9B37-6EEF-DEAF-FE7DAE65DEDF}"/>
              </a:ext>
            </a:extLst>
          </p:cNvPr>
          <p:cNvSpPr txBox="1"/>
          <p:nvPr/>
        </p:nvSpPr>
        <p:spPr>
          <a:xfrm>
            <a:off x="3161497" y="3434150"/>
            <a:ext cx="11766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ECAAD7DD-8C0E-CD24-825E-F0CFB27254D9}"/>
              </a:ext>
            </a:extLst>
          </p:cNvPr>
          <p:cNvSpPr txBox="1"/>
          <p:nvPr/>
        </p:nvSpPr>
        <p:spPr>
          <a:xfrm>
            <a:off x="6928018" y="3366327"/>
            <a:ext cx="1187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 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C9001275-07C2-02F8-B13D-DE50F81C6E17}"/>
              </a:ext>
            </a:extLst>
          </p:cNvPr>
          <p:cNvSpPr txBox="1"/>
          <p:nvPr/>
        </p:nvSpPr>
        <p:spPr>
          <a:xfrm>
            <a:off x="1974382" y="3437877"/>
            <a:ext cx="11871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INPUT</a:t>
            </a:r>
          </a:p>
        </p:txBody>
      </p:sp>
    </p:spTree>
    <p:extLst>
      <p:ext uri="{BB962C8B-B14F-4D97-AF65-F5344CB8AC3E}">
        <p14:creationId xmlns:p14="http://schemas.microsoft.com/office/powerpoint/2010/main" val="3331945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8" name="Text Box 16"/>
          <p:cNvSpPr txBox="1">
            <a:spLocks noChangeArrowheads="1"/>
          </p:cNvSpPr>
          <p:nvPr/>
        </p:nvSpPr>
        <p:spPr bwMode="auto">
          <a:xfrm>
            <a:off x="2362200" y="1752601"/>
            <a:ext cx="7696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dirty="0"/>
              <a:t>A </a:t>
            </a:r>
            <a:r>
              <a:rPr lang="en-US" b="1" dirty="0"/>
              <a:t>latch</a:t>
            </a:r>
            <a:r>
              <a:rPr lang="en-US" dirty="0"/>
              <a:t> is a temporary storage device that has two stable states (</a:t>
            </a:r>
            <a:r>
              <a:rPr lang="en-US" dirty="0" err="1"/>
              <a:t>bistable</a:t>
            </a:r>
            <a:r>
              <a:rPr lang="en-US" dirty="0"/>
              <a:t>). It is a basic form of memory. </a:t>
            </a:r>
          </a:p>
        </p:txBody>
      </p:sp>
      <p:pic>
        <p:nvPicPr>
          <p:cNvPr id="3096" name="Picture 24" descr="SH2507-cr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3084" name="Text Box 12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3101" name="Rectangle 29"/>
          <p:cNvSpPr>
            <a:spLocks noChangeArrowheads="1"/>
          </p:cNvSpPr>
          <p:nvPr/>
        </p:nvSpPr>
        <p:spPr bwMode="auto">
          <a:xfrm>
            <a:off x="2438401" y="1143000"/>
            <a:ext cx="889859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dirty="0">
                <a:solidFill>
                  <a:srgbClr val="FFFF99"/>
                </a:solidFill>
              </a:rPr>
              <a:t>Latches</a:t>
            </a:r>
          </a:p>
        </p:txBody>
      </p:sp>
      <p:sp>
        <p:nvSpPr>
          <p:cNvPr id="3103" name="Text Box 31"/>
          <p:cNvSpPr txBox="1">
            <a:spLocks noChangeArrowheads="1"/>
          </p:cNvSpPr>
          <p:nvPr/>
        </p:nvSpPr>
        <p:spPr bwMode="auto">
          <a:xfrm>
            <a:off x="2362200" y="2438954"/>
            <a:ext cx="73152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r>
              <a:rPr lang="en-US" sz="2000" dirty="0"/>
              <a:t>The S-R (Set-Reset) latch is the most basic type. It can be constructed from </a:t>
            </a:r>
            <a:r>
              <a:rPr lang="en-US" sz="2000" dirty="0">
                <a:solidFill>
                  <a:srgbClr val="00B050"/>
                </a:solidFill>
              </a:rPr>
              <a:t>NOR gates </a:t>
            </a:r>
            <a:r>
              <a:rPr lang="en-US" sz="2000" dirty="0"/>
              <a:t>or </a:t>
            </a:r>
            <a:r>
              <a:rPr lang="en-US" sz="2000" dirty="0">
                <a:solidFill>
                  <a:srgbClr val="00B050"/>
                </a:solidFill>
              </a:rPr>
              <a:t>NAND gates</a:t>
            </a:r>
            <a:r>
              <a:rPr lang="en-US" sz="2000" dirty="0"/>
              <a:t>. With </a:t>
            </a:r>
            <a:r>
              <a:rPr lang="en-US" sz="2000" b="1" dirty="0">
                <a:solidFill>
                  <a:srgbClr val="00B050"/>
                </a:solidFill>
              </a:rPr>
              <a:t>NOR gates, the latch responds to active-HIGH inputs</a:t>
            </a:r>
            <a:r>
              <a:rPr lang="en-US" sz="2000" dirty="0"/>
              <a:t>; with </a:t>
            </a:r>
            <a:r>
              <a:rPr lang="en-US" sz="2000" b="1" dirty="0">
                <a:solidFill>
                  <a:srgbClr val="00B050"/>
                </a:solidFill>
              </a:rPr>
              <a:t>NAND gates, it responds to active-LOW inputs. </a:t>
            </a:r>
            <a:r>
              <a:rPr lang="en-GB" sz="2000" dirty="0"/>
              <a:t>It can be set using the one input and </a:t>
            </a:r>
            <a:r>
              <a:rPr lang="en-GB" sz="2000" b="1" dirty="0">
                <a:solidFill>
                  <a:srgbClr val="00B050"/>
                </a:solidFill>
              </a:rPr>
              <a:t>reset to 0 using the another input.</a:t>
            </a:r>
          </a:p>
          <a:p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3105" name="Text Box 33"/>
          <p:cNvSpPr txBox="1">
            <a:spLocks noChangeArrowheads="1"/>
          </p:cNvSpPr>
          <p:nvPr/>
        </p:nvSpPr>
        <p:spPr bwMode="auto">
          <a:xfrm>
            <a:off x="4871886" y="5801029"/>
            <a:ext cx="6477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NOR Active-HIGH Latch                  NAND Active-LOW Latch</a:t>
            </a:r>
          </a:p>
        </p:txBody>
      </p:sp>
      <p:sp>
        <p:nvSpPr>
          <p:cNvPr id="3106" name="Text Box 34"/>
          <p:cNvSpPr txBox="1">
            <a:spLocks noChangeArrowheads="1"/>
          </p:cNvSpPr>
          <p:nvPr/>
        </p:nvSpPr>
        <p:spPr bwMode="auto">
          <a:xfrm>
            <a:off x="4918590" y="3913236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i="1" dirty="0">
                <a:solidFill>
                  <a:srgbClr val="FF0000"/>
                </a:solidFill>
              </a:rPr>
              <a:t>R</a:t>
            </a:r>
          </a:p>
        </p:txBody>
      </p:sp>
      <p:grpSp>
        <p:nvGrpSpPr>
          <p:cNvPr id="3127" name="Group 55"/>
          <p:cNvGrpSpPr>
            <a:grpSpLocks/>
          </p:cNvGrpSpPr>
          <p:nvPr/>
        </p:nvGrpSpPr>
        <p:grpSpPr bwMode="auto">
          <a:xfrm>
            <a:off x="8148486" y="3972228"/>
            <a:ext cx="381000" cy="336550"/>
            <a:chOff x="3216" y="2400"/>
            <a:chExt cx="240" cy="212"/>
          </a:xfrm>
        </p:grpSpPr>
        <p:sp>
          <p:nvSpPr>
            <p:cNvPr id="3109" name="Text Box 37"/>
            <p:cNvSpPr txBox="1">
              <a:spLocks noChangeArrowheads="1"/>
            </p:cNvSpPr>
            <p:nvPr/>
          </p:nvSpPr>
          <p:spPr bwMode="auto">
            <a:xfrm>
              <a:off x="3216" y="2400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S</a:t>
              </a:r>
            </a:p>
          </p:txBody>
        </p:sp>
        <p:sp>
          <p:nvSpPr>
            <p:cNvPr id="3121" name="Line 49"/>
            <p:cNvSpPr>
              <a:spLocks noChangeShapeType="1"/>
            </p:cNvSpPr>
            <p:nvPr/>
          </p:nvSpPr>
          <p:spPr bwMode="auto">
            <a:xfrm>
              <a:off x="3264" y="2448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grpSp>
        <p:nvGrpSpPr>
          <p:cNvPr id="2" name="Group 1"/>
          <p:cNvGrpSpPr/>
          <p:nvPr/>
        </p:nvGrpSpPr>
        <p:grpSpPr>
          <a:xfrm>
            <a:off x="5019118" y="3988104"/>
            <a:ext cx="5211247" cy="1700636"/>
            <a:chOff x="3060294" y="3833389"/>
            <a:chExt cx="5211247" cy="1700636"/>
          </a:xfrm>
        </p:grpSpPr>
        <p:graphicFrame>
          <p:nvGraphicFramePr>
            <p:cNvPr id="3104" name="Object 3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34456884"/>
                </p:ext>
              </p:extLst>
            </p:nvPr>
          </p:nvGraphicFramePr>
          <p:xfrm>
            <a:off x="3179762" y="3870325"/>
            <a:ext cx="5006975" cy="16637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50" name="CorelDRAW" r:id="rId5" imgW="2241403" imgH="744200" progId="CorelDRAW.Graphic.13">
                    <p:embed/>
                  </p:oleObj>
                </mc:Choice>
                <mc:Fallback>
                  <p:oleObj name="CorelDRAW" r:id="rId5" imgW="2241403" imgH="744200" progId="CorelDRAW.Graphic.1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79762" y="3870325"/>
                          <a:ext cx="5006975" cy="16637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08" name="Text Box 36"/>
            <p:cNvSpPr txBox="1">
              <a:spLocks noChangeArrowheads="1"/>
            </p:cNvSpPr>
            <p:nvPr/>
          </p:nvSpPr>
          <p:spPr bwMode="auto">
            <a:xfrm>
              <a:off x="3060294" y="5154564"/>
              <a:ext cx="381000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 dirty="0">
                  <a:solidFill>
                    <a:srgbClr val="FF0000"/>
                  </a:solidFill>
                </a:rPr>
                <a:t>S</a:t>
              </a:r>
            </a:p>
          </p:txBody>
        </p:sp>
        <p:sp>
          <p:nvSpPr>
            <p:cNvPr id="3110" name="Text Box 38"/>
            <p:cNvSpPr txBox="1">
              <a:spLocks noChangeArrowheads="1"/>
            </p:cNvSpPr>
            <p:nvPr/>
          </p:nvSpPr>
          <p:spPr bwMode="auto">
            <a:xfrm>
              <a:off x="4790774" y="3873912"/>
              <a:ext cx="381000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 dirty="0">
                  <a:solidFill>
                    <a:srgbClr val="FF0000"/>
                  </a:solidFill>
                </a:rPr>
                <a:t>Q</a:t>
              </a:r>
            </a:p>
          </p:txBody>
        </p:sp>
        <p:sp>
          <p:nvSpPr>
            <p:cNvPr id="3111" name="Text Box 39"/>
            <p:cNvSpPr txBox="1">
              <a:spLocks noChangeArrowheads="1"/>
            </p:cNvSpPr>
            <p:nvPr/>
          </p:nvSpPr>
          <p:spPr bwMode="auto">
            <a:xfrm>
              <a:off x="7890541" y="3833389"/>
              <a:ext cx="381000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 dirty="0">
                  <a:solidFill>
                    <a:srgbClr val="FF0000"/>
                  </a:solidFill>
                </a:rPr>
                <a:t>Q</a:t>
              </a:r>
            </a:p>
          </p:txBody>
        </p:sp>
        <p:grpSp>
          <p:nvGrpSpPr>
            <p:cNvPr id="3125" name="Group 53"/>
            <p:cNvGrpSpPr>
              <a:grpSpLocks/>
            </p:cNvGrpSpPr>
            <p:nvPr/>
          </p:nvGrpSpPr>
          <p:grpSpPr bwMode="auto">
            <a:xfrm>
              <a:off x="4716462" y="4913313"/>
              <a:ext cx="381000" cy="336550"/>
              <a:chOff x="2011" y="3095"/>
              <a:chExt cx="240" cy="212"/>
            </a:xfrm>
          </p:grpSpPr>
          <p:sp>
            <p:nvSpPr>
              <p:cNvPr id="3113" name="Text Box 41"/>
              <p:cNvSpPr txBox="1">
                <a:spLocks noChangeArrowheads="1"/>
              </p:cNvSpPr>
              <p:nvPr/>
            </p:nvSpPr>
            <p:spPr bwMode="auto">
              <a:xfrm>
                <a:off x="2011" y="3095"/>
                <a:ext cx="240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600" i="1" dirty="0">
                    <a:solidFill>
                      <a:srgbClr val="FF0000"/>
                    </a:solidFill>
                  </a:rPr>
                  <a:t>Q</a:t>
                </a:r>
              </a:p>
            </p:txBody>
          </p:sp>
          <p:sp>
            <p:nvSpPr>
              <p:cNvPr id="3120" name="Line 48"/>
              <p:cNvSpPr>
                <a:spLocks noChangeShapeType="1"/>
              </p:cNvSpPr>
              <p:nvPr/>
            </p:nvSpPr>
            <p:spPr bwMode="auto">
              <a:xfrm>
                <a:off x="2083" y="3095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ar-SA"/>
              </a:p>
            </p:txBody>
          </p:sp>
        </p:grpSp>
        <p:grpSp>
          <p:nvGrpSpPr>
            <p:cNvPr id="3126" name="Group 54"/>
            <p:cNvGrpSpPr>
              <a:grpSpLocks/>
            </p:cNvGrpSpPr>
            <p:nvPr/>
          </p:nvGrpSpPr>
          <p:grpSpPr bwMode="auto">
            <a:xfrm>
              <a:off x="6227773" y="5113338"/>
              <a:ext cx="382588" cy="336550"/>
              <a:chOff x="2963" y="3221"/>
              <a:chExt cx="241" cy="212"/>
            </a:xfrm>
          </p:grpSpPr>
          <p:sp>
            <p:nvSpPr>
              <p:cNvPr id="3107" name="Text Box 35"/>
              <p:cNvSpPr txBox="1">
                <a:spLocks noChangeArrowheads="1"/>
              </p:cNvSpPr>
              <p:nvPr/>
            </p:nvSpPr>
            <p:spPr bwMode="auto">
              <a:xfrm>
                <a:off x="2964" y="3221"/>
                <a:ext cx="240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600" i="1" dirty="0">
                    <a:solidFill>
                      <a:srgbClr val="FF0000"/>
                    </a:solidFill>
                  </a:rPr>
                  <a:t>R</a:t>
                </a:r>
              </a:p>
            </p:txBody>
          </p:sp>
          <p:sp>
            <p:nvSpPr>
              <p:cNvPr id="3122" name="Line 50"/>
              <p:cNvSpPr>
                <a:spLocks noChangeShapeType="1"/>
              </p:cNvSpPr>
              <p:nvPr/>
            </p:nvSpPr>
            <p:spPr bwMode="auto">
              <a:xfrm>
                <a:off x="2963" y="3239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ar-SA"/>
              </a:p>
            </p:txBody>
          </p:sp>
        </p:grpSp>
        <p:grpSp>
          <p:nvGrpSpPr>
            <p:cNvPr id="3124" name="Group 52"/>
            <p:cNvGrpSpPr>
              <a:grpSpLocks/>
            </p:cNvGrpSpPr>
            <p:nvPr/>
          </p:nvGrpSpPr>
          <p:grpSpPr bwMode="auto">
            <a:xfrm>
              <a:off x="7885113" y="4913320"/>
              <a:ext cx="381000" cy="373063"/>
              <a:chOff x="4007" y="3095"/>
              <a:chExt cx="240" cy="235"/>
            </a:xfrm>
          </p:grpSpPr>
          <p:sp>
            <p:nvSpPr>
              <p:cNvPr id="3112" name="Text Box 40"/>
              <p:cNvSpPr txBox="1">
                <a:spLocks noChangeArrowheads="1"/>
              </p:cNvSpPr>
              <p:nvPr/>
            </p:nvSpPr>
            <p:spPr bwMode="auto">
              <a:xfrm>
                <a:off x="4007" y="3118"/>
                <a:ext cx="240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600" i="1" dirty="0">
                    <a:solidFill>
                      <a:srgbClr val="FF0000"/>
                    </a:solidFill>
                  </a:rPr>
                  <a:t>Q</a:t>
                </a:r>
              </a:p>
            </p:txBody>
          </p:sp>
          <p:sp>
            <p:nvSpPr>
              <p:cNvPr id="3123" name="Line 51"/>
              <p:cNvSpPr>
                <a:spLocks noChangeShapeType="1"/>
              </p:cNvSpPr>
              <p:nvPr/>
            </p:nvSpPr>
            <p:spPr bwMode="auto">
              <a:xfrm>
                <a:off x="4082" y="3095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ar-SA"/>
              </a:p>
            </p:txBody>
          </p:sp>
        </p:grpSp>
      </p:grpSp>
      <p:pic>
        <p:nvPicPr>
          <p:cNvPr id="26" name="Picture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423299"/>
      </p:ext>
    </p:extLst>
  </p:cSld>
  <p:clrMapOvr>
    <a:masterClrMapping/>
  </p:clrMapOvr>
  <p:transition>
    <p:comb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153" name="Group 81"/>
          <p:cNvGrpSpPr>
            <a:grpSpLocks/>
          </p:cNvGrpSpPr>
          <p:nvPr/>
        </p:nvGrpSpPr>
        <p:grpSpPr bwMode="auto">
          <a:xfrm>
            <a:off x="6924675" y="4387850"/>
            <a:ext cx="381000" cy="336550"/>
            <a:chOff x="3402" y="2764"/>
            <a:chExt cx="240" cy="212"/>
          </a:xfrm>
        </p:grpSpPr>
        <p:sp>
          <p:nvSpPr>
            <p:cNvPr id="131125" name="Text Box 53"/>
            <p:cNvSpPr txBox="1">
              <a:spLocks noChangeArrowheads="1"/>
            </p:cNvSpPr>
            <p:nvPr/>
          </p:nvSpPr>
          <p:spPr bwMode="auto">
            <a:xfrm>
              <a:off x="3402" y="2764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S</a:t>
              </a:r>
            </a:p>
          </p:txBody>
        </p:sp>
        <p:sp>
          <p:nvSpPr>
            <p:cNvPr id="131149" name="Line 77"/>
            <p:cNvSpPr>
              <a:spLocks noChangeShapeType="1"/>
            </p:cNvSpPr>
            <p:nvPr/>
          </p:nvSpPr>
          <p:spPr bwMode="auto">
            <a:xfrm>
              <a:off x="3456" y="2810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grpSp>
        <p:nvGrpSpPr>
          <p:cNvPr id="131154" name="Group 82"/>
          <p:cNvGrpSpPr>
            <a:grpSpLocks/>
          </p:cNvGrpSpPr>
          <p:nvPr/>
        </p:nvGrpSpPr>
        <p:grpSpPr bwMode="auto">
          <a:xfrm>
            <a:off x="6924675" y="5835650"/>
            <a:ext cx="381000" cy="336550"/>
            <a:chOff x="3402" y="3676"/>
            <a:chExt cx="240" cy="212"/>
          </a:xfrm>
        </p:grpSpPr>
        <p:sp>
          <p:nvSpPr>
            <p:cNvPr id="131126" name="Text Box 54"/>
            <p:cNvSpPr txBox="1">
              <a:spLocks noChangeArrowheads="1"/>
            </p:cNvSpPr>
            <p:nvPr/>
          </p:nvSpPr>
          <p:spPr bwMode="auto">
            <a:xfrm>
              <a:off x="3402" y="3676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R</a:t>
              </a:r>
            </a:p>
          </p:txBody>
        </p:sp>
        <p:sp>
          <p:nvSpPr>
            <p:cNvPr id="131150" name="Line 78"/>
            <p:cNvSpPr>
              <a:spLocks noChangeShapeType="1"/>
            </p:cNvSpPr>
            <p:nvPr/>
          </p:nvSpPr>
          <p:spPr bwMode="auto">
            <a:xfrm>
              <a:off x="3447" y="3713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sp>
        <p:nvSpPr>
          <p:cNvPr id="131074" name="Text Box 2"/>
          <p:cNvSpPr txBox="1">
            <a:spLocks noChangeArrowheads="1"/>
          </p:cNvSpPr>
          <p:nvPr/>
        </p:nvSpPr>
        <p:spPr bwMode="auto">
          <a:xfrm>
            <a:off x="2362200" y="1600201"/>
            <a:ext cx="7696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The active-LOW </a:t>
            </a:r>
            <a:r>
              <a:rPr lang="en-US" i="1"/>
              <a:t>S-R</a:t>
            </a:r>
            <a:r>
              <a:rPr lang="en-US"/>
              <a:t> latch is in a stable (latched) condition when both inputs are HIGH. </a:t>
            </a:r>
          </a:p>
        </p:txBody>
      </p:sp>
      <p:pic>
        <p:nvPicPr>
          <p:cNvPr id="131075" name="Picture 3" descr="SH2507-cr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31076" name="Text Box 4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31077" name="Rectangle 5"/>
          <p:cNvSpPr>
            <a:spLocks noChangeArrowheads="1"/>
          </p:cNvSpPr>
          <p:nvPr/>
        </p:nvSpPr>
        <p:spPr bwMode="auto">
          <a:xfrm>
            <a:off x="2438401" y="1143000"/>
            <a:ext cx="889859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Latches</a:t>
            </a:r>
          </a:p>
        </p:txBody>
      </p:sp>
      <p:sp>
        <p:nvSpPr>
          <p:cNvPr id="131081" name="Text Box 9"/>
          <p:cNvSpPr txBox="1">
            <a:spLocks noChangeArrowheads="1"/>
          </p:cNvSpPr>
          <p:nvPr/>
        </p:nvSpPr>
        <p:spPr bwMode="auto">
          <a:xfrm>
            <a:off x="8905875" y="263525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i="1">
                <a:solidFill>
                  <a:srgbClr val="FF0000"/>
                </a:solidFill>
              </a:rPr>
              <a:t>Q</a:t>
            </a:r>
          </a:p>
        </p:txBody>
      </p:sp>
      <p:grpSp>
        <p:nvGrpSpPr>
          <p:cNvPr id="131082" name="Group 10"/>
          <p:cNvGrpSpPr>
            <a:grpSpLocks/>
          </p:cNvGrpSpPr>
          <p:nvPr/>
        </p:nvGrpSpPr>
        <p:grpSpPr bwMode="auto">
          <a:xfrm>
            <a:off x="8915400" y="3754438"/>
            <a:ext cx="381000" cy="336550"/>
            <a:chOff x="2454" y="3201"/>
            <a:chExt cx="240" cy="212"/>
          </a:xfrm>
        </p:grpSpPr>
        <p:sp>
          <p:nvSpPr>
            <p:cNvPr id="131083" name="Text Box 11"/>
            <p:cNvSpPr txBox="1">
              <a:spLocks noChangeArrowheads="1"/>
            </p:cNvSpPr>
            <p:nvPr/>
          </p:nvSpPr>
          <p:spPr bwMode="auto">
            <a:xfrm>
              <a:off x="2454" y="3201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Q</a:t>
              </a:r>
            </a:p>
          </p:txBody>
        </p:sp>
        <p:sp>
          <p:nvSpPr>
            <p:cNvPr id="131084" name="Line 12"/>
            <p:cNvSpPr>
              <a:spLocks noChangeShapeType="1"/>
            </p:cNvSpPr>
            <p:nvPr/>
          </p:nvSpPr>
          <p:spPr bwMode="auto">
            <a:xfrm>
              <a:off x="2524" y="3237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sp>
        <p:nvSpPr>
          <p:cNvPr id="131093" name="Text Box 21"/>
          <p:cNvSpPr txBox="1">
            <a:spLocks noChangeArrowheads="1"/>
          </p:cNvSpPr>
          <p:nvPr/>
        </p:nvSpPr>
        <p:spPr bwMode="auto">
          <a:xfrm>
            <a:off x="6705600" y="24384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131094" name="Text Box 22"/>
          <p:cNvSpPr txBox="1">
            <a:spLocks noChangeArrowheads="1"/>
          </p:cNvSpPr>
          <p:nvPr/>
        </p:nvSpPr>
        <p:spPr bwMode="auto">
          <a:xfrm>
            <a:off x="8686800" y="248285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131095" name="Text Box 23"/>
          <p:cNvSpPr txBox="1">
            <a:spLocks noChangeArrowheads="1"/>
          </p:cNvSpPr>
          <p:nvPr/>
        </p:nvSpPr>
        <p:spPr bwMode="auto">
          <a:xfrm>
            <a:off x="8686800" y="362585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131104" name="Text Box 32"/>
          <p:cNvSpPr txBox="1">
            <a:spLocks noChangeArrowheads="1"/>
          </p:cNvSpPr>
          <p:nvPr/>
        </p:nvSpPr>
        <p:spPr bwMode="auto">
          <a:xfrm>
            <a:off x="8686800" y="362585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131105" name="Text Box 33"/>
          <p:cNvSpPr txBox="1">
            <a:spLocks noChangeArrowheads="1"/>
          </p:cNvSpPr>
          <p:nvPr/>
        </p:nvSpPr>
        <p:spPr bwMode="auto">
          <a:xfrm>
            <a:off x="8686800" y="248285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131106" name="Text Box 34"/>
          <p:cNvSpPr txBox="1">
            <a:spLocks noChangeArrowheads="1"/>
          </p:cNvSpPr>
          <p:nvPr/>
        </p:nvSpPr>
        <p:spPr bwMode="auto">
          <a:xfrm>
            <a:off x="6705600" y="385445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131120" name="Text Box 48"/>
          <p:cNvSpPr txBox="1">
            <a:spLocks noChangeArrowheads="1"/>
          </p:cNvSpPr>
          <p:nvPr/>
        </p:nvSpPr>
        <p:spPr bwMode="auto">
          <a:xfrm>
            <a:off x="8991600" y="2913064"/>
            <a:ext cx="106680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Latch initially RESET</a:t>
            </a:r>
          </a:p>
        </p:txBody>
      </p:sp>
      <p:graphicFrame>
        <p:nvGraphicFramePr>
          <p:cNvPr id="131124" name="Object 52"/>
          <p:cNvGraphicFramePr>
            <a:graphicFrameLocks noChangeAspect="1"/>
          </p:cNvGraphicFramePr>
          <p:nvPr/>
        </p:nvGraphicFramePr>
        <p:xfrm>
          <a:off x="7162800" y="2552701"/>
          <a:ext cx="1773238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8" name="CorelDRAW" r:id="rId5" imgW="804351" imgH="744200" progId="CorelDRAW.Graphic.13">
                  <p:embed/>
                </p:oleObj>
              </mc:Choice>
              <mc:Fallback>
                <p:oleObj name="CorelDRAW" r:id="rId5" imgW="804351" imgH="744200" progId="CorelDRAW.Graphic.1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2552701"/>
                        <a:ext cx="1773238" cy="164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127" name="Text Box 55"/>
          <p:cNvSpPr txBox="1">
            <a:spLocks noChangeArrowheads="1"/>
          </p:cNvSpPr>
          <p:nvPr/>
        </p:nvSpPr>
        <p:spPr bwMode="auto">
          <a:xfrm>
            <a:off x="8905875" y="454025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i="1">
                <a:solidFill>
                  <a:srgbClr val="FF0000"/>
                </a:solidFill>
              </a:rPr>
              <a:t>Q</a:t>
            </a:r>
          </a:p>
        </p:txBody>
      </p:sp>
      <p:grpSp>
        <p:nvGrpSpPr>
          <p:cNvPr id="131128" name="Group 56"/>
          <p:cNvGrpSpPr>
            <a:grpSpLocks/>
          </p:cNvGrpSpPr>
          <p:nvPr/>
        </p:nvGrpSpPr>
        <p:grpSpPr bwMode="auto">
          <a:xfrm>
            <a:off x="8915400" y="5659438"/>
            <a:ext cx="381000" cy="336550"/>
            <a:chOff x="2454" y="3201"/>
            <a:chExt cx="240" cy="212"/>
          </a:xfrm>
        </p:grpSpPr>
        <p:sp>
          <p:nvSpPr>
            <p:cNvPr id="131129" name="Text Box 57"/>
            <p:cNvSpPr txBox="1">
              <a:spLocks noChangeArrowheads="1"/>
            </p:cNvSpPr>
            <p:nvPr/>
          </p:nvSpPr>
          <p:spPr bwMode="auto">
            <a:xfrm>
              <a:off x="2454" y="3201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Q</a:t>
              </a:r>
            </a:p>
          </p:txBody>
        </p:sp>
        <p:sp>
          <p:nvSpPr>
            <p:cNvPr id="131130" name="Line 58"/>
            <p:cNvSpPr>
              <a:spLocks noChangeShapeType="1"/>
            </p:cNvSpPr>
            <p:nvPr/>
          </p:nvSpPr>
          <p:spPr bwMode="auto">
            <a:xfrm>
              <a:off x="2524" y="3237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grpSp>
        <p:nvGrpSpPr>
          <p:cNvPr id="131131" name="Group 59"/>
          <p:cNvGrpSpPr>
            <a:grpSpLocks/>
          </p:cNvGrpSpPr>
          <p:nvPr/>
        </p:nvGrpSpPr>
        <p:grpSpPr bwMode="auto">
          <a:xfrm flipV="1">
            <a:off x="6553200" y="5867400"/>
            <a:ext cx="457200" cy="152400"/>
            <a:chOff x="2208" y="2928"/>
            <a:chExt cx="336" cy="144"/>
          </a:xfrm>
        </p:grpSpPr>
        <p:sp>
          <p:nvSpPr>
            <p:cNvPr id="131132" name="Line 60"/>
            <p:cNvSpPr>
              <a:spLocks noChangeShapeType="1"/>
            </p:cNvSpPr>
            <p:nvPr/>
          </p:nvSpPr>
          <p:spPr bwMode="auto">
            <a:xfrm>
              <a:off x="2208" y="3072"/>
              <a:ext cx="96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  <p:sp>
          <p:nvSpPr>
            <p:cNvPr id="131133" name="Line 61"/>
            <p:cNvSpPr>
              <a:spLocks noChangeShapeType="1"/>
            </p:cNvSpPr>
            <p:nvPr/>
          </p:nvSpPr>
          <p:spPr bwMode="auto">
            <a:xfrm flipV="1">
              <a:off x="2304" y="2928"/>
              <a:ext cx="0" cy="144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  <p:sp>
          <p:nvSpPr>
            <p:cNvPr id="131134" name="Line 62"/>
            <p:cNvSpPr>
              <a:spLocks noChangeShapeType="1"/>
            </p:cNvSpPr>
            <p:nvPr/>
          </p:nvSpPr>
          <p:spPr bwMode="auto">
            <a:xfrm>
              <a:off x="2304" y="2928"/>
              <a:ext cx="144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  <p:sp>
          <p:nvSpPr>
            <p:cNvPr id="131135" name="Line 63"/>
            <p:cNvSpPr>
              <a:spLocks noChangeShapeType="1"/>
            </p:cNvSpPr>
            <p:nvPr/>
          </p:nvSpPr>
          <p:spPr bwMode="auto">
            <a:xfrm>
              <a:off x="2448" y="2928"/>
              <a:ext cx="0" cy="144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  <p:sp>
          <p:nvSpPr>
            <p:cNvPr id="131136" name="Line 64"/>
            <p:cNvSpPr>
              <a:spLocks noChangeShapeType="1"/>
            </p:cNvSpPr>
            <p:nvPr/>
          </p:nvSpPr>
          <p:spPr bwMode="auto">
            <a:xfrm>
              <a:off x="2448" y="3072"/>
              <a:ext cx="96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sp>
        <p:nvSpPr>
          <p:cNvPr id="131137" name="Text Box 65"/>
          <p:cNvSpPr txBox="1">
            <a:spLocks noChangeArrowheads="1"/>
          </p:cNvSpPr>
          <p:nvPr/>
        </p:nvSpPr>
        <p:spPr bwMode="auto">
          <a:xfrm>
            <a:off x="6705600" y="43434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131138" name="Text Box 66"/>
          <p:cNvSpPr txBox="1">
            <a:spLocks noChangeArrowheads="1"/>
          </p:cNvSpPr>
          <p:nvPr/>
        </p:nvSpPr>
        <p:spPr bwMode="auto">
          <a:xfrm>
            <a:off x="8686800" y="54864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131139" name="Text Box 67"/>
          <p:cNvSpPr txBox="1">
            <a:spLocks noChangeArrowheads="1"/>
          </p:cNvSpPr>
          <p:nvPr/>
        </p:nvSpPr>
        <p:spPr bwMode="auto">
          <a:xfrm>
            <a:off x="8686800" y="44196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131140" name="Text Box 68"/>
          <p:cNvSpPr txBox="1">
            <a:spLocks noChangeArrowheads="1"/>
          </p:cNvSpPr>
          <p:nvPr/>
        </p:nvSpPr>
        <p:spPr bwMode="auto">
          <a:xfrm>
            <a:off x="8686800" y="44196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131141" name="Text Box 69"/>
          <p:cNvSpPr txBox="1">
            <a:spLocks noChangeArrowheads="1"/>
          </p:cNvSpPr>
          <p:nvPr/>
        </p:nvSpPr>
        <p:spPr bwMode="auto">
          <a:xfrm>
            <a:off x="8686800" y="54864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131142" name="Text Box 70"/>
          <p:cNvSpPr txBox="1">
            <a:spLocks noChangeArrowheads="1"/>
          </p:cNvSpPr>
          <p:nvPr/>
        </p:nvSpPr>
        <p:spPr bwMode="auto">
          <a:xfrm>
            <a:off x="6781800" y="575945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131143" name="Text Box 71"/>
          <p:cNvSpPr txBox="1">
            <a:spLocks noChangeArrowheads="1"/>
          </p:cNvSpPr>
          <p:nvPr/>
        </p:nvSpPr>
        <p:spPr bwMode="auto">
          <a:xfrm>
            <a:off x="8991600" y="4818064"/>
            <a:ext cx="106680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Latch initially SET</a:t>
            </a:r>
          </a:p>
        </p:txBody>
      </p:sp>
      <p:graphicFrame>
        <p:nvGraphicFramePr>
          <p:cNvPr id="131144" name="Object 72"/>
          <p:cNvGraphicFramePr>
            <a:graphicFrameLocks noChangeAspect="1"/>
          </p:cNvGraphicFramePr>
          <p:nvPr/>
        </p:nvGraphicFramePr>
        <p:xfrm>
          <a:off x="7162800" y="4457701"/>
          <a:ext cx="1773238" cy="164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99" name="CorelDRAW" r:id="rId7" imgW="804351" imgH="744200" progId="CorelDRAW.Graphic.13">
                  <p:embed/>
                </p:oleObj>
              </mc:Choice>
              <mc:Fallback>
                <p:oleObj name="CorelDRAW" r:id="rId7" imgW="804351" imgH="744200" progId="CorelDRAW.Graphic.1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2800" y="4457701"/>
                        <a:ext cx="1773238" cy="164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146" name="Rectangle 74"/>
          <p:cNvSpPr>
            <a:spLocks noChangeArrowheads="1"/>
          </p:cNvSpPr>
          <p:nvPr/>
        </p:nvSpPr>
        <p:spPr bwMode="auto">
          <a:xfrm>
            <a:off x="6477000" y="4191000"/>
            <a:ext cx="3581400" cy="19812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SA"/>
          </a:p>
        </p:txBody>
      </p:sp>
      <p:grpSp>
        <p:nvGrpSpPr>
          <p:cNvPr id="131151" name="Group 79"/>
          <p:cNvGrpSpPr>
            <a:grpSpLocks/>
          </p:cNvGrpSpPr>
          <p:nvPr/>
        </p:nvGrpSpPr>
        <p:grpSpPr bwMode="auto">
          <a:xfrm>
            <a:off x="6924675" y="1564"/>
            <a:ext cx="381000" cy="212"/>
            <a:chOff x="3402" y="1564"/>
            <a:chExt cx="240" cy="212"/>
          </a:xfrm>
        </p:grpSpPr>
        <p:sp>
          <p:nvSpPr>
            <p:cNvPr id="131079" name="Text Box 7"/>
            <p:cNvSpPr txBox="1">
              <a:spLocks noChangeArrowheads="1"/>
            </p:cNvSpPr>
            <p:nvPr/>
          </p:nvSpPr>
          <p:spPr bwMode="auto">
            <a:xfrm>
              <a:off x="3402" y="1564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S</a:t>
              </a:r>
            </a:p>
          </p:txBody>
        </p:sp>
        <p:sp>
          <p:nvSpPr>
            <p:cNvPr id="131147" name="Line 75"/>
            <p:cNvSpPr>
              <a:spLocks noChangeShapeType="1"/>
            </p:cNvSpPr>
            <p:nvPr/>
          </p:nvSpPr>
          <p:spPr bwMode="auto">
            <a:xfrm>
              <a:off x="3456" y="1584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sp>
        <p:nvSpPr>
          <p:cNvPr id="131080" name="Text Box 8"/>
          <p:cNvSpPr txBox="1">
            <a:spLocks noChangeArrowheads="1"/>
          </p:cNvSpPr>
          <p:nvPr/>
        </p:nvSpPr>
        <p:spPr bwMode="auto">
          <a:xfrm>
            <a:off x="6924675" y="393065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i="1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131086" name="Text Box 14"/>
          <p:cNvSpPr txBox="1">
            <a:spLocks noChangeArrowheads="1"/>
          </p:cNvSpPr>
          <p:nvPr/>
        </p:nvSpPr>
        <p:spPr bwMode="auto">
          <a:xfrm>
            <a:off x="2438400" y="2438401"/>
            <a:ext cx="3886200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Assume the latch is initially RESET (</a:t>
            </a:r>
            <a:r>
              <a:rPr lang="en-US" sz="2000" i="1" dirty="0"/>
              <a:t>Q</a:t>
            </a:r>
            <a:r>
              <a:rPr lang="en-US" sz="2000" dirty="0"/>
              <a:t> = 0) and the inputs are at their inactive level (1). To SET the latch (</a:t>
            </a:r>
            <a:r>
              <a:rPr lang="en-US" sz="2000" i="1" dirty="0"/>
              <a:t>Q </a:t>
            </a:r>
            <a:r>
              <a:rPr lang="en-US" sz="2000" dirty="0"/>
              <a:t>= 1), a momentary LOW signal is applied to the </a:t>
            </a:r>
            <a:r>
              <a:rPr lang="en-US" sz="2000" i="1" dirty="0"/>
              <a:t>S</a:t>
            </a:r>
            <a:r>
              <a:rPr lang="en-US" sz="2000" dirty="0"/>
              <a:t> input while the </a:t>
            </a:r>
            <a:r>
              <a:rPr lang="en-US" sz="2000" i="1" dirty="0"/>
              <a:t>R</a:t>
            </a:r>
            <a:r>
              <a:rPr lang="en-US" sz="2000" dirty="0"/>
              <a:t> remains HIGH. </a:t>
            </a:r>
          </a:p>
        </p:txBody>
      </p:sp>
      <p:grpSp>
        <p:nvGrpSpPr>
          <p:cNvPr id="131160" name="Group 88"/>
          <p:cNvGrpSpPr>
            <a:grpSpLocks/>
          </p:cNvGrpSpPr>
          <p:nvPr/>
        </p:nvGrpSpPr>
        <p:grpSpPr bwMode="auto">
          <a:xfrm>
            <a:off x="2438400" y="4343401"/>
            <a:ext cx="3657600" cy="1006475"/>
            <a:chOff x="576" y="2880"/>
            <a:chExt cx="2304" cy="634"/>
          </a:xfrm>
        </p:grpSpPr>
        <p:sp>
          <p:nvSpPr>
            <p:cNvPr id="131145" name="Text Box 73"/>
            <p:cNvSpPr txBox="1">
              <a:spLocks noChangeArrowheads="1"/>
            </p:cNvSpPr>
            <p:nvPr/>
          </p:nvSpPr>
          <p:spPr bwMode="auto">
            <a:xfrm>
              <a:off x="576" y="2880"/>
              <a:ext cx="2304" cy="6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/>
                <a:t>To RESET the latch a momentary LOW is applied to the </a:t>
              </a:r>
              <a:r>
                <a:rPr lang="en-US" sz="2000" i="1"/>
                <a:t>R</a:t>
              </a:r>
              <a:r>
                <a:rPr lang="en-US" sz="2000"/>
                <a:t> input while </a:t>
              </a:r>
              <a:r>
                <a:rPr lang="en-US" sz="2000" i="1"/>
                <a:t>S</a:t>
              </a:r>
              <a:r>
                <a:rPr lang="en-US" sz="2000"/>
                <a:t> is HIGH.</a:t>
              </a:r>
            </a:p>
          </p:txBody>
        </p:sp>
        <p:sp>
          <p:nvSpPr>
            <p:cNvPr id="131157" name="Line 85"/>
            <p:cNvSpPr>
              <a:spLocks noChangeShapeType="1"/>
            </p:cNvSpPr>
            <p:nvPr/>
          </p:nvSpPr>
          <p:spPr bwMode="auto">
            <a:xfrm>
              <a:off x="2112" y="3120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sp>
        <p:nvSpPr>
          <p:cNvPr id="131161" name="Text Box 89"/>
          <p:cNvSpPr txBox="1">
            <a:spLocks noChangeArrowheads="1"/>
          </p:cNvSpPr>
          <p:nvPr/>
        </p:nvSpPr>
        <p:spPr bwMode="auto">
          <a:xfrm>
            <a:off x="2438400" y="5410201"/>
            <a:ext cx="35052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Never apply an active set and reset at the same time (invalid).</a:t>
            </a:r>
          </a:p>
        </p:txBody>
      </p:sp>
      <p:pic>
        <p:nvPicPr>
          <p:cNvPr id="66" name="Picture 6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407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0"/>
                                        <p:tgtEl>
                                          <p:spTgt spid="1310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1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13110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1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31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31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1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1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xit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500"/>
                                        <p:tgtEl>
                                          <p:spTgt spid="131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131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3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1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311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3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2000"/>
                            </p:stCondLst>
                            <p:childTnLst>
                              <p:par>
                                <p:cTn id="5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311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31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311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1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900" decel="100000" fill="hold"/>
                                        <p:tgtEl>
                                          <p:spTgt spid="131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1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093" grpId="0"/>
      <p:bldP spid="131094" grpId="0"/>
      <p:bldP spid="131095" grpId="0"/>
      <p:bldP spid="131104" grpId="0"/>
      <p:bldP spid="131105" grpId="0"/>
      <p:bldP spid="131120" grpId="0"/>
      <p:bldP spid="131138" grpId="0"/>
      <p:bldP spid="131139" grpId="0"/>
      <p:bldP spid="131140" grpId="0"/>
      <p:bldP spid="131141" grpId="0"/>
      <p:bldP spid="131142" grpId="0"/>
      <p:bldP spid="131143" grpId="0"/>
      <p:bldP spid="131146" grpId="0" animBg="1"/>
      <p:bldP spid="13116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ext Box 2"/>
          <p:cNvSpPr txBox="1">
            <a:spLocks noChangeArrowheads="1"/>
          </p:cNvSpPr>
          <p:nvPr/>
        </p:nvSpPr>
        <p:spPr bwMode="auto">
          <a:xfrm>
            <a:off x="2362200" y="1600201"/>
            <a:ext cx="7696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The active-HIGH </a:t>
            </a:r>
            <a:r>
              <a:rPr lang="en-US" i="1"/>
              <a:t>S-R</a:t>
            </a:r>
            <a:r>
              <a:rPr lang="en-US"/>
              <a:t> latch is in a stable (latched) condition when both inputs are LOW.</a:t>
            </a:r>
          </a:p>
        </p:txBody>
      </p:sp>
      <p:pic>
        <p:nvPicPr>
          <p:cNvPr id="129027" name="Picture 3" descr="SH2507-cr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29028" name="Text Box 4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29029" name="Rectangle 5"/>
          <p:cNvSpPr>
            <a:spLocks noChangeArrowheads="1"/>
          </p:cNvSpPr>
          <p:nvPr/>
        </p:nvSpPr>
        <p:spPr bwMode="auto">
          <a:xfrm>
            <a:off x="2438401" y="1143000"/>
            <a:ext cx="889859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Latches</a:t>
            </a:r>
          </a:p>
        </p:txBody>
      </p:sp>
      <p:grpSp>
        <p:nvGrpSpPr>
          <p:cNvPr id="129064" name="Group 40"/>
          <p:cNvGrpSpPr>
            <a:grpSpLocks/>
          </p:cNvGrpSpPr>
          <p:nvPr/>
        </p:nvGrpSpPr>
        <p:grpSpPr bwMode="auto">
          <a:xfrm>
            <a:off x="6924676" y="2362200"/>
            <a:ext cx="2371725" cy="1784350"/>
            <a:chOff x="3402" y="1584"/>
            <a:chExt cx="1494" cy="1124"/>
          </a:xfrm>
        </p:grpSpPr>
        <p:sp>
          <p:nvSpPr>
            <p:cNvPr id="129033" name="Text Box 9"/>
            <p:cNvSpPr txBox="1">
              <a:spLocks noChangeArrowheads="1"/>
            </p:cNvSpPr>
            <p:nvPr/>
          </p:nvSpPr>
          <p:spPr bwMode="auto">
            <a:xfrm>
              <a:off x="3402" y="1584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R</a:t>
              </a:r>
            </a:p>
          </p:txBody>
        </p:sp>
        <p:sp>
          <p:nvSpPr>
            <p:cNvPr id="129034" name="Text Box 10"/>
            <p:cNvSpPr txBox="1">
              <a:spLocks noChangeArrowheads="1"/>
            </p:cNvSpPr>
            <p:nvPr/>
          </p:nvSpPr>
          <p:spPr bwMode="auto">
            <a:xfrm>
              <a:off x="3402" y="2496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S</a:t>
              </a:r>
            </a:p>
          </p:txBody>
        </p:sp>
        <p:sp>
          <p:nvSpPr>
            <p:cNvPr id="129035" name="Text Box 11"/>
            <p:cNvSpPr txBox="1">
              <a:spLocks noChangeArrowheads="1"/>
            </p:cNvSpPr>
            <p:nvPr/>
          </p:nvSpPr>
          <p:spPr bwMode="auto">
            <a:xfrm>
              <a:off x="4650" y="1680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Q</a:t>
              </a:r>
            </a:p>
          </p:txBody>
        </p:sp>
        <p:grpSp>
          <p:nvGrpSpPr>
            <p:cNvPr id="129037" name="Group 13"/>
            <p:cNvGrpSpPr>
              <a:grpSpLocks/>
            </p:cNvGrpSpPr>
            <p:nvPr/>
          </p:nvGrpSpPr>
          <p:grpSpPr bwMode="auto">
            <a:xfrm>
              <a:off x="4656" y="2385"/>
              <a:ext cx="240" cy="212"/>
              <a:chOff x="2454" y="3201"/>
              <a:chExt cx="240" cy="212"/>
            </a:xfrm>
          </p:grpSpPr>
          <p:sp>
            <p:nvSpPr>
              <p:cNvPr id="129038" name="Text Box 14"/>
              <p:cNvSpPr txBox="1">
                <a:spLocks noChangeArrowheads="1"/>
              </p:cNvSpPr>
              <p:nvPr/>
            </p:nvSpPr>
            <p:spPr bwMode="auto">
              <a:xfrm>
                <a:off x="2454" y="3201"/>
                <a:ext cx="240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600" i="1">
                    <a:solidFill>
                      <a:srgbClr val="FF0000"/>
                    </a:solidFill>
                  </a:rPr>
                  <a:t>Q</a:t>
                </a:r>
              </a:p>
            </p:txBody>
          </p:sp>
          <p:sp>
            <p:nvSpPr>
              <p:cNvPr id="129039" name="Line 15"/>
              <p:cNvSpPr>
                <a:spLocks noChangeShapeType="1"/>
              </p:cNvSpPr>
              <p:nvPr/>
            </p:nvSpPr>
            <p:spPr bwMode="auto">
              <a:xfrm>
                <a:off x="2524" y="3237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ar-SA"/>
              </a:p>
            </p:txBody>
          </p:sp>
        </p:grpSp>
        <p:graphicFrame>
          <p:nvGraphicFramePr>
            <p:cNvPr id="129049" name="Object 25"/>
            <p:cNvGraphicFramePr>
              <a:graphicFrameLocks noChangeAspect="1"/>
            </p:cNvGraphicFramePr>
            <p:nvPr/>
          </p:nvGraphicFramePr>
          <p:xfrm>
            <a:off x="3546" y="1632"/>
            <a:ext cx="1166" cy="10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2" name="CorelDRAW" r:id="rId5" imgW="805955" imgH="744200" progId="CorelDRAW.Graphic.13">
                    <p:embed/>
                  </p:oleObj>
                </mc:Choice>
                <mc:Fallback>
                  <p:oleObj name="CorelDRAW" r:id="rId5" imgW="805955" imgH="744200" progId="CorelDRAW.Graphic.1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6" y="1632"/>
                          <a:ext cx="1166" cy="10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9050" name="Text Box 26"/>
          <p:cNvSpPr txBox="1">
            <a:spLocks noChangeArrowheads="1"/>
          </p:cNvSpPr>
          <p:nvPr/>
        </p:nvSpPr>
        <p:spPr bwMode="auto">
          <a:xfrm>
            <a:off x="2438400" y="2438401"/>
            <a:ext cx="3886200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/>
              <a:t>Assume the latch is initially RESET (</a:t>
            </a:r>
            <a:r>
              <a:rPr lang="en-US" sz="2000" i="1" dirty="0"/>
              <a:t>Q</a:t>
            </a:r>
            <a:r>
              <a:rPr lang="en-US" sz="2000" dirty="0"/>
              <a:t> = 0) and the inputs are at their inactive level (0). To SET the latch (</a:t>
            </a:r>
            <a:r>
              <a:rPr lang="en-US" sz="2000" i="1" dirty="0"/>
              <a:t>Q </a:t>
            </a:r>
            <a:r>
              <a:rPr lang="en-US" sz="2000" dirty="0"/>
              <a:t>= 1), a momentary HIGH signal is applied to the </a:t>
            </a:r>
            <a:r>
              <a:rPr lang="en-US" sz="2000" i="1" dirty="0"/>
              <a:t>S</a:t>
            </a:r>
            <a:r>
              <a:rPr lang="en-US" sz="2000" dirty="0"/>
              <a:t> input while the </a:t>
            </a:r>
            <a:r>
              <a:rPr lang="en-US" sz="2000" i="1" dirty="0"/>
              <a:t>R</a:t>
            </a:r>
            <a:r>
              <a:rPr lang="en-US" sz="2000" dirty="0"/>
              <a:t> remains LOW. </a:t>
            </a:r>
          </a:p>
        </p:txBody>
      </p:sp>
      <p:grpSp>
        <p:nvGrpSpPr>
          <p:cNvPr id="129060" name="Group 36"/>
          <p:cNvGrpSpPr>
            <a:grpSpLocks/>
          </p:cNvGrpSpPr>
          <p:nvPr/>
        </p:nvGrpSpPr>
        <p:grpSpPr bwMode="auto">
          <a:xfrm>
            <a:off x="6629400" y="3886200"/>
            <a:ext cx="457200" cy="152400"/>
            <a:chOff x="2208" y="2928"/>
            <a:chExt cx="336" cy="144"/>
          </a:xfrm>
        </p:grpSpPr>
        <p:sp>
          <p:nvSpPr>
            <p:cNvPr id="129052" name="Line 28"/>
            <p:cNvSpPr>
              <a:spLocks noChangeShapeType="1"/>
            </p:cNvSpPr>
            <p:nvPr/>
          </p:nvSpPr>
          <p:spPr bwMode="auto">
            <a:xfrm>
              <a:off x="2208" y="3072"/>
              <a:ext cx="96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  <p:sp>
          <p:nvSpPr>
            <p:cNvPr id="129054" name="Line 30"/>
            <p:cNvSpPr>
              <a:spLocks noChangeShapeType="1"/>
            </p:cNvSpPr>
            <p:nvPr/>
          </p:nvSpPr>
          <p:spPr bwMode="auto">
            <a:xfrm flipV="1">
              <a:off x="2304" y="2928"/>
              <a:ext cx="0" cy="144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  <p:sp>
          <p:nvSpPr>
            <p:cNvPr id="129056" name="Line 32"/>
            <p:cNvSpPr>
              <a:spLocks noChangeShapeType="1"/>
            </p:cNvSpPr>
            <p:nvPr/>
          </p:nvSpPr>
          <p:spPr bwMode="auto">
            <a:xfrm>
              <a:off x="2304" y="2928"/>
              <a:ext cx="144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  <p:sp>
          <p:nvSpPr>
            <p:cNvPr id="129058" name="Line 34"/>
            <p:cNvSpPr>
              <a:spLocks noChangeShapeType="1"/>
            </p:cNvSpPr>
            <p:nvPr/>
          </p:nvSpPr>
          <p:spPr bwMode="auto">
            <a:xfrm>
              <a:off x="2448" y="2928"/>
              <a:ext cx="0" cy="144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  <p:sp>
          <p:nvSpPr>
            <p:cNvPr id="129059" name="Line 35"/>
            <p:cNvSpPr>
              <a:spLocks noChangeShapeType="1"/>
            </p:cNvSpPr>
            <p:nvPr/>
          </p:nvSpPr>
          <p:spPr bwMode="auto">
            <a:xfrm>
              <a:off x="2448" y="3072"/>
              <a:ext cx="96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sp>
        <p:nvSpPr>
          <p:cNvPr id="129061" name="Text Box 37"/>
          <p:cNvSpPr txBox="1">
            <a:spLocks noChangeArrowheads="1"/>
          </p:cNvSpPr>
          <p:nvPr/>
        </p:nvSpPr>
        <p:spPr bwMode="auto">
          <a:xfrm>
            <a:off x="6705600" y="23622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129062" name="Text Box 38"/>
          <p:cNvSpPr txBox="1">
            <a:spLocks noChangeArrowheads="1"/>
          </p:cNvSpPr>
          <p:nvPr/>
        </p:nvSpPr>
        <p:spPr bwMode="auto">
          <a:xfrm>
            <a:off x="8686800" y="23622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129063" name="Text Box 39"/>
          <p:cNvSpPr txBox="1">
            <a:spLocks noChangeArrowheads="1"/>
          </p:cNvSpPr>
          <p:nvPr/>
        </p:nvSpPr>
        <p:spPr bwMode="auto">
          <a:xfrm>
            <a:off x="8686800" y="35052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rgbClr val="0000FF"/>
                </a:solidFill>
              </a:rPr>
              <a:t>0</a:t>
            </a:r>
          </a:p>
        </p:txBody>
      </p:sp>
      <p:grpSp>
        <p:nvGrpSpPr>
          <p:cNvPr id="129065" name="Group 41"/>
          <p:cNvGrpSpPr>
            <a:grpSpLocks/>
          </p:cNvGrpSpPr>
          <p:nvPr/>
        </p:nvGrpSpPr>
        <p:grpSpPr bwMode="auto">
          <a:xfrm>
            <a:off x="6934201" y="4343400"/>
            <a:ext cx="2371725" cy="1784350"/>
            <a:chOff x="3402" y="1584"/>
            <a:chExt cx="1494" cy="1124"/>
          </a:xfrm>
        </p:grpSpPr>
        <p:sp>
          <p:nvSpPr>
            <p:cNvPr id="129066" name="Text Box 42"/>
            <p:cNvSpPr txBox="1">
              <a:spLocks noChangeArrowheads="1"/>
            </p:cNvSpPr>
            <p:nvPr/>
          </p:nvSpPr>
          <p:spPr bwMode="auto">
            <a:xfrm>
              <a:off x="3402" y="1584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R</a:t>
              </a:r>
            </a:p>
          </p:txBody>
        </p:sp>
        <p:sp>
          <p:nvSpPr>
            <p:cNvPr id="129067" name="Text Box 43"/>
            <p:cNvSpPr txBox="1">
              <a:spLocks noChangeArrowheads="1"/>
            </p:cNvSpPr>
            <p:nvPr/>
          </p:nvSpPr>
          <p:spPr bwMode="auto">
            <a:xfrm>
              <a:off x="3402" y="2496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S</a:t>
              </a:r>
            </a:p>
          </p:txBody>
        </p:sp>
        <p:sp>
          <p:nvSpPr>
            <p:cNvPr id="129068" name="Text Box 44"/>
            <p:cNvSpPr txBox="1">
              <a:spLocks noChangeArrowheads="1"/>
            </p:cNvSpPr>
            <p:nvPr/>
          </p:nvSpPr>
          <p:spPr bwMode="auto">
            <a:xfrm>
              <a:off x="4650" y="1680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Q</a:t>
              </a:r>
            </a:p>
          </p:txBody>
        </p:sp>
        <p:grpSp>
          <p:nvGrpSpPr>
            <p:cNvPr id="129069" name="Group 45"/>
            <p:cNvGrpSpPr>
              <a:grpSpLocks/>
            </p:cNvGrpSpPr>
            <p:nvPr/>
          </p:nvGrpSpPr>
          <p:grpSpPr bwMode="auto">
            <a:xfrm>
              <a:off x="4656" y="2385"/>
              <a:ext cx="240" cy="212"/>
              <a:chOff x="2454" y="3201"/>
              <a:chExt cx="240" cy="212"/>
            </a:xfrm>
          </p:grpSpPr>
          <p:sp>
            <p:nvSpPr>
              <p:cNvPr id="129070" name="Text Box 46"/>
              <p:cNvSpPr txBox="1">
                <a:spLocks noChangeArrowheads="1"/>
              </p:cNvSpPr>
              <p:nvPr/>
            </p:nvSpPr>
            <p:spPr bwMode="auto">
              <a:xfrm>
                <a:off x="2454" y="3201"/>
                <a:ext cx="240" cy="21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1600" i="1">
                    <a:solidFill>
                      <a:srgbClr val="FF0000"/>
                    </a:solidFill>
                  </a:rPr>
                  <a:t>Q</a:t>
                </a:r>
              </a:p>
            </p:txBody>
          </p:sp>
          <p:sp>
            <p:nvSpPr>
              <p:cNvPr id="129071" name="Line 47"/>
              <p:cNvSpPr>
                <a:spLocks noChangeShapeType="1"/>
              </p:cNvSpPr>
              <p:nvPr/>
            </p:nvSpPr>
            <p:spPr bwMode="auto">
              <a:xfrm>
                <a:off x="2524" y="3237"/>
                <a:ext cx="96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/>
              </a:ln>
              <a:effectLst/>
            </p:spPr>
            <p:txBody>
              <a:bodyPr/>
              <a:lstStyle/>
              <a:p>
                <a:endParaRPr lang="ar-SA"/>
              </a:p>
            </p:txBody>
          </p:sp>
        </p:grpSp>
        <p:graphicFrame>
          <p:nvGraphicFramePr>
            <p:cNvPr id="129072" name="Object 48"/>
            <p:cNvGraphicFramePr>
              <a:graphicFrameLocks noChangeAspect="1"/>
            </p:cNvGraphicFramePr>
            <p:nvPr/>
          </p:nvGraphicFramePr>
          <p:xfrm>
            <a:off x="3546" y="1632"/>
            <a:ext cx="1166" cy="10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323" name="CorelDRAW" r:id="rId7" imgW="805955" imgH="744200" progId="CorelDRAW.Graphic.13">
                    <p:embed/>
                  </p:oleObj>
                </mc:Choice>
                <mc:Fallback>
                  <p:oleObj name="CorelDRAW" r:id="rId7" imgW="805955" imgH="744200" progId="CorelDRAW.Graphic.1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46" y="1632"/>
                          <a:ext cx="1166" cy="10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9074" name="Text Box 50"/>
          <p:cNvSpPr txBox="1">
            <a:spLocks noChangeArrowheads="1"/>
          </p:cNvSpPr>
          <p:nvPr/>
        </p:nvSpPr>
        <p:spPr bwMode="auto">
          <a:xfrm>
            <a:off x="8686800" y="35052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129075" name="Text Box 51"/>
          <p:cNvSpPr txBox="1">
            <a:spLocks noChangeArrowheads="1"/>
          </p:cNvSpPr>
          <p:nvPr/>
        </p:nvSpPr>
        <p:spPr bwMode="auto">
          <a:xfrm>
            <a:off x="8686800" y="23622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129081" name="Text Box 57"/>
          <p:cNvSpPr txBox="1">
            <a:spLocks noChangeArrowheads="1"/>
          </p:cNvSpPr>
          <p:nvPr/>
        </p:nvSpPr>
        <p:spPr bwMode="auto">
          <a:xfrm>
            <a:off x="6705600" y="38100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129082" name="Text Box 58"/>
          <p:cNvSpPr txBox="1">
            <a:spLocks noChangeArrowheads="1"/>
          </p:cNvSpPr>
          <p:nvPr/>
        </p:nvSpPr>
        <p:spPr bwMode="auto">
          <a:xfrm>
            <a:off x="2438400" y="4479926"/>
            <a:ext cx="3733800" cy="1311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To RESET the latch (</a:t>
            </a:r>
            <a:r>
              <a:rPr lang="en-US" sz="2000" i="1"/>
              <a:t>Q </a:t>
            </a:r>
            <a:r>
              <a:rPr lang="en-US" sz="2000"/>
              <a:t>= 0), a momentary HIGH signal is applied to the </a:t>
            </a:r>
            <a:r>
              <a:rPr lang="en-US" sz="2000" i="1"/>
              <a:t>R</a:t>
            </a:r>
            <a:r>
              <a:rPr lang="en-US" sz="2000"/>
              <a:t> input while the </a:t>
            </a:r>
            <a:r>
              <a:rPr lang="en-US" sz="2000" i="1"/>
              <a:t>S</a:t>
            </a:r>
            <a:r>
              <a:rPr lang="en-US" sz="2000"/>
              <a:t> remains LOW. </a:t>
            </a:r>
          </a:p>
        </p:txBody>
      </p:sp>
      <p:grpSp>
        <p:nvGrpSpPr>
          <p:cNvPr id="129083" name="Group 59"/>
          <p:cNvGrpSpPr>
            <a:grpSpLocks/>
          </p:cNvGrpSpPr>
          <p:nvPr/>
        </p:nvGrpSpPr>
        <p:grpSpPr bwMode="auto">
          <a:xfrm>
            <a:off x="6629400" y="4419600"/>
            <a:ext cx="457200" cy="152400"/>
            <a:chOff x="2208" y="2928"/>
            <a:chExt cx="336" cy="144"/>
          </a:xfrm>
        </p:grpSpPr>
        <p:sp>
          <p:nvSpPr>
            <p:cNvPr id="129084" name="Line 60"/>
            <p:cNvSpPr>
              <a:spLocks noChangeShapeType="1"/>
            </p:cNvSpPr>
            <p:nvPr/>
          </p:nvSpPr>
          <p:spPr bwMode="auto">
            <a:xfrm>
              <a:off x="2208" y="3072"/>
              <a:ext cx="96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  <p:sp>
          <p:nvSpPr>
            <p:cNvPr id="129085" name="Line 61"/>
            <p:cNvSpPr>
              <a:spLocks noChangeShapeType="1"/>
            </p:cNvSpPr>
            <p:nvPr/>
          </p:nvSpPr>
          <p:spPr bwMode="auto">
            <a:xfrm flipV="1">
              <a:off x="2304" y="2928"/>
              <a:ext cx="0" cy="144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  <p:sp>
          <p:nvSpPr>
            <p:cNvPr id="129086" name="Line 62"/>
            <p:cNvSpPr>
              <a:spLocks noChangeShapeType="1"/>
            </p:cNvSpPr>
            <p:nvPr/>
          </p:nvSpPr>
          <p:spPr bwMode="auto">
            <a:xfrm>
              <a:off x="2304" y="2928"/>
              <a:ext cx="144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  <p:sp>
          <p:nvSpPr>
            <p:cNvPr id="129087" name="Line 63"/>
            <p:cNvSpPr>
              <a:spLocks noChangeShapeType="1"/>
            </p:cNvSpPr>
            <p:nvPr/>
          </p:nvSpPr>
          <p:spPr bwMode="auto">
            <a:xfrm>
              <a:off x="2448" y="2928"/>
              <a:ext cx="0" cy="144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  <p:sp>
          <p:nvSpPr>
            <p:cNvPr id="129088" name="Line 64"/>
            <p:cNvSpPr>
              <a:spLocks noChangeShapeType="1"/>
            </p:cNvSpPr>
            <p:nvPr/>
          </p:nvSpPr>
          <p:spPr bwMode="auto">
            <a:xfrm>
              <a:off x="2448" y="3072"/>
              <a:ext cx="96" cy="0"/>
            </a:xfrm>
            <a:prstGeom prst="line">
              <a:avLst/>
            </a:prstGeom>
            <a:noFill/>
            <a:ln w="19050">
              <a:solidFill>
                <a:srgbClr val="0000FF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sp>
        <p:nvSpPr>
          <p:cNvPr id="129089" name="Text Box 65"/>
          <p:cNvSpPr txBox="1">
            <a:spLocks noChangeArrowheads="1"/>
          </p:cNvSpPr>
          <p:nvPr/>
        </p:nvSpPr>
        <p:spPr bwMode="auto">
          <a:xfrm>
            <a:off x="6705600" y="57912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129090" name="Text Box 66"/>
          <p:cNvSpPr txBox="1">
            <a:spLocks noChangeArrowheads="1"/>
          </p:cNvSpPr>
          <p:nvPr/>
        </p:nvSpPr>
        <p:spPr bwMode="auto">
          <a:xfrm>
            <a:off x="6705600" y="43434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129091" name="Text Box 67"/>
          <p:cNvSpPr txBox="1">
            <a:spLocks noChangeArrowheads="1"/>
          </p:cNvSpPr>
          <p:nvPr/>
        </p:nvSpPr>
        <p:spPr bwMode="auto">
          <a:xfrm>
            <a:off x="8686800" y="54864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129092" name="Text Box 68"/>
          <p:cNvSpPr txBox="1">
            <a:spLocks noChangeArrowheads="1"/>
          </p:cNvSpPr>
          <p:nvPr/>
        </p:nvSpPr>
        <p:spPr bwMode="auto">
          <a:xfrm>
            <a:off x="8686800" y="43434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129093" name="Text Box 69"/>
          <p:cNvSpPr txBox="1">
            <a:spLocks noChangeArrowheads="1"/>
          </p:cNvSpPr>
          <p:nvPr/>
        </p:nvSpPr>
        <p:spPr bwMode="auto">
          <a:xfrm>
            <a:off x="8686800" y="43434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chemeClr val="bg2"/>
                </a:solidFill>
              </a:rPr>
              <a:t>1</a:t>
            </a:r>
          </a:p>
        </p:txBody>
      </p:sp>
      <p:sp>
        <p:nvSpPr>
          <p:cNvPr id="129094" name="Text Box 70"/>
          <p:cNvSpPr txBox="1">
            <a:spLocks noChangeArrowheads="1"/>
          </p:cNvSpPr>
          <p:nvPr/>
        </p:nvSpPr>
        <p:spPr bwMode="auto">
          <a:xfrm>
            <a:off x="8686800" y="54864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chemeClr val="bg2"/>
                </a:solidFill>
              </a:rPr>
              <a:t>0</a:t>
            </a:r>
          </a:p>
        </p:txBody>
      </p:sp>
      <p:sp>
        <p:nvSpPr>
          <p:cNvPr id="129095" name="Text Box 71"/>
          <p:cNvSpPr txBox="1">
            <a:spLocks noChangeArrowheads="1"/>
          </p:cNvSpPr>
          <p:nvPr/>
        </p:nvSpPr>
        <p:spPr bwMode="auto">
          <a:xfrm>
            <a:off x="9119626" y="2794795"/>
            <a:ext cx="106680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Latch initially RESET</a:t>
            </a:r>
          </a:p>
        </p:txBody>
      </p:sp>
      <p:sp>
        <p:nvSpPr>
          <p:cNvPr id="129096" name="Text Box 72"/>
          <p:cNvSpPr txBox="1">
            <a:spLocks noChangeArrowheads="1"/>
          </p:cNvSpPr>
          <p:nvPr/>
        </p:nvSpPr>
        <p:spPr bwMode="auto">
          <a:xfrm>
            <a:off x="8991600" y="4757739"/>
            <a:ext cx="1066800" cy="915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Latch initially SET</a:t>
            </a:r>
          </a:p>
        </p:txBody>
      </p:sp>
      <p:sp>
        <p:nvSpPr>
          <p:cNvPr id="129097" name="Rectangle 73"/>
          <p:cNvSpPr>
            <a:spLocks noChangeArrowheads="1"/>
          </p:cNvSpPr>
          <p:nvPr/>
        </p:nvSpPr>
        <p:spPr bwMode="auto">
          <a:xfrm>
            <a:off x="6477000" y="4191000"/>
            <a:ext cx="3581400" cy="19812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SA"/>
          </a:p>
        </p:txBody>
      </p:sp>
      <p:pic>
        <p:nvPicPr>
          <p:cNvPr id="51" name="Picture 5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457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9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9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290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9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290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9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290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9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500"/>
                                        <p:tgtEl>
                                          <p:spTgt spid="1290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9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9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1000"/>
                                        <p:tgtEl>
                                          <p:spTgt spid="1290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9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9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000"/>
                            </p:stCondLst>
                            <p:childTnLst>
                              <p:par>
                                <p:cTn id="5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290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9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00"/>
                            </p:stCondLst>
                            <p:childTnLst>
                              <p:par>
                                <p:cTn id="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290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9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29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9050" grpId="0"/>
      <p:bldP spid="129062" grpId="0"/>
      <p:bldP spid="129063" grpId="0"/>
      <p:bldP spid="129074" grpId="0"/>
      <p:bldP spid="129075" grpId="0"/>
      <p:bldP spid="129081" grpId="0"/>
      <p:bldP spid="129082" grpId="0"/>
      <p:bldP spid="129090" grpId="0"/>
      <p:bldP spid="129091" grpId="0"/>
      <p:bldP spid="129092" grpId="0"/>
      <p:bldP spid="129093" grpId="0"/>
      <p:bldP spid="129094" grpId="0"/>
      <p:bldP spid="129095" grpId="0"/>
      <p:bldP spid="129096" grpId="0"/>
      <p:bldP spid="12909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26A046DD-A4C3-E191-60A1-AD24489406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603" t="27967" r="13125" b="16936"/>
          <a:stretch/>
        </p:blipFill>
        <p:spPr>
          <a:xfrm>
            <a:off x="4032354" y="2513479"/>
            <a:ext cx="6129196" cy="37767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D761947-2463-59D2-7ABD-BEE844975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9354" y="738539"/>
            <a:ext cx="2365375" cy="17176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667AB27-4745-130E-6891-5CE471590DE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964" r="30277"/>
          <a:stretch/>
        </p:blipFill>
        <p:spPr>
          <a:xfrm>
            <a:off x="859119" y="750571"/>
            <a:ext cx="1846662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382AEDE-6315-8C18-147D-03B35B2B14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500" t="33505" r="62906" b="37592"/>
          <a:stretch/>
        </p:blipFill>
        <p:spPr>
          <a:xfrm>
            <a:off x="1018587" y="2904532"/>
            <a:ext cx="2388965" cy="1981200"/>
          </a:xfrm>
          <a:prstGeom prst="rect">
            <a:avLst/>
          </a:prstGeom>
        </p:spPr>
      </p:pic>
      <p:sp>
        <p:nvSpPr>
          <p:cNvPr id="6" name="Text Box 37">
            <a:extLst>
              <a:ext uri="{FF2B5EF4-FFF2-40B4-BE49-F238E27FC236}">
                <a16:creationId xmlns:a16="http://schemas.microsoft.com/office/drawing/2014/main" xmlns="" id="{4668A371-ABCE-1FE2-3A8D-469D75716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1250" y="2282646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xmlns="" id="{84E6E326-C540-BCD5-D3A0-7BC13E8FB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3252" y="5223216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8" name="Text Box 37">
            <a:extLst>
              <a:ext uri="{FF2B5EF4-FFF2-40B4-BE49-F238E27FC236}">
                <a16:creationId xmlns:a16="http://schemas.microsoft.com/office/drawing/2014/main" xmlns="" id="{C9746BEE-E45E-F12C-4453-DC59CD2BA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7459" y="2513478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9" name="Text Box 37">
            <a:extLst>
              <a:ext uri="{FF2B5EF4-FFF2-40B4-BE49-F238E27FC236}">
                <a16:creationId xmlns:a16="http://schemas.microsoft.com/office/drawing/2014/main" xmlns="" id="{661165B7-E7FB-0FA4-F4B2-44BA96279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7959" y="4886263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10" name="Text Box 37">
            <a:extLst>
              <a:ext uri="{FF2B5EF4-FFF2-40B4-BE49-F238E27FC236}">
                <a16:creationId xmlns:a16="http://schemas.microsoft.com/office/drawing/2014/main" xmlns="" id="{EFFD7C58-DE95-0BFA-3B80-F7AB0DDAE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4100" y="3429000"/>
            <a:ext cx="20575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</a:rPr>
              <a:t>Invalid State</a:t>
            </a:r>
          </a:p>
        </p:txBody>
      </p:sp>
    </p:spTree>
    <p:extLst>
      <p:ext uri="{BB962C8B-B14F-4D97-AF65-F5344CB8AC3E}">
        <p14:creationId xmlns:p14="http://schemas.microsoft.com/office/powerpoint/2010/main" val="231197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26A046DD-A4C3-E191-60A1-AD24489406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603" t="27967" r="13125" b="16936"/>
          <a:stretch/>
        </p:blipFill>
        <p:spPr>
          <a:xfrm>
            <a:off x="4032354" y="2513479"/>
            <a:ext cx="6129196" cy="37767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D761947-2463-59D2-7ABD-BEE844975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9354" y="738539"/>
            <a:ext cx="2365375" cy="17176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667AB27-4745-130E-6891-5CE471590DE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964" r="30277"/>
          <a:stretch/>
        </p:blipFill>
        <p:spPr>
          <a:xfrm>
            <a:off x="859119" y="750571"/>
            <a:ext cx="1846662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382AEDE-6315-8C18-147D-03B35B2B14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500" t="33505" r="62906" b="37592"/>
          <a:stretch/>
        </p:blipFill>
        <p:spPr>
          <a:xfrm>
            <a:off x="1018587" y="2904532"/>
            <a:ext cx="2388965" cy="1981200"/>
          </a:xfrm>
          <a:prstGeom prst="rect">
            <a:avLst/>
          </a:prstGeom>
        </p:spPr>
      </p:pic>
      <p:sp>
        <p:nvSpPr>
          <p:cNvPr id="6" name="Text Box 37">
            <a:extLst>
              <a:ext uri="{FF2B5EF4-FFF2-40B4-BE49-F238E27FC236}">
                <a16:creationId xmlns:a16="http://schemas.microsoft.com/office/drawing/2014/main" xmlns="" id="{4668A371-ABCE-1FE2-3A8D-469D75716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1250" y="2282646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xmlns="" id="{84E6E326-C540-BCD5-D3A0-7BC13E8FB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3252" y="5223216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8" name="Text Box 37">
            <a:extLst>
              <a:ext uri="{FF2B5EF4-FFF2-40B4-BE49-F238E27FC236}">
                <a16:creationId xmlns:a16="http://schemas.microsoft.com/office/drawing/2014/main" xmlns="" id="{C9746BEE-E45E-F12C-4453-DC59CD2BA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7459" y="2513478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9" name="Text Box 37">
            <a:extLst>
              <a:ext uri="{FF2B5EF4-FFF2-40B4-BE49-F238E27FC236}">
                <a16:creationId xmlns:a16="http://schemas.microsoft.com/office/drawing/2014/main" xmlns="" id="{661165B7-E7FB-0FA4-F4B2-44BA96279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7959" y="4886263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0" name="Text Box 37">
            <a:extLst>
              <a:ext uri="{FF2B5EF4-FFF2-40B4-BE49-F238E27FC236}">
                <a16:creationId xmlns:a16="http://schemas.microsoft.com/office/drawing/2014/main" xmlns="" id="{EFFD7C58-DE95-0BFA-3B80-F7AB0DDAE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4100" y="3429000"/>
            <a:ext cx="20575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</a:rPr>
              <a:t>Invalid State</a:t>
            </a:r>
          </a:p>
        </p:txBody>
      </p:sp>
      <p:sp>
        <p:nvSpPr>
          <p:cNvPr id="11" name="Text Box 37">
            <a:extLst>
              <a:ext uri="{FF2B5EF4-FFF2-40B4-BE49-F238E27FC236}">
                <a16:creationId xmlns:a16="http://schemas.microsoft.com/office/drawing/2014/main" xmlns="" id="{F04BD94B-485C-B6BB-E697-0926EA809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3657" y="4655430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00B050"/>
                </a:solidFill>
              </a:rPr>
              <a:t>1</a:t>
            </a:r>
          </a:p>
        </p:txBody>
      </p:sp>
      <p:sp>
        <p:nvSpPr>
          <p:cNvPr id="12" name="Text Box 37">
            <a:extLst>
              <a:ext uri="{FF2B5EF4-FFF2-40B4-BE49-F238E27FC236}">
                <a16:creationId xmlns:a16="http://schemas.microsoft.com/office/drawing/2014/main" xmlns="" id="{5A92BB21-7461-0711-BE31-44F87A8E4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907" y="2904532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</a:rPr>
              <a:t>0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xmlns="" id="{8D24D8AA-6B4F-56D1-F2D6-039790DD2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4099" y="3836592"/>
            <a:ext cx="20575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</a:rPr>
              <a:t>Set  State</a:t>
            </a:r>
          </a:p>
        </p:txBody>
      </p:sp>
      <p:sp>
        <p:nvSpPr>
          <p:cNvPr id="14" name="Text Box 37">
            <a:extLst>
              <a:ext uri="{FF2B5EF4-FFF2-40B4-BE49-F238E27FC236}">
                <a16:creationId xmlns:a16="http://schemas.microsoft.com/office/drawing/2014/main" xmlns="" id="{9747E489-A9C1-5FEC-9DFC-0A28C57A8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0616" y="3836592"/>
            <a:ext cx="20575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</a:rPr>
              <a:t>Set  State = Q= high</a:t>
            </a:r>
          </a:p>
        </p:txBody>
      </p:sp>
    </p:spTree>
    <p:extLst>
      <p:ext uri="{BB962C8B-B14F-4D97-AF65-F5344CB8AC3E}">
        <p14:creationId xmlns:p14="http://schemas.microsoft.com/office/powerpoint/2010/main" val="664978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26A046DD-A4C3-E191-60A1-AD24489406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603" t="27967" r="13125" b="16936"/>
          <a:stretch/>
        </p:blipFill>
        <p:spPr>
          <a:xfrm>
            <a:off x="4032354" y="2513479"/>
            <a:ext cx="6129196" cy="37767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D761947-2463-59D2-7ABD-BEE844975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9354" y="738539"/>
            <a:ext cx="2365375" cy="17176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667AB27-4745-130E-6891-5CE471590DE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964" r="30277"/>
          <a:stretch/>
        </p:blipFill>
        <p:spPr>
          <a:xfrm>
            <a:off x="859119" y="750571"/>
            <a:ext cx="1846662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382AEDE-6315-8C18-147D-03B35B2B14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500" t="33505" r="62906" b="37046"/>
          <a:stretch/>
        </p:blipFill>
        <p:spPr>
          <a:xfrm>
            <a:off x="1018587" y="2904532"/>
            <a:ext cx="2388965" cy="2018602"/>
          </a:xfrm>
          <a:prstGeom prst="rect">
            <a:avLst/>
          </a:prstGeom>
        </p:spPr>
      </p:pic>
      <p:sp>
        <p:nvSpPr>
          <p:cNvPr id="6" name="Text Box 37">
            <a:extLst>
              <a:ext uri="{FF2B5EF4-FFF2-40B4-BE49-F238E27FC236}">
                <a16:creationId xmlns:a16="http://schemas.microsoft.com/office/drawing/2014/main" xmlns="" id="{4668A371-ABCE-1FE2-3A8D-469D75716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1250" y="2282646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xmlns="" id="{84E6E326-C540-BCD5-D3A0-7BC13E8FB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3252" y="5223216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0000FF"/>
                </a:solidFill>
              </a:rPr>
              <a:t>0</a:t>
            </a:r>
          </a:p>
        </p:txBody>
      </p:sp>
      <p:sp>
        <p:nvSpPr>
          <p:cNvPr id="8" name="Text Box 37">
            <a:extLst>
              <a:ext uri="{FF2B5EF4-FFF2-40B4-BE49-F238E27FC236}">
                <a16:creationId xmlns:a16="http://schemas.microsoft.com/office/drawing/2014/main" xmlns="" id="{C9746BEE-E45E-F12C-4453-DC59CD2BA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7459" y="2513478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9" name="Text Box 37">
            <a:extLst>
              <a:ext uri="{FF2B5EF4-FFF2-40B4-BE49-F238E27FC236}">
                <a16:creationId xmlns:a16="http://schemas.microsoft.com/office/drawing/2014/main" xmlns="" id="{661165B7-E7FB-0FA4-F4B2-44BA96279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7959" y="4886263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" name="Text Box 37">
            <a:extLst>
              <a:ext uri="{FF2B5EF4-FFF2-40B4-BE49-F238E27FC236}">
                <a16:creationId xmlns:a16="http://schemas.microsoft.com/office/drawing/2014/main" xmlns="" id="{EFFD7C58-DE95-0BFA-3B80-F7AB0DDAE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4100" y="3429000"/>
            <a:ext cx="20575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</a:rPr>
              <a:t>Invalid State</a:t>
            </a:r>
          </a:p>
        </p:txBody>
      </p:sp>
      <p:sp>
        <p:nvSpPr>
          <p:cNvPr id="11" name="Text Box 37">
            <a:extLst>
              <a:ext uri="{FF2B5EF4-FFF2-40B4-BE49-F238E27FC236}">
                <a16:creationId xmlns:a16="http://schemas.microsoft.com/office/drawing/2014/main" xmlns="" id="{F04BD94B-485C-B6BB-E697-0926EA809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3657" y="4655430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2" name="Text Box 37">
            <a:extLst>
              <a:ext uri="{FF2B5EF4-FFF2-40B4-BE49-F238E27FC236}">
                <a16:creationId xmlns:a16="http://schemas.microsoft.com/office/drawing/2014/main" xmlns="" id="{5A92BB21-7461-0711-BE31-44F87A8E4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907" y="2904532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xmlns="" id="{8D24D8AA-6B4F-56D1-F2D6-039790DD2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4099" y="3836592"/>
            <a:ext cx="20575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</a:rPr>
              <a:t>Set  State</a:t>
            </a:r>
          </a:p>
        </p:txBody>
      </p:sp>
      <p:sp>
        <p:nvSpPr>
          <p:cNvPr id="14" name="Text Box 37">
            <a:extLst>
              <a:ext uri="{FF2B5EF4-FFF2-40B4-BE49-F238E27FC236}">
                <a16:creationId xmlns:a16="http://schemas.microsoft.com/office/drawing/2014/main" xmlns="" id="{9747E489-A9C1-5FEC-9DFC-0A28C57A8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99354" y="3836592"/>
            <a:ext cx="2688769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</a:rPr>
              <a:t>Reset  State = Q= high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xmlns="" id="{C301F9E8-C813-419D-7002-6B95E2AF14AC}"/>
              </a:ext>
            </a:extLst>
          </p:cNvPr>
          <p:cNvCxnSpPr/>
          <p:nvPr/>
        </p:nvCxnSpPr>
        <p:spPr>
          <a:xfrm>
            <a:off x="10163330" y="3882450"/>
            <a:ext cx="2380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 Box 37">
            <a:extLst>
              <a:ext uri="{FF2B5EF4-FFF2-40B4-BE49-F238E27FC236}">
                <a16:creationId xmlns:a16="http://schemas.microsoft.com/office/drawing/2014/main" xmlns="" id="{D987550D-1D78-3317-06EF-E12C99354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4098" y="4244184"/>
            <a:ext cx="20575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</a:rPr>
              <a:t>Reset  State</a:t>
            </a:r>
          </a:p>
        </p:txBody>
      </p:sp>
    </p:spTree>
    <p:extLst>
      <p:ext uri="{BB962C8B-B14F-4D97-AF65-F5344CB8AC3E}">
        <p14:creationId xmlns:p14="http://schemas.microsoft.com/office/powerpoint/2010/main" val="2271291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26A046DD-A4C3-E191-60A1-AD24489406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603" t="27967" r="13125" b="16936"/>
          <a:stretch/>
        </p:blipFill>
        <p:spPr>
          <a:xfrm>
            <a:off x="4032354" y="2513479"/>
            <a:ext cx="6129196" cy="37767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D761947-2463-59D2-7ABD-BEE8449751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9354" y="738539"/>
            <a:ext cx="2365375" cy="17176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667AB27-4745-130E-6891-5CE471590DE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8964" r="30277"/>
          <a:stretch/>
        </p:blipFill>
        <p:spPr>
          <a:xfrm>
            <a:off x="859119" y="750571"/>
            <a:ext cx="1846662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382AEDE-6315-8C18-147D-03B35B2B14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500" t="33505" r="62906" b="37046"/>
          <a:stretch/>
        </p:blipFill>
        <p:spPr>
          <a:xfrm>
            <a:off x="1018587" y="2904532"/>
            <a:ext cx="2388965" cy="2018602"/>
          </a:xfrm>
          <a:prstGeom prst="rect">
            <a:avLst/>
          </a:prstGeom>
        </p:spPr>
      </p:pic>
      <p:sp>
        <p:nvSpPr>
          <p:cNvPr id="6" name="Text Box 37">
            <a:extLst>
              <a:ext uri="{FF2B5EF4-FFF2-40B4-BE49-F238E27FC236}">
                <a16:creationId xmlns:a16="http://schemas.microsoft.com/office/drawing/2014/main" xmlns="" id="{4668A371-ABCE-1FE2-3A8D-469D75716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1250" y="2282646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7" name="Text Box 37">
            <a:extLst>
              <a:ext uri="{FF2B5EF4-FFF2-40B4-BE49-F238E27FC236}">
                <a16:creationId xmlns:a16="http://schemas.microsoft.com/office/drawing/2014/main" xmlns="" id="{84E6E326-C540-BCD5-D3A0-7BC13E8FB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83252" y="5223216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0000FF"/>
                </a:solidFill>
              </a:rPr>
              <a:t>1</a:t>
            </a:r>
          </a:p>
        </p:txBody>
      </p:sp>
      <p:sp>
        <p:nvSpPr>
          <p:cNvPr id="8" name="Text Box 37">
            <a:extLst>
              <a:ext uri="{FF2B5EF4-FFF2-40B4-BE49-F238E27FC236}">
                <a16:creationId xmlns:a16="http://schemas.microsoft.com/office/drawing/2014/main" xmlns="" id="{C9746BEE-E45E-F12C-4453-DC59CD2BA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7459" y="2513478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9" name="Text Box 37">
            <a:extLst>
              <a:ext uri="{FF2B5EF4-FFF2-40B4-BE49-F238E27FC236}">
                <a16:creationId xmlns:a16="http://schemas.microsoft.com/office/drawing/2014/main" xmlns="" id="{661165B7-E7FB-0FA4-F4B2-44BA962797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77959" y="4886263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" name="Text Box 37">
            <a:extLst>
              <a:ext uri="{FF2B5EF4-FFF2-40B4-BE49-F238E27FC236}">
                <a16:creationId xmlns:a16="http://schemas.microsoft.com/office/drawing/2014/main" xmlns="" id="{EFFD7C58-DE95-0BFA-3B80-F7AB0DDAE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4100" y="3429000"/>
            <a:ext cx="20575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</a:rPr>
              <a:t>Invalid State</a:t>
            </a:r>
          </a:p>
        </p:txBody>
      </p:sp>
      <p:sp>
        <p:nvSpPr>
          <p:cNvPr id="11" name="Text Box 37">
            <a:extLst>
              <a:ext uri="{FF2B5EF4-FFF2-40B4-BE49-F238E27FC236}">
                <a16:creationId xmlns:a16="http://schemas.microsoft.com/office/drawing/2014/main" xmlns="" id="{F04BD94B-485C-B6BB-E697-0926EA809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3657" y="4655430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00B050"/>
                </a:solidFill>
              </a:rPr>
              <a:t>0</a:t>
            </a:r>
          </a:p>
        </p:txBody>
      </p:sp>
      <p:sp>
        <p:nvSpPr>
          <p:cNvPr id="12" name="Text Box 37">
            <a:extLst>
              <a:ext uri="{FF2B5EF4-FFF2-40B4-BE49-F238E27FC236}">
                <a16:creationId xmlns:a16="http://schemas.microsoft.com/office/drawing/2014/main" xmlns="" id="{5A92BB21-7461-0711-BE31-44F87A8E4D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8907" y="2904532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xmlns="" id="{8D24D8AA-6B4F-56D1-F2D6-039790DD2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4099" y="3836592"/>
            <a:ext cx="20575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</a:rPr>
              <a:t>Set  State</a:t>
            </a:r>
          </a:p>
        </p:txBody>
      </p:sp>
      <p:sp>
        <p:nvSpPr>
          <p:cNvPr id="17" name="Text Box 37">
            <a:extLst>
              <a:ext uri="{FF2B5EF4-FFF2-40B4-BE49-F238E27FC236}">
                <a16:creationId xmlns:a16="http://schemas.microsoft.com/office/drawing/2014/main" xmlns="" id="{D987550D-1D78-3317-06EF-E12C99354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4098" y="4197793"/>
            <a:ext cx="205750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</a:rPr>
              <a:t>Reset  State</a:t>
            </a:r>
          </a:p>
        </p:txBody>
      </p:sp>
      <p:sp>
        <p:nvSpPr>
          <p:cNvPr id="18" name="Text Box 37">
            <a:extLst>
              <a:ext uri="{FF2B5EF4-FFF2-40B4-BE49-F238E27FC236}">
                <a16:creationId xmlns:a16="http://schemas.microsoft.com/office/drawing/2014/main" xmlns="" id="{0A4AF3A7-C1F4-FCB8-4698-283EEA91D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4097" y="4553802"/>
            <a:ext cx="238896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00FF"/>
                </a:solidFill>
              </a:rPr>
              <a:t>No Change State</a:t>
            </a:r>
          </a:p>
        </p:txBody>
      </p:sp>
    </p:spTree>
    <p:extLst>
      <p:ext uri="{BB962C8B-B14F-4D97-AF65-F5344CB8AC3E}">
        <p14:creationId xmlns:p14="http://schemas.microsoft.com/office/powerpoint/2010/main" val="2518542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26A046DD-A4C3-E191-60A1-AD24489406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424" t="27967" r="13126" b="16936"/>
          <a:stretch/>
        </p:blipFill>
        <p:spPr>
          <a:xfrm>
            <a:off x="4498258" y="2513479"/>
            <a:ext cx="5663292" cy="37767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D761947-2463-59D2-7ABD-BEE844975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9354" y="738539"/>
            <a:ext cx="2365375" cy="17176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667AB27-4745-130E-6891-5CE471590DE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964" r="30277"/>
          <a:stretch/>
        </p:blipFill>
        <p:spPr>
          <a:xfrm>
            <a:off x="859119" y="750571"/>
            <a:ext cx="1846662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382AEDE-6315-8C18-147D-03B35B2B14B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00" t="33505" r="62906" b="37046"/>
          <a:stretch/>
        </p:blipFill>
        <p:spPr>
          <a:xfrm>
            <a:off x="5327722" y="750571"/>
            <a:ext cx="1497728" cy="1265534"/>
          </a:xfrm>
          <a:prstGeom prst="rect">
            <a:avLst/>
          </a:prstGeom>
        </p:spPr>
      </p:pic>
      <p:sp>
        <p:nvSpPr>
          <p:cNvPr id="7" name="Text Box 37">
            <a:extLst>
              <a:ext uri="{FF2B5EF4-FFF2-40B4-BE49-F238E27FC236}">
                <a16:creationId xmlns:a16="http://schemas.microsoft.com/office/drawing/2014/main" xmlns="" id="{84E6E326-C540-BCD5-D3A0-7BC13E8FB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2176" y="3651926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0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10" name="Text Box 37">
            <a:extLst>
              <a:ext uri="{FF2B5EF4-FFF2-40B4-BE49-F238E27FC236}">
                <a16:creationId xmlns:a16="http://schemas.microsoft.com/office/drawing/2014/main" xmlns="" id="{EFFD7C58-DE95-0BFA-3B80-F7AB0DDAE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3590" y="982468"/>
            <a:ext cx="2057507" cy="2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300" dirty="0">
                <a:solidFill>
                  <a:srgbClr val="0000FF"/>
                </a:solidFill>
              </a:rPr>
              <a:t>Invalid State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xmlns="" id="{8D24D8AA-6B4F-56D1-F2D6-039790DD2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3589" y="1214365"/>
            <a:ext cx="2057507" cy="2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300" dirty="0">
                <a:solidFill>
                  <a:srgbClr val="0000FF"/>
                </a:solidFill>
              </a:rPr>
              <a:t>Set  State</a:t>
            </a:r>
          </a:p>
        </p:txBody>
      </p:sp>
      <p:sp>
        <p:nvSpPr>
          <p:cNvPr id="17" name="Text Box 37">
            <a:extLst>
              <a:ext uri="{FF2B5EF4-FFF2-40B4-BE49-F238E27FC236}">
                <a16:creationId xmlns:a16="http://schemas.microsoft.com/office/drawing/2014/main" xmlns="" id="{D987550D-1D78-3317-06EF-E12C99354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7718" y="1469124"/>
            <a:ext cx="2057507" cy="2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300" dirty="0">
                <a:solidFill>
                  <a:srgbClr val="0000FF"/>
                </a:solidFill>
              </a:rPr>
              <a:t>Reset  State</a:t>
            </a:r>
          </a:p>
        </p:txBody>
      </p:sp>
      <p:sp>
        <p:nvSpPr>
          <p:cNvPr id="18" name="Text Box 37">
            <a:extLst>
              <a:ext uri="{FF2B5EF4-FFF2-40B4-BE49-F238E27FC236}">
                <a16:creationId xmlns:a16="http://schemas.microsoft.com/office/drawing/2014/main" xmlns="" id="{0A4AF3A7-C1F4-FCB8-4698-283EEA91D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7718" y="1723202"/>
            <a:ext cx="2388965" cy="2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300" dirty="0">
                <a:solidFill>
                  <a:srgbClr val="0000FF"/>
                </a:solidFill>
              </a:rPr>
              <a:t>No Change State</a:t>
            </a:r>
          </a:p>
        </p:txBody>
      </p:sp>
      <p:pic>
        <p:nvPicPr>
          <p:cNvPr id="19" name="Picture 18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314" y="2259401"/>
            <a:ext cx="1830231" cy="1055156"/>
          </a:xfrm>
          <a:prstGeom prst="rect">
            <a:avLst/>
          </a:prstGeom>
        </p:spPr>
      </p:pic>
      <p:pic>
        <p:nvPicPr>
          <p:cNvPr id="20" name="Picture 19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313" y="5195212"/>
            <a:ext cx="1830231" cy="1055156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>
            <a:off x="3086528" y="3008620"/>
            <a:ext cx="0" cy="25072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469139" y="4120476"/>
            <a:ext cx="593688" cy="4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37">
            <a:extLst>
              <a:ext uri="{FF2B5EF4-FFF2-40B4-BE49-F238E27FC236}">
                <a16:creationId xmlns:a16="http://schemas.microsoft.com/office/drawing/2014/main" xmlns="" id="{4668A371-ABCE-1FE2-3A8D-469D75716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0813" y="2146605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S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26" name="Text Box 37">
            <a:extLst>
              <a:ext uri="{FF2B5EF4-FFF2-40B4-BE49-F238E27FC236}">
                <a16:creationId xmlns:a16="http://schemas.microsoft.com/office/drawing/2014/main" xmlns="" id="{4668A371-ABCE-1FE2-3A8D-469D75716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5748" y="5509598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R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27" name="Text Box 37">
            <a:extLst>
              <a:ext uri="{FF2B5EF4-FFF2-40B4-BE49-F238E27FC236}">
                <a16:creationId xmlns:a16="http://schemas.microsoft.com/office/drawing/2014/main" xmlns="" id="{4668A371-ABCE-1FE2-3A8D-469D75716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2513" y="3763261"/>
            <a:ext cx="95993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CLK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28" name="Text Box 37">
            <a:extLst>
              <a:ext uri="{FF2B5EF4-FFF2-40B4-BE49-F238E27FC236}">
                <a16:creationId xmlns:a16="http://schemas.microsoft.com/office/drawing/2014/main" xmlns="" id="{4668A371-ABCE-1FE2-3A8D-469D75716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9087" y="2316272"/>
            <a:ext cx="5566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S*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29" name="Text Box 37">
            <a:extLst>
              <a:ext uri="{FF2B5EF4-FFF2-40B4-BE49-F238E27FC236}">
                <a16:creationId xmlns:a16="http://schemas.microsoft.com/office/drawing/2014/main" xmlns="" id="{4668A371-ABCE-1FE2-3A8D-469D75716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0544" y="5278765"/>
            <a:ext cx="7151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R*</a:t>
            </a:r>
            <a:endParaRPr lang="en-US" sz="2400" dirty="0">
              <a:solidFill>
                <a:srgbClr val="0000FF"/>
              </a:solidFill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7596803"/>
              </p:ext>
            </p:extLst>
          </p:nvPr>
        </p:nvGraphicFramePr>
        <p:xfrm>
          <a:off x="8711097" y="3206076"/>
          <a:ext cx="2497678" cy="16341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7990"/>
                <a:gridCol w="377938"/>
                <a:gridCol w="575122"/>
                <a:gridCol w="936628"/>
              </a:tblGrid>
              <a:tr h="306805">
                <a:tc>
                  <a:txBody>
                    <a:bodyPr/>
                    <a:lstStyle/>
                    <a:p>
                      <a:r>
                        <a:rPr lang="en-GB" dirty="0" smtClean="0"/>
                        <a:t>CR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endParaRPr lang="en-GB" dirty="0"/>
                    </a:p>
                  </a:txBody>
                  <a:tcPr/>
                </a:tc>
              </a:tr>
              <a:tr h="536909">
                <a:tc>
                  <a:txBody>
                    <a:bodyPr/>
                    <a:lstStyle/>
                    <a:p>
                      <a:r>
                        <a:rPr lang="en-GB" dirty="0" smtClean="0"/>
                        <a:t>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No</a:t>
                      </a:r>
                      <a:r>
                        <a:rPr lang="en-GB" sz="1600" baseline="0" dirty="0" smtClean="0"/>
                        <a:t> </a:t>
                      </a:r>
                      <a:r>
                        <a:rPr lang="en-GB" sz="1600" baseline="0" dirty="0" err="1" smtClean="0"/>
                        <a:t>Chng</a:t>
                      </a:r>
                      <a:r>
                        <a:rPr lang="en-GB" sz="1600" dirty="0" smtClean="0"/>
                        <a:t> </a:t>
                      </a:r>
                      <a:endParaRPr lang="en-GB" dirty="0"/>
                    </a:p>
                  </a:txBody>
                  <a:tcPr/>
                </a:tc>
              </a:tr>
              <a:tr h="306805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</a:tr>
              <a:tr h="306805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2" name="Straight Connector 31"/>
          <p:cNvCxnSpPr/>
          <p:nvPr/>
        </p:nvCxnSpPr>
        <p:spPr>
          <a:xfrm>
            <a:off x="11263561" y="3310728"/>
            <a:ext cx="30971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Box 37">
            <a:extLst>
              <a:ext uri="{FF2B5EF4-FFF2-40B4-BE49-F238E27FC236}">
                <a16:creationId xmlns:a16="http://schemas.microsoft.com/office/drawing/2014/main" xmlns="" id="{84E6E326-C540-BCD5-D3A0-7BC13E8FB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0306" y="2115948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0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34" name="Text Box 37">
            <a:extLst>
              <a:ext uri="{FF2B5EF4-FFF2-40B4-BE49-F238E27FC236}">
                <a16:creationId xmlns:a16="http://schemas.microsoft.com/office/drawing/2014/main" xmlns="" id="{84E6E326-C540-BCD5-D3A0-7BC13E8FB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6028" y="5502296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0</a:t>
            </a:r>
            <a:endParaRPr 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1990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26A046DD-A4C3-E191-60A1-AD24489406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424" t="27967" r="13126" b="16936"/>
          <a:stretch/>
        </p:blipFill>
        <p:spPr>
          <a:xfrm>
            <a:off x="4498258" y="2513479"/>
            <a:ext cx="5663292" cy="37767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D761947-2463-59D2-7ABD-BEE844975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9354" y="738539"/>
            <a:ext cx="2365375" cy="17176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667AB27-4745-130E-6891-5CE471590DE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964" r="30277"/>
          <a:stretch/>
        </p:blipFill>
        <p:spPr>
          <a:xfrm>
            <a:off x="859119" y="750571"/>
            <a:ext cx="1846662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382AEDE-6315-8C18-147D-03B35B2B14B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00" t="33505" r="62906" b="37046"/>
          <a:stretch/>
        </p:blipFill>
        <p:spPr>
          <a:xfrm>
            <a:off x="5327722" y="750571"/>
            <a:ext cx="1497728" cy="1265534"/>
          </a:xfrm>
          <a:prstGeom prst="rect">
            <a:avLst/>
          </a:prstGeom>
        </p:spPr>
      </p:pic>
      <p:sp>
        <p:nvSpPr>
          <p:cNvPr id="7" name="Text Box 37">
            <a:extLst>
              <a:ext uri="{FF2B5EF4-FFF2-40B4-BE49-F238E27FC236}">
                <a16:creationId xmlns:a16="http://schemas.microsoft.com/office/drawing/2014/main" xmlns="" id="{84E6E326-C540-BCD5-D3A0-7BC13E8FB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2176" y="3651926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1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10" name="Text Box 37">
            <a:extLst>
              <a:ext uri="{FF2B5EF4-FFF2-40B4-BE49-F238E27FC236}">
                <a16:creationId xmlns:a16="http://schemas.microsoft.com/office/drawing/2014/main" xmlns="" id="{EFFD7C58-DE95-0BFA-3B80-F7AB0DDAE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3590" y="982468"/>
            <a:ext cx="2057507" cy="2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300" dirty="0">
                <a:solidFill>
                  <a:srgbClr val="0000FF"/>
                </a:solidFill>
              </a:rPr>
              <a:t>Invalid State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xmlns="" id="{8D24D8AA-6B4F-56D1-F2D6-039790DD2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3589" y="1214365"/>
            <a:ext cx="2057507" cy="2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300" dirty="0">
                <a:solidFill>
                  <a:srgbClr val="0000FF"/>
                </a:solidFill>
              </a:rPr>
              <a:t>Set  State</a:t>
            </a:r>
          </a:p>
        </p:txBody>
      </p:sp>
      <p:sp>
        <p:nvSpPr>
          <p:cNvPr id="17" name="Text Box 37">
            <a:extLst>
              <a:ext uri="{FF2B5EF4-FFF2-40B4-BE49-F238E27FC236}">
                <a16:creationId xmlns:a16="http://schemas.microsoft.com/office/drawing/2014/main" xmlns="" id="{D987550D-1D78-3317-06EF-E12C99354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7718" y="1469124"/>
            <a:ext cx="2057507" cy="2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300" dirty="0">
                <a:solidFill>
                  <a:srgbClr val="0000FF"/>
                </a:solidFill>
              </a:rPr>
              <a:t>Reset  State</a:t>
            </a:r>
          </a:p>
        </p:txBody>
      </p:sp>
      <p:sp>
        <p:nvSpPr>
          <p:cNvPr id="18" name="Text Box 37">
            <a:extLst>
              <a:ext uri="{FF2B5EF4-FFF2-40B4-BE49-F238E27FC236}">
                <a16:creationId xmlns:a16="http://schemas.microsoft.com/office/drawing/2014/main" xmlns="" id="{0A4AF3A7-C1F4-FCB8-4698-283EEA91D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7718" y="1723202"/>
            <a:ext cx="2388965" cy="2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300" dirty="0">
                <a:solidFill>
                  <a:srgbClr val="0000FF"/>
                </a:solidFill>
              </a:rPr>
              <a:t>No Change State</a:t>
            </a:r>
          </a:p>
        </p:txBody>
      </p:sp>
      <p:pic>
        <p:nvPicPr>
          <p:cNvPr id="19" name="Picture 18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314" y="2259401"/>
            <a:ext cx="1830231" cy="1055156"/>
          </a:xfrm>
          <a:prstGeom prst="rect">
            <a:avLst/>
          </a:prstGeom>
        </p:spPr>
      </p:pic>
      <p:pic>
        <p:nvPicPr>
          <p:cNvPr id="20" name="Picture 19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313" y="5195212"/>
            <a:ext cx="1830231" cy="1055156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>
            <a:off x="3086528" y="3008620"/>
            <a:ext cx="0" cy="25072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469139" y="4120476"/>
            <a:ext cx="593688" cy="4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37">
            <a:extLst>
              <a:ext uri="{FF2B5EF4-FFF2-40B4-BE49-F238E27FC236}">
                <a16:creationId xmlns:a16="http://schemas.microsoft.com/office/drawing/2014/main" xmlns="" id="{4668A371-ABCE-1FE2-3A8D-469D75716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0813" y="2146605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S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26" name="Text Box 37">
            <a:extLst>
              <a:ext uri="{FF2B5EF4-FFF2-40B4-BE49-F238E27FC236}">
                <a16:creationId xmlns:a16="http://schemas.microsoft.com/office/drawing/2014/main" xmlns="" id="{4668A371-ABCE-1FE2-3A8D-469D75716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5748" y="5509598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R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27" name="Text Box 37">
            <a:extLst>
              <a:ext uri="{FF2B5EF4-FFF2-40B4-BE49-F238E27FC236}">
                <a16:creationId xmlns:a16="http://schemas.microsoft.com/office/drawing/2014/main" xmlns="" id="{4668A371-ABCE-1FE2-3A8D-469D75716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2513" y="3763261"/>
            <a:ext cx="95993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CLK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28" name="Text Box 37">
            <a:extLst>
              <a:ext uri="{FF2B5EF4-FFF2-40B4-BE49-F238E27FC236}">
                <a16:creationId xmlns:a16="http://schemas.microsoft.com/office/drawing/2014/main" xmlns="" id="{4668A371-ABCE-1FE2-3A8D-469D75716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9087" y="2316272"/>
            <a:ext cx="5566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S*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29" name="Text Box 37">
            <a:extLst>
              <a:ext uri="{FF2B5EF4-FFF2-40B4-BE49-F238E27FC236}">
                <a16:creationId xmlns:a16="http://schemas.microsoft.com/office/drawing/2014/main" xmlns="" id="{4668A371-ABCE-1FE2-3A8D-469D75716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0544" y="5278765"/>
            <a:ext cx="7151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R*</a:t>
            </a:r>
            <a:endParaRPr lang="en-US" sz="2400" dirty="0">
              <a:solidFill>
                <a:srgbClr val="0000FF"/>
              </a:solidFill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2675583"/>
              </p:ext>
            </p:extLst>
          </p:nvPr>
        </p:nvGraphicFramePr>
        <p:xfrm>
          <a:off x="8967017" y="3206076"/>
          <a:ext cx="2415763" cy="1999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050"/>
                <a:gridCol w="365543"/>
                <a:gridCol w="556260"/>
                <a:gridCol w="905910"/>
              </a:tblGrid>
              <a:tr h="306805">
                <a:tc>
                  <a:txBody>
                    <a:bodyPr/>
                    <a:lstStyle/>
                    <a:p>
                      <a:r>
                        <a:rPr lang="en-GB" dirty="0" smtClean="0"/>
                        <a:t>CR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endParaRPr lang="en-GB" dirty="0"/>
                    </a:p>
                  </a:txBody>
                  <a:tcPr/>
                </a:tc>
              </a:tr>
              <a:tr h="536909">
                <a:tc>
                  <a:txBody>
                    <a:bodyPr/>
                    <a:lstStyle/>
                    <a:p>
                      <a:r>
                        <a:rPr lang="en-GB" dirty="0" smtClean="0"/>
                        <a:t>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no</a:t>
                      </a:r>
                      <a:r>
                        <a:rPr lang="en-GB" baseline="0" dirty="0" smtClean="0"/>
                        <a:t> </a:t>
                      </a:r>
                      <a:r>
                        <a:rPr lang="en-GB" baseline="0" dirty="0" err="1" smtClean="0"/>
                        <a:t>Chn</a:t>
                      </a:r>
                      <a:endParaRPr lang="en-GB" dirty="0"/>
                    </a:p>
                  </a:txBody>
                  <a:tcPr/>
                </a:tc>
              </a:tr>
              <a:tr h="306805"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reset</a:t>
                      </a:r>
                      <a:endParaRPr lang="en-GB" dirty="0"/>
                    </a:p>
                  </a:txBody>
                  <a:tcPr/>
                </a:tc>
              </a:tr>
              <a:tr h="306805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  <a:tr h="306805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2" name="Straight Connector 31"/>
          <p:cNvCxnSpPr/>
          <p:nvPr/>
        </p:nvCxnSpPr>
        <p:spPr>
          <a:xfrm>
            <a:off x="11263561" y="3310728"/>
            <a:ext cx="30971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Box 37">
            <a:extLst>
              <a:ext uri="{FF2B5EF4-FFF2-40B4-BE49-F238E27FC236}">
                <a16:creationId xmlns:a16="http://schemas.microsoft.com/office/drawing/2014/main" xmlns="" id="{84E6E326-C540-BCD5-D3A0-7BC13E8FB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0306" y="2115948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0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34" name="Text Box 37">
            <a:extLst>
              <a:ext uri="{FF2B5EF4-FFF2-40B4-BE49-F238E27FC236}">
                <a16:creationId xmlns:a16="http://schemas.microsoft.com/office/drawing/2014/main" xmlns="" id="{84E6E326-C540-BCD5-D3A0-7BC13E8FB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6028" y="5502296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1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35" name="Text Box 37">
            <a:extLst>
              <a:ext uri="{FF2B5EF4-FFF2-40B4-BE49-F238E27FC236}">
                <a16:creationId xmlns:a16="http://schemas.microsoft.com/office/drawing/2014/main" xmlns="" id="{84E6E326-C540-BCD5-D3A0-7BC13E8FB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7796" y="2270106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1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36" name="Text Box 37">
            <a:extLst>
              <a:ext uri="{FF2B5EF4-FFF2-40B4-BE49-F238E27FC236}">
                <a16:creationId xmlns:a16="http://schemas.microsoft.com/office/drawing/2014/main" xmlns="" id="{84E6E326-C540-BCD5-D3A0-7BC13E8FB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7682" y="5265017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0</a:t>
            </a:r>
            <a:endParaRPr 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285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26A046DD-A4C3-E191-60A1-AD24489406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424" t="27967" r="13126" b="16936"/>
          <a:stretch/>
        </p:blipFill>
        <p:spPr>
          <a:xfrm>
            <a:off x="4498258" y="2513479"/>
            <a:ext cx="5663292" cy="37767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D761947-2463-59D2-7ABD-BEE844975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9354" y="738539"/>
            <a:ext cx="2365375" cy="17176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667AB27-4745-130E-6891-5CE471590DE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964" r="30277"/>
          <a:stretch/>
        </p:blipFill>
        <p:spPr>
          <a:xfrm>
            <a:off x="859119" y="750571"/>
            <a:ext cx="1846662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382AEDE-6315-8C18-147D-03B35B2B14B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00" t="33505" r="62906" b="37046"/>
          <a:stretch/>
        </p:blipFill>
        <p:spPr>
          <a:xfrm>
            <a:off x="5327722" y="750571"/>
            <a:ext cx="1497728" cy="1265534"/>
          </a:xfrm>
          <a:prstGeom prst="rect">
            <a:avLst/>
          </a:prstGeom>
        </p:spPr>
      </p:pic>
      <p:sp>
        <p:nvSpPr>
          <p:cNvPr id="7" name="Text Box 37">
            <a:extLst>
              <a:ext uri="{FF2B5EF4-FFF2-40B4-BE49-F238E27FC236}">
                <a16:creationId xmlns:a16="http://schemas.microsoft.com/office/drawing/2014/main" xmlns="" id="{84E6E326-C540-BCD5-D3A0-7BC13E8FB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2176" y="3651926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1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10" name="Text Box 37">
            <a:extLst>
              <a:ext uri="{FF2B5EF4-FFF2-40B4-BE49-F238E27FC236}">
                <a16:creationId xmlns:a16="http://schemas.microsoft.com/office/drawing/2014/main" xmlns="" id="{EFFD7C58-DE95-0BFA-3B80-F7AB0DDAE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3590" y="982468"/>
            <a:ext cx="2057507" cy="2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300" dirty="0">
                <a:solidFill>
                  <a:srgbClr val="0000FF"/>
                </a:solidFill>
              </a:rPr>
              <a:t>Invalid State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xmlns="" id="{8D24D8AA-6B4F-56D1-F2D6-039790DD2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3589" y="1287135"/>
            <a:ext cx="2057507" cy="2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300" dirty="0">
                <a:solidFill>
                  <a:srgbClr val="0000FF"/>
                </a:solidFill>
              </a:rPr>
              <a:t>Set  State</a:t>
            </a:r>
          </a:p>
        </p:txBody>
      </p:sp>
      <p:sp>
        <p:nvSpPr>
          <p:cNvPr id="17" name="Text Box 37">
            <a:extLst>
              <a:ext uri="{FF2B5EF4-FFF2-40B4-BE49-F238E27FC236}">
                <a16:creationId xmlns:a16="http://schemas.microsoft.com/office/drawing/2014/main" xmlns="" id="{D987550D-1D78-3317-06EF-E12C99354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7718" y="1469124"/>
            <a:ext cx="2057507" cy="2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300" dirty="0">
                <a:solidFill>
                  <a:srgbClr val="0000FF"/>
                </a:solidFill>
              </a:rPr>
              <a:t>Reset  State</a:t>
            </a:r>
          </a:p>
        </p:txBody>
      </p:sp>
      <p:sp>
        <p:nvSpPr>
          <p:cNvPr id="18" name="Text Box 37">
            <a:extLst>
              <a:ext uri="{FF2B5EF4-FFF2-40B4-BE49-F238E27FC236}">
                <a16:creationId xmlns:a16="http://schemas.microsoft.com/office/drawing/2014/main" xmlns="" id="{0A4AF3A7-C1F4-FCB8-4698-283EEA91D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7718" y="1723202"/>
            <a:ext cx="2388965" cy="2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300" dirty="0">
                <a:solidFill>
                  <a:srgbClr val="0000FF"/>
                </a:solidFill>
              </a:rPr>
              <a:t>No Change State</a:t>
            </a:r>
          </a:p>
        </p:txBody>
      </p:sp>
      <p:pic>
        <p:nvPicPr>
          <p:cNvPr id="19" name="Picture 18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314" y="2259401"/>
            <a:ext cx="1830231" cy="1055156"/>
          </a:xfrm>
          <a:prstGeom prst="rect">
            <a:avLst/>
          </a:prstGeom>
        </p:spPr>
      </p:pic>
      <p:pic>
        <p:nvPicPr>
          <p:cNvPr id="20" name="Picture 19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313" y="5195212"/>
            <a:ext cx="1830231" cy="1055156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>
            <a:off x="3086528" y="3008620"/>
            <a:ext cx="0" cy="25072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469139" y="4120476"/>
            <a:ext cx="593688" cy="4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37">
            <a:extLst>
              <a:ext uri="{FF2B5EF4-FFF2-40B4-BE49-F238E27FC236}">
                <a16:creationId xmlns:a16="http://schemas.microsoft.com/office/drawing/2014/main" xmlns="" id="{4668A371-ABCE-1FE2-3A8D-469D75716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0813" y="2146605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S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26" name="Text Box 37">
            <a:extLst>
              <a:ext uri="{FF2B5EF4-FFF2-40B4-BE49-F238E27FC236}">
                <a16:creationId xmlns:a16="http://schemas.microsoft.com/office/drawing/2014/main" xmlns="" id="{4668A371-ABCE-1FE2-3A8D-469D75716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5748" y="5509598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R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27" name="Text Box 37">
            <a:extLst>
              <a:ext uri="{FF2B5EF4-FFF2-40B4-BE49-F238E27FC236}">
                <a16:creationId xmlns:a16="http://schemas.microsoft.com/office/drawing/2014/main" xmlns="" id="{4668A371-ABCE-1FE2-3A8D-469D75716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02513" y="3763261"/>
            <a:ext cx="95993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CLK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28" name="Text Box 37">
            <a:extLst>
              <a:ext uri="{FF2B5EF4-FFF2-40B4-BE49-F238E27FC236}">
                <a16:creationId xmlns:a16="http://schemas.microsoft.com/office/drawing/2014/main" xmlns="" id="{4668A371-ABCE-1FE2-3A8D-469D75716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9087" y="2316272"/>
            <a:ext cx="5566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S*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29" name="Text Box 37">
            <a:extLst>
              <a:ext uri="{FF2B5EF4-FFF2-40B4-BE49-F238E27FC236}">
                <a16:creationId xmlns:a16="http://schemas.microsoft.com/office/drawing/2014/main" xmlns="" id="{4668A371-ABCE-1FE2-3A8D-469D75716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0544" y="5278765"/>
            <a:ext cx="7151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R*</a:t>
            </a:r>
            <a:endParaRPr lang="en-US" sz="2400" dirty="0">
              <a:solidFill>
                <a:srgbClr val="0000FF"/>
              </a:solidFill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5325913"/>
              </p:ext>
            </p:extLst>
          </p:nvPr>
        </p:nvGraphicFramePr>
        <p:xfrm>
          <a:off x="8967017" y="3206076"/>
          <a:ext cx="2241757" cy="1999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693"/>
                <a:gridCol w="339213"/>
                <a:gridCol w="516193"/>
                <a:gridCol w="840658"/>
              </a:tblGrid>
              <a:tr h="306805">
                <a:tc>
                  <a:txBody>
                    <a:bodyPr/>
                    <a:lstStyle/>
                    <a:p>
                      <a:r>
                        <a:rPr lang="en-GB" dirty="0" smtClean="0"/>
                        <a:t>CR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endParaRPr lang="en-GB" dirty="0"/>
                    </a:p>
                  </a:txBody>
                  <a:tcPr/>
                </a:tc>
              </a:tr>
              <a:tr h="536909">
                <a:tc>
                  <a:txBody>
                    <a:bodyPr/>
                    <a:lstStyle/>
                    <a:p>
                      <a:r>
                        <a:rPr lang="en-GB" dirty="0" smtClean="0"/>
                        <a:t>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No </a:t>
                      </a:r>
                      <a:r>
                        <a:rPr lang="en-GB" dirty="0" err="1" smtClean="0"/>
                        <a:t>Ch</a:t>
                      </a:r>
                      <a:endParaRPr lang="en-GB" dirty="0"/>
                    </a:p>
                  </a:txBody>
                  <a:tcPr/>
                </a:tc>
              </a:tr>
              <a:tr h="306805"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Reset</a:t>
                      </a:r>
                      <a:endParaRPr lang="en-GB" dirty="0"/>
                    </a:p>
                  </a:txBody>
                  <a:tcPr/>
                </a:tc>
              </a:tr>
              <a:tr h="306805"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Set</a:t>
                      </a:r>
                      <a:endParaRPr lang="en-GB" dirty="0"/>
                    </a:p>
                  </a:txBody>
                  <a:tcPr/>
                </a:tc>
              </a:tr>
              <a:tr h="306805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2" name="Straight Connector 31"/>
          <p:cNvCxnSpPr/>
          <p:nvPr/>
        </p:nvCxnSpPr>
        <p:spPr>
          <a:xfrm>
            <a:off x="11263561" y="3310728"/>
            <a:ext cx="30971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Box 37">
            <a:extLst>
              <a:ext uri="{FF2B5EF4-FFF2-40B4-BE49-F238E27FC236}">
                <a16:creationId xmlns:a16="http://schemas.microsoft.com/office/drawing/2014/main" xmlns="" id="{84E6E326-C540-BCD5-D3A0-7BC13E8FB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0306" y="2115948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1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34" name="Text Box 37">
            <a:extLst>
              <a:ext uri="{FF2B5EF4-FFF2-40B4-BE49-F238E27FC236}">
                <a16:creationId xmlns:a16="http://schemas.microsoft.com/office/drawing/2014/main" xmlns="" id="{84E6E326-C540-BCD5-D3A0-7BC13E8FB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6028" y="5502296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0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35" name="Text Box 37">
            <a:extLst>
              <a:ext uri="{FF2B5EF4-FFF2-40B4-BE49-F238E27FC236}">
                <a16:creationId xmlns:a16="http://schemas.microsoft.com/office/drawing/2014/main" xmlns="" id="{84E6E326-C540-BCD5-D3A0-7BC13E8FB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7796" y="2270106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0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36" name="Text Box 37">
            <a:extLst>
              <a:ext uri="{FF2B5EF4-FFF2-40B4-BE49-F238E27FC236}">
                <a16:creationId xmlns:a16="http://schemas.microsoft.com/office/drawing/2014/main" xmlns="" id="{84E6E326-C540-BCD5-D3A0-7BC13E8FB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7682" y="5265017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1</a:t>
            </a:r>
            <a:endParaRPr 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244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26A046DD-A4C3-E191-60A1-AD24489406A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0424" t="27967" r="13126" b="16936"/>
          <a:stretch/>
        </p:blipFill>
        <p:spPr>
          <a:xfrm>
            <a:off x="4498258" y="2513479"/>
            <a:ext cx="5663292" cy="377671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D761947-2463-59D2-7ABD-BEE8449751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9354" y="738539"/>
            <a:ext cx="2365375" cy="17176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F667AB27-4745-130E-6891-5CE471590DE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964" r="30277"/>
          <a:stretch/>
        </p:blipFill>
        <p:spPr>
          <a:xfrm>
            <a:off x="859119" y="750571"/>
            <a:ext cx="1846662" cy="1981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382AEDE-6315-8C18-147D-03B35B2B14B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500" t="33505" r="62906" b="37046"/>
          <a:stretch/>
        </p:blipFill>
        <p:spPr>
          <a:xfrm>
            <a:off x="5327722" y="750571"/>
            <a:ext cx="1497728" cy="1265534"/>
          </a:xfrm>
          <a:prstGeom prst="rect">
            <a:avLst/>
          </a:prstGeom>
        </p:spPr>
      </p:pic>
      <p:sp>
        <p:nvSpPr>
          <p:cNvPr id="7" name="Text Box 37">
            <a:extLst>
              <a:ext uri="{FF2B5EF4-FFF2-40B4-BE49-F238E27FC236}">
                <a16:creationId xmlns:a16="http://schemas.microsoft.com/office/drawing/2014/main" xmlns="" id="{84E6E326-C540-BCD5-D3A0-7BC13E8FB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2176" y="3651926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1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10" name="Text Box 37">
            <a:extLst>
              <a:ext uri="{FF2B5EF4-FFF2-40B4-BE49-F238E27FC236}">
                <a16:creationId xmlns:a16="http://schemas.microsoft.com/office/drawing/2014/main" xmlns="" id="{EFFD7C58-DE95-0BFA-3B80-F7AB0DDAE7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3590" y="982468"/>
            <a:ext cx="2057507" cy="2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300" dirty="0">
                <a:solidFill>
                  <a:srgbClr val="0000FF"/>
                </a:solidFill>
              </a:rPr>
              <a:t>Invalid State</a:t>
            </a:r>
          </a:p>
        </p:txBody>
      </p:sp>
      <p:sp>
        <p:nvSpPr>
          <p:cNvPr id="13" name="Text Box 37">
            <a:extLst>
              <a:ext uri="{FF2B5EF4-FFF2-40B4-BE49-F238E27FC236}">
                <a16:creationId xmlns:a16="http://schemas.microsoft.com/office/drawing/2014/main" xmlns="" id="{8D24D8AA-6B4F-56D1-F2D6-039790DD2F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53589" y="1214365"/>
            <a:ext cx="2057507" cy="2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300" dirty="0">
                <a:solidFill>
                  <a:srgbClr val="0000FF"/>
                </a:solidFill>
              </a:rPr>
              <a:t>Set  State</a:t>
            </a:r>
          </a:p>
        </p:txBody>
      </p:sp>
      <p:sp>
        <p:nvSpPr>
          <p:cNvPr id="17" name="Text Box 37">
            <a:extLst>
              <a:ext uri="{FF2B5EF4-FFF2-40B4-BE49-F238E27FC236}">
                <a16:creationId xmlns:a16="http://schemas.microsoft.com/office/drawing/2014/main" xmlns="" id="{D987550D-1D78-3317-06EF-E12C993548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7718" y="1469124"/>
            <a:ext cx="2057507" cy="2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300" dirty="0">
                <a:solidFill>
                  <a:srgbClr val="0000FF"/>
                </a:solidFill>
              </a:rPr>
              <a:t>Reset  State</a:t>
            </a:r>
          </a:p>
        </p:txBody>
      </p:sp>
      <p:sp>
        <p:nvSpPr>
          <p:cNvPr id="18" name="Text Box 37">
            <a:extLst>
              <a:ext uri="{FF2B5EF4-FFF2-40B4-BE49-F238E27FC236}">
                <a16:creationId xmlns:a16="http://schemas.microsoft.com/office/drawing/2014/main" xmlns="" id="{0A4AF3A7-C1F4-FCB8-4698-283EEA91D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7718" y="1723202"/>
            <a:ext cx="2388965" cy="292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300" dirty="0">
                <a:solidFill>
                  <a:srgbClr val="0000FF"/>
                </a:solidFill>
              </a:rPr>
              <a:t>No Change State</a:t>
            </a:r>
          </a:p>
        </p:txBody>
      </p:sp>
      <p:pic>
        <p:nvPicPr>
          <p:cNvPr id="19" name="Picture 18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314" y="2259401"/>
            <a:ext cx="1830231" cy="1055156"/>
          </a:xfrm>
          <a:prstGeom prst="rect">
            <a:avLst/>
          </a:prstGeom>
        </p:spPr>
      </p:pic>
      <p:pic>
        <p:nvPicPr>
          <p:cNvPr id="20" name="Picture 19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1313" y="5195212"/>
            <a:ext cx="1830231" cy="1055156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>
            <a:off x="3086528" y="3008620"/>
            <a:ext cx="0" cy="250727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2469139" y="4120476"/>
            <a:ext cx="593688" cy="41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Box 37">
            <a:extLst>
              <a:ext uri="{FF2B5EF4-FFF2-40B4-BE49-F238E27FC236}">
                <a16:creationId xmlns:a16="http://schemas.microsoft.com/office/drawing/2014/main" xmlns="" id="{4668A371-ABCE-1FE2-3A8D-469D75716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0813" y="2146605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S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26" name="Text Box 37">
            <a:extLst>
              <a:ext uri="{FF2B5EF4-FFF2-40B4-BE49-F238E27FC236}">
                <a16:creationId xmlns:a16="http://schemas.microsoft.com/office/drawing/2014/main" xmlns="" id="{4668A371-ABCE-1FE2-3A8D-469D75716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85748" y="5509598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R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27" name="Text Box 37">
            <a:extLst>
              <a:ext uri="{FF2B5EF4-FFF2-40B4-BE49-F238E27FC236}">
                <a16:creationId xmlns:a16="http://schemas.microsoft.com/office/drawing/2014/main" xmlns="" id="{4668A371-ABCE-1FE2-3A8D-469D75716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4799" y="3763261"/>
            <a:ext cx="98764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CLK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28" name="Text Box 37">
            <a:extLst>
              <a:ext uri="{FF2B5EF4-FFF2-40B4-BE49-F238E27FC236}">
                <a16:creationId xmlns:a16="http://schemas.microsoft.com/office/drawing/2014/main" xmlns="" id="{4668A371-ABCE-1FE2-3A8D-469D75716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9087" y="2316272"/>
            <a:ext cx="55662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S*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29" name="Text Box 37">
            <a:extLst>
              <a:ext uri="{FF2B5EF4-FFF2-40B4-BE49-F238E27FC236}">
                <a16:creationId xmlns:a16="http://schemas.microsoft.com/office/drawing/2014/main" xmlns="" id="{4668A371-ABCE-1FE2-3A8D-469D75716E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0544" y="5278765"/>
            <a:ext cx="7151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R*</a:t>
            </a:r>
            <a:endParaRPr lang="en-US" sz="2400" dirty="0">
              <a:solidFill>
                <a:srgbClr val="0000FF"/>
              </a:solidFill>
            </a:endParaRPr>
          </a:p>
        </p:txBody>
      </p:sp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1992797"/>
              </p:ext>
            </p:extLst>
          </p:nvPr>
        </p:nvGraphicFramePr>
        <p:xfrm>
          <a:off x="8967017" y="3206076"/>
          <a:ext cx="2415763" cy="19999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050"/>
                <a:gridCol w="365543"/>
                <a:gridCol w="556260"/>
                <a:gridCol w="905910"/>
              </a:tblGrid>
              <a:tr h="306805">
                <a:tc>
                  <a:txBody>
                    <a:bodyPr/>
                    <a:lstStyle/>
                    <a:p>
                      <a:r>
                        <a:rPr lang="en-GB" dirty="0" smtClean="0"/>
                        <a:t>CR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R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Q</a:t>
                      </a:r>
                      <a:endParaRPr lang="en-GB" dirty="0"/>
                    </a:p>
                  </a:txBody>
                  <a:tcPr/>
                </a:tc>
              </a:tr>
              <a:tr h="536909">
                <a:tc>
                  <a:txBody>
                    <a:bodyPr/>
                    <a:lstStyle/>
                    <a:p>
                      <a:r>
                        <a:rPr lang="en-GB" dirty="0" smtClean="0"/>
                        <a:t>X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Previous</a:t>
                      </a:r>
                      <a:endParaRPr lang="en-GB" sz="1600" dirty="0"/>
                    </a:p>
                  </a:txBody>
                  <a:tcPr/>
                </a:tc>
              </a:tr>
              <a:tr h="306805"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Reset</a:t>
                      </a:r>
                      <a:endParaRPr lang="en-GB" dirty="0"/>
                    </a:p>
                  </a:txBody>
                  <a:tcPr/>
                </a:tc>
              </a:tr>
              <a:tr h="306805"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Set</a:t>
                      </a:r>
                      <a:endParaRPr lang="en-GB" dirty="0"/>
                    </a:p>
                  </a:txBody>
                  <a:tcPr/>
                </a:tc>
              </a:tr>
              <a:tr h="306805"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Invalid</a:t>
                      </a:r>
                      <a:endParaRPr lang="en-GB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" name="Text Box 37">
            <a:extLst>
              <a:ext uri="{FF2B5EF4-FFF2-40B4-BE49-F238E27FC236}">
                <a16:creationId xmlns:a16="http://schemas.microsoft.com/office/drawing/2014/main" xmlns="" id="{84E6E326-C540-BCD5-D3A0-7BC13E8FB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0306" y="2115948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1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34" name="Text Box 37">
            <a:extLst>
              <a:ext uri="{FF2B5EF4-FFF2-40B4-BE49-F238E27FC236}">
                <a16:creationId xmlns:a16="http://schemas.microsoft.com/office/drawing/2014/main" xmlns="" id="{84E6E326-C540-BCD5-D3A0-7BC13E8FB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6028" y="5502296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1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35" name="Text Box 37">
            <a:extLst>
              <a:ext uri="{FF2B5EF4-FFF2-40B4-BE49-F238E27FC236}">
                <a16:creationId xmlns:a16="http://schemas.microsoft.com/office/drawing/2014/main" xmlns="" id="{84E6E326-C540-BCD5-D3A0-7BC13E8FB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47796" y="2270106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0</a:t>
            </a:r>
            <a:endParaRPr lang="en-US" sz="2400" dirty="0">
              <a:solidFill>
                <a:srgbClr val="0000FF"/>
              </a:solidFill>
            </a:endParaRPr>
          </a:p>
        </p:txBody>
      </p:sp>
      <p:sp>
        <p:nvSpPr>
          <p:cNvPr id="36" name="Text Box 37">
            <a:extLst>
              <a:ext uri="{FF2B5EF4-FFF2-40B4-BE49-F238E27FC236}">
                <a16:creationId xmlns:a16="http://schemas.microsoft.com/office/drawing/2014/main" xmlns="" id="{84E6E326-C540-BCD5-D3A0-7BC13E8FBC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17682" y="5265017"/>
            <a:ext cx="381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dirty="0" smtClean="0">
                <a:solidFill>
                  <a:srgbClr val="0000FF"/>
                </a:solidFill>
              </a:rPr>
              <a:t>0</a:t>
            </a:r>
            <a:endParaRPr lang="en-US" sz="24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3448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ext Box 2"/>
          <p:cNvSpPr txBox="1">
            <a:spLocks noChangeArrowheads="1"/>
          </p:cNvSpPr>
          <p:nvPr/>
        </p:nvSpPr>
        <p:spPr bwMode="auto">
          <a:xfrm>
            <a:off x="2362200" y="1600200"/>
            <a:ext cx="7696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A gated latch is a variation on the basic latch.</a:t>
            </a:r>
          </a:p>
        </p:txBody>
      </p:sp>
      <p:pic>
        <p:nvPicPr>
          <p:cNvPr id="135171" name="Picture 3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35172" name="Text Box 4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35173" name="Rectangle 5"/>
          <p:cNvSpPr>
            <a:spLocks noChangeArrowheads="1"/>
          </p:cNvSpPr>
          <p:nvPr/>
        </p:nvSpPr>
        <p:spPr bwMode="auto">
          <a:xfrm>
            <a:off x="2438401" y="1143000"/>
            <a:ext cx="889859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Latches</a:t>
            </a:r>
          </a:p>
        </p:txBody>
      </p:sp>
      <p:sp>
        <p:nvSpPr>
          <p:cNvPr id="135205" name="Text Box 37"/>
          <p:cNvSpPr txBox="1">
            <a:spLocks noChangeArrowheads="1"/>
          </p:cNvSpPr>
          <p:nvPr/>
        </p:nvSpPr>
        <p:spPr bwMode="auto">
          <a:xfrm>
            <a:off x="2438401" y="2117348"/>
            <a:ext cx="840166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 dirty="0"/>
              <a:t>The gated latch has an additional input, called enable (</a:t>
            </a:r>
            <a:r>
              <a:rPr lang="en-US" sz="2000" i="1" dirty="0"/>
              <a:t>EN</a:t>
            </a:r>
            <a:r>
              <a:rPr lang="en-US" sz="2000" dirty="0"/>
              <a:t>) that must be HIGH in order for the latch to respond to the </a:t>
            </a:r>
            <a:r>
              <a:rPr lang="en-US" sz="2000" i="1" dirty="0"/>
              <a:t>S</a:t>
            </a:r>
            <a:r>
              <a:rPr lang="en-US" sz="2000" dirty="0"/>
              <a:t> and </a:t>
            </a:r>
            <a:r>
              <a:rPr lang="en-US" sz="2000" i="1" dirty="0"/>
              <a:t>R</a:t>
            </a:r>
            <a:r>
              <a:rPr lang="en-US" sz="2000" dirty="0"/>
              <a:t> inputs.</a:t>
            </a:r>
          </a:p>
        </p:txBody>
      </p:sp>
      <p:sp>
        <p:nvSpPr>
          <p:cNvPr id="135243" name="Rectangle 75"/>
          <p:cNvSpPr>
            <a:spLocks noChangeArrowheads="1"/>
          </p:cNvSpPr>
          <p:nvPr/>
        </p:nvSpPr>
        <p:spPr bwMode="auto">
          <a:xfrm>
            <a:off x="4495800" y="5791200"/>
            <a:ext cx="4260850" cy="4191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SA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4363066" y="5230446"/>
            <a:ext cx="117987" cy="8849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Oval 10"/>
          <p:cNvSpPr/>
          <p:nvPr/>
        </p:nvSpPr>
        <p:spPr>
          <a:xfrm>
            <a:off x="4370440" y="3559272"/>
            <a:ext cx="117987" cy="8849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6366" y="3135274"/>
            <a:ext cx="6163700" cy="234588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99" y="2776593"/>
            <a:ext cx="4124278" cy="3014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396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000"/>
                                        <p:tgtEl>
                                          <p:spTgt spid="135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24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ext Box 2"/>
          <p:cNvSpPr txBox="1">
            <a:spLocks noChangeArrowheads="1"/>
          </p:cNvSpPr>
          <p:nvPr/>
        </p:nvSpPr>
        <p:spPr bwMode="auto">
          <a:xfrm>
            <a:off x="2362200" y="1600200"/>
            <a:ext cx="7696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A gated latch is a variation on the basic latch.</a:t>
            </a:r>
          </a:p>
        </p:txBody>
      </p:sp>
      <p:pic>
        <p:nvPicPr>
          <p:cNvPr id="135171" name="Picture 3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35172" name="Text Box 4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35173" name="Rectangle 5"/>
          <p:cNvSpPr>
            <a:spLocks noChangeArrowheads="1"/>
          </p:cNvSpPr>
          <p:nvPr/>
        </p:nvSpPr>
        <p:spPr bwMode="auto">
          <a:xfrm>
            <a:off x="2438401" y="1143000"/>
            <a:ext cx="889859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Latches</a:t>
            </a:r>
          </a:p>
        </p:txBody>
      </p:sp>
      <p:sp>
        <p:nvSpPr>
          <p:cNvPr id="135205" name="Text Box 37"/>
          <p:cNvSpPr txBox="1">
            <a:spLocks noChangeArrowheads="1"/>
          </p:cNvSpPr>
          <p:nvPr/>
        </p:nvSpPr>
        <p:spPr bwMode="auto">
          <a:xfrm>
            <a:off x="2438401" y="2117348"/>
            <a:ext cx="840166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 dirty="0"/>
              <a:t>The gated latch has an additional input, called enable (</a:t>
            </a:r>
            <a:r>
              <a:rPr lang="en-US" sz="2000" i="1" dirty="0"/>
              <a:t>EN</a:t>
            </a:r>
            <a:r>
              <a:rPr lang="en-US" sz="2000" dirty="0"/>
              <a:t>) that must be HIGH in order for the latch to respond to the </a:t>
            </a:r>
            <a:r>
              <a:rPr lang="en-US" sz="2000" i="1" dirty="0"/>
              <a:t>S</a:t>
            </a:r>
            <a:r>
              <a:rPr lang="en-US" sz="2000" dirty="0"/>
              <a:t> and </a:t>
            </a:r>
            <a:r>
              <a:rPr lang="en-US" sz="2000" i="1" dirty="0"/>
              <a:t>R</a:t>
            </a:r>
            <a:r>
              <a:rPr lang="en-US" sz="2000" dirty="0"/>
              <a:t> inputs.</a:t>
            </a:r>
          </a:p>
        </p:txBody>
      </p:sp>
      <p:sp>
        <p:nvSpPr>
          <p:cNvPr id="135243" name="Rectangle 75"/>
          <p:cNvSpPr>
            <a:spLocks noChangeArrowheads="1"/>
          </p:cNvSpPr>
          <p:nvPr/>
        </p:nvSpPr>
        <p:spPr bwMode="auto">
          <a:xfrm>
            <a:off x="4495800" y="5791200"/>
            <a:ext cx="4260850" cy="4191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SA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8226" y="3504885"/>
            <a:ext cx="2325394" cy="1814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629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000"/>
                                        <p:tgtEl>
                                          <p:spTgt spid="135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243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ext Box 2"/>
          <p:cNvSpPr txBox="1">
            <a:spLocks noChangeArrowheads="1"/>
          </p:cNvSpPr>
          <p:nvPr/>
        </p:nvSpPr>
        <p:spPr bwMode="auto">
          <a:xfrm>
            <a:off x="2362200" y="1600200"/>
            <a:ext cx="7696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A gated latch is a variation on the basic latch.</a:t>
            </a:r>
          </a:p>
        </p:txBody>
      </p:sp>
      <p:pic>
        <p:nvPicPr>
          <p:cNvPr id="135171" name="Picture 3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35172" name="Text Box 4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35173" name="Rectangle 5"/>
          <p:cNvSpPr>
            <a:spLocks noChangeArrowheads="1"/>
          </p:cNvSpPr>
          <p:nvPr/>
        </p:nvSpPr>
        <p:spPr bwMode="auto">
          <a:xfrm>
            <a:off x="2438401" y="1143000"/>
            <a:ext cx="889859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Latches</a:t>
            </a:r>
          </a:p>
        </p:txBody>
      </p:sp>
      <p:sp>
        <p:nvSpPr>
          <p:cNvPr id="135205" name="Text Box 37"/>
          <p:cNvSpPr txBox="1">
            <a:spLocks noChangeArrowheads="1"/>
          </p:cNvSpPr>
          <p:nvPr/>
        </p:nvSpPr>
        <p:spPr bwMode="auto">
          <a:xfrm>
            <a:off x="2438401" y="2117348"/>
            <a:ext cx="840166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 dirty="0"/>
              <a:t>The gated latch has an additional input, called enable (</a:t>
            </a:r>
            <a:r>
              <a:rPr lang="en-US" sz="2000" i="1" dirty="0"/>
              <a:t>EN</a:t>
            </a:r>
            <a:r>
              <a:rPr lang="en-US" sz="2000" dirty="0"/>
              <a:t>) that must be HIGH in order for the latch to respond to the </a:t>
            </a:r>
            <a:r>
              <a:rPr lang="en-US" sz="2000" i="1" dirty="0"/>
              <a:t>S</a:t>
            </a:r>
            <a:r>
              <a:rPr lang="en-US" sz="2000" dirty="0"/>
              <a:t> and </a:t>
            </a:r>
            <a:r>
              <a:rPr lang="en-US" sz="2000" i="1" dirty="0"/>
              <a:t>R</a:t>
            </a:r>
            <a:r>
              <a:rPr lang="en-US" sz="2000" dirty="0"/>
              <a:t> inputs.</a:t>
            </a:r>
          </a:p>
        </p:txBody>
      </p:sp>
      <p:sp>
        <p:nvSpPr>
          <p:cNvPr id="135243" name="Rectangle 75"/>
          <p:cNvSpPr>
            <a:spLocks noChangeArrowheads="1"/>
          </p:cNvSpPr>
          <p:nvPr/>
        </p:nvSpPr>
        <p:spPr bwMode="auto">
          <a:xfrm>
            <a:off x="4495800" y="5791200"/>
            <a:ext cx="4260850" cy="4191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SA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703" y="2975918"/>
            <a:ext cx="5592098" cy="3319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3801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000"/>
                                        <p:tgtEl>
                                          <p:spTgt spid="135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24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ext Box 2"/>
          <p:cNvSpPr txBox="1">
            <a:spLocks noChangeArrowheads="1"/>
          </p:cNvSpPr>
          <p:nvPr/>
        </p:nvSpPr>
        <p:spPr bwMode="auto">
          <a:xfrm>
            <a:off x="2362200" y="1600200"/>
            <a:ext cx="7696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A gated latch is a variation on the basic latch.</a:t>
            </a:r>
          </a:p>
        </p:txBody>
      </p:sp>
      <p:pic>
        <p:nvPicPr>
          <p:cNvPr id="135171" name="Picture 3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35172" name="Text Box 4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35173" name="Rectangle 5"/>
          <p:cNvSpPr>
            <a:spLocks noChangeArrowheads="1"/>
          </p:cNvSpPr>
          <p:nvPr/>
        </p:nvSpPr>
        <p:spPr bwMode="auto">
          <a:xfrm>
            <a:off x="2438401" y="1143000"/>
            <a:ext cx="889859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Latches</a:t>
            </a:r>
          </a:p>
        </p:txBody>
      </p:sp>
      <p:sp>
        <p:nvSpPr>
          <p:cNvPr id="135205" name="Text Box 37"/>
          <p:cNvSpPr txBox="1">
            <a:spLocks noChangeArrowheads="1"/>
          </p:cNvSpPr>
          <p:nvPr/>
        </p:nvSpPr>
        <p:spPr bwMode="auto">
          <a:xfrm>
            <a:off x="2438401" y="2117348"/>
            <a:ext cx="840166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 dirty="0"/>
              <a:t>The gated latch has an additional input, called enable (</a:t>
            </a:r>
            <a:r>
              <a:rPr lang="en-US" sz="2000" i="1" dirty="0"/>
              <a:t>EN</a:t>
            </a:r>
            <a:r>
              <a:rPr lang="en-US" sz="2000" dirty="0"/>
              <a:t>) that must be HIGH in order for the latch to respond to the </a:t>
            </a:r>
            <a:r>
              <a:rPr lang="en-US" sz="2000" i="1" dirty="0"/>
              <a:t>S</a:t>
            </a:r>
            <a:r>
              <a:rPr lang="en-US" sz="2000" dirty="0"/>
              <a:t> and </a:t>
            </a:r>
            <a:r>
              <a:rPr lang="en-US" sz="2000" i="1" dirty="0"/>
              <a:t>R</a:t>
            </a:r>
            <a:r>
              <a:rPr lang="en-US" sz="2000" dirty="0"/>
              <a:t> inputs.</a:t>
            </a:r>
          </a:p>
        </p:txBody>
      </p:sp>
      <p:sp>
        <p:nvSpPr>
          <p:cNvPr id="135243" name="Rectangle 75"/>
          <p:cNvSpPr>
            <a:spLocks noChangeArrowheads="1"/>
          </p:cNvSpPr>
          <p:nvPr/>
        </p:nvSpPr>
        <p:spPr bwMode="auto">
          <a:xfrm>
            <a:off x="4495800" y="5791200"/>
            <a:ext cx="4260850" cy="4191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SA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0185" y="2825234"/>
            <a:ext cx="6094472" cy="3492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614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000"/>
                                        <p:tgtEl>
                                          <p:spTgt spid="135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24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ext Box 2"/>
          <p:cNvSpPr txBox="1">
            <a:spLocks noChangeArrowheads="1"/>
          </p:cNvSpPr>
          <p:nvPr/>
        </p:nvSpPr>
        <p:spPr bwMode="auto">
          <a:xfrm>
            <a:off x="2362200" y="1600200"/>
            <a:ext cx="7696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A gated latch is a variation on the basic latch.</a:t>
            </a:r>
          </a:p>
        </p:txBody>
      </p:sp>
      <p:pic>
        <p:nvPicPr>
          <p:cNvPr id="135171" name="Picture 3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35172" name="Text Box 4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35173" name="Rectangle 5"/>
          <p:cNvSpPr>
            <a:spLocks noChangeArrowheads="1"/>
          </p:cNvSpPr>
          <p:nvPr/>
        </p:nvSpPr>
        <p:spPr bwMode="auto">
          <a:xfrm>
            <a:off x="2438401" y="1143000"/>
            <a:ext cx="889859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Latches</a:t>
            </a:r>
          </a:p>
        </p:txBody>
      </p:sp>
      <p:sp>
        <p:nvSpPr>
          <p:cNvPr id="135205" name="Text Box 37"/>
          <p:cNvSpPr txBox="1">
            <a:spLocks noChangeArrowheads="1"/>
          </p:cNvSpPr>
          <p:nvPr/>
        </p:nvSpPr>
        <p:spPr bwMode="auto">
          <a:xfrm>
            <a:off x="2438401" y="2117348"/>
            <a:ext cx="840166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 dirty="0"/>
              <a:t>The gated latch has an additional input, called enable (</a:t>
            </a:r>
            <a:r>
              <a:rPr lang="en-US" sz="2000" i="1" dirty="0"/>
              <a:t>EN</a:t>
            </a:r>
            <a:r>
              <a:rPr lang="en-US" sz="2000" dirty="0"/>
              <a:t>) that must be HIGH in order for the latch to respond to the </a:t>
            </a:r>
            <a:r>
              <a:rPr lang="en-US" sz="2000" i="1" dirty="0"/>
              <a:t>S</a:t>
            </a:r>
            <a:r>
              <a:rPr lang="en-US" sz="2000" dirty="0"/>
              <a:t> and </a:t>
            </a:r>
            <a:r>
              <a:rPr lang="en-US" sz="2000" i="1" dirty="0"/>
              <a:t>R</a:t>
            </a:r>
            <a:r>
              <a:rPr lang="en-US" sz="2000" dirty="0"/>
              <a:t> inputs.</a:t>
            </a:r>
          </a:p>
        </p:txBody>
      </p:sp>
      <p:sp>
        <p:nvSpPr>
          <p:cNvPr id="135243" name="Rectangle 75"/>
          <p:cNvSpPr>
            <a:spLocks noChangeArrowheads="1"/>
          </p:cNvSpPr>
          <p:nvPr/>
        </p:nvSpPr>
        <p:spPr bwMode="auto">
          <a:xfrm>
            <a:off x="4495800" y="5791200"/>
            <a:ext cx="4260850" cy="4191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SA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1124" y="2958302"/>
            <a:ext cx="5794934" cy="3336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813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000"/>
                                        <p:tgtEl>
                                          <p:spTgt spid="135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24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ext Box 2"/>
          <p:cNvSpPr txBox="1">
            <a:spLocks noChangeArrowheads="1"/>
          </p:cNvSpPr>
          <p:nvPr/>
        </p:nvSpPr>
        <p:spPr bwMode="auto">
          <a:xfrm>
            <a:off x="2362200" y="1600200"/>
            <a:ext cx="7696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A gated latch is a variation on the basic latch.</a:t>
            </a:r>
          </a:p>
        </p:txBody>
      </p:sp>
      <p:pic>
        <p:nvPicPr>
          <p:cNvPr id="135171" name="Picture 3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35172" name="Text Box 4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35173" name="Rectangle 5"/>
          <p:cNvSpPr>
            <a:spLocks noChangeArrowheads="1"/>
          </p:cNvSpPr>
          <p:nvPr/>
        </p:nvSpPr>
        <p:spPr bwMode="auto">
          <a:xfrm>
            <a:off x="2438401" y="1143000"/>
            <a:ext cx="889859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Latches</a:t>
            </a:r>
          </a:p>
        </p:txBody>
      </p:sp>
      <p:sp>
        <p:nvSpPr>
          <p:cNvPr id="135205" name="Text Box 37"/>
          <p:cNvSpPr txBox="1">
            <a:spLocks noChangeArrowheads="1"/>
          </p:cNvSpPr>
          <p:nvPr/>
        </p:nvSpPr>
        <p:spPr bwMode="auto">
          <a:xfrm>
            <a:off x="2438401" y="2117348"/>
            <a:ext cx="840166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 dirty="0"/>
              <a:t>The gated latch has an additional input, called enable (</a:t>
            </a:r>
            <a:r>
              <a:rPr lang="en-US" sz="2000" i="1" dirty="0"/>
              <a:t>EN</a:t>
            </a:r>
            <a:r>
              <a:rPr lang="en-US" sz="2000" dirty="0"/>
              <a:t>) that must be HIGH in order for the latch to respond to the </a:t>
            </a:r>
            <a:r>
              <a:rPr lang="en-US" sz="2000" i="1" dirty="0"/>
              <a:t>S</a:t>
            </a:r>
            <a:r>
              <a:rPr lang="en-US" sz="2000" dirty="0"/>
              <a:t> and </a:t>
            </a:r>
            <a:r>
              <a:rPr lang="en-US" sz="2000" i="1" dirty="0"/>
              <a:t>R</a:t>
            </a:r>
            <a:r>
              <a:rPr lang="en-US" sz="2000" dirty="0"/>
              <a:t> inputs.</a:t>
            </a:r>
          </a:p>
        </p:txBody>
      </p:sp>
      <p:sp>
        <p:nvSpPr>
          <p:cNvPr id="135243" name="Rectangle 75"/>
          <p:cNvSpPr>
            <a:spLocks noChangeArrowheads="1"/>
          </p:cNvSpPr>
          <p:nvPr/>
        </p:nvSpPr>
        <p:spPr bwMode="auto">
          <a:xfrm>
            <a:off x="4495800" y="5791200"/>
            <a:ext cx="4260850" cy="4191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SA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330" y="2973050"/>
            <a:ext cx="5249926" cy="299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324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000"/>
                                        <p:tgtEl>
                                          <p:spTgt spid="135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24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ext Box 2"/>
          <p:cNvSpPr txBox="1">
            <a:spLocks noChangeArrowheads="1"/>
          </p:cNvSpPr>
          <p:nvPr/>
        </p:nvSpPr>
        <p:spPr bwMode="auto">
          <a:xfrm>
            <a:off x="2362200" y="1600200"/>
            <a:ext cx="7696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A gated latch is a variation on the basic latch.</a:t>
            </a:r>
          </a:p>
        </p:txBody>
      </p:sp>
      <p:pic>
        <p:nvPicPr>
          <p:cNvPr id="135171" name="Picture 3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35172" name="Text Box 4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35173" name="Rectangle 5"/>
          <p:cNvSpPr>
            <a:spLocks noChangeArrowheads="1"/>
          </p:cNvSpPr>
          <p:nvPr/>
        </p:nvSpPr>
        <p:spPr bwMode="auto">
          <a:xfrm>
            <a:off x="2438401" y="1143000"/>
            <a:ext cx="889859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Latches</a:t>
            </a:r>
          </a:p>
        </p:txBody>
      </p:sp>
      <p:sp>
        <p:nvSpPr>
          <p:cNvPr id="135205" name="Text Box 37"/>
          <p:cNvSpPr txBox="1">
            <a:spLocks noChangeArrowheads="1"/>
          </p:cNvSpPr>
          <p:nvPr/>
        </p:nvSpPr>
        <p:spPr bwMode="auto">
          <a:xfrm>
            <a:off x="2438401" y="2117348"/>
            <a:ext cx="840166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 dirty="0"/>
              <a:t>The gated latch has an additional input, called enable (</a:t>
            </a:r>
            <a:r>
              <a:rPr lang="en-US" sz="2000" i="1" dirty="0"/>
              <a:t>EN</a:t>
            </a:r>
            <a:r>
              <a:rPr lang="en-US" sz="2000" dirty="0"/>
              <a:t>) that must be HIGH in order for the latch to respond to the </a:t>
            </a:r>
            <a:r>
              <a:rPr lang="en-US" sz="2000" i="1" dirty="0"/>
              <a:t>S</a:t>
            </a:r>
            <a:r>
              <a:rPr lang="en-US" sz="2000" dirty="0"/>
              <a:t> and </a:t>
            </a:r>
            <a:r>
              <a:rPr lang="en-US" sz="2000" i="1" dirty="0"/>
              <a:t>R</a:t>
            </a:r>
            <a:r>
              <a:rPr lang="en-US" sz="2000" dirty="0"/>
              <a:t> inputs.</a:t>
            </a:r>
          </a:p>
        </p:txBody>
      </p:sp>
      <p:sp>
        <p:nvSpPr>
          <p:cNvPr id="135243" name="Rectangle 75"/>
          <p:cNvSpPr>
            <a:spLocks noChangeArrowheads="1"/>
          </p:cNvSpPr>
          <p:nvPr/>
        </p:nvSpPr>
        <p:spPr bwMode="auto">
          <a:xfrm>
            <a:off x="4495800" y="5791200"/>
            <a:ext cx="4260850" cy="4191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SA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3646" y="3103514"/>
            <a:ext cx="5464289" cy="3106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1546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000"/>
                                        <p:tgtEl>
                                          <p:spTgt spid="135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243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ext Box 2"/>
          <p:cNvSpPr txBox="1">
            <a:spLocks noChangeArrowheads="1"/>
          </p:cNvSpPr>
          <p:nvPr/>
        </p:nvSpPr>
        <p:spPr bwMode="auto">
          <a:xfrm>
            <a:off x="2362200" y="1600200"/>
            <a:ext cx="7696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A gated latch is a variation on the basic latch.</a:t>
            </a:r>
          </a:p>
        </p:txBody>
      </p:sp>
      <p:pic>
        <p:nvPicPr>
          <p:cNvPr id="135171" name="Picture 3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35172" name="Text Box 4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35173" name="Rectangle 5"/>
          <p:cNvSpPr>
            <a:spLocks noChangeArrowheads="1"/>
          </p:cNvSpPr>
          <p:nvPr/>
        </p:nvSpPr>
        <p:spPr bwMode="auto">
          <a:xfrm>
            <a:off x="2438401" y="1143000"/>
            <a:ext cx="889859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Latches</a:t>
            </a:r>
          </a:p>
        </p:txBody>
      </p:sp>
      <p:sp>
        <p:nvSpPr>
          <p:cNvPr id="135205" name="Text Box 37"/>
          <p:cNvSpPr txBox="1">
            <a:spLocks noChangeArrowheads="1"/>
          </p:cNvSpPr>
          <p:nvPr/>
        </p:nvSpPr>
        <p:spPr bwMode="auto">
          <a:xfrm>
            <a:off x="2438401" y="2117348"/>
            <a:ext cx="840166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 dirty="0"/>
              <a:t>The gated latch has an additional input, called enable (</a:t>
            </a:r>
            <a:r>
              <a:rPr lang="en-US" sz="2000" i="1" dirty="0"/>
              <a:t>EN</a:t>
            </a:r>
            <a:r>
              <a:rPr lang="en-US" sz="2000" dirty="0"/>
              <a:t>) that must be HIGH in order for the latch to respond to the </a:t>
            </a:r>
            <a:r>
              <a:rPr lang="en-US" sz="2000" i="1" dirty="0"/>
              <a:t>S</a:t>
            </a:r>
            <a:r>
              <a:rPr lang="en-US" sz="2000" dirty="0"/>
              <a:t> and </a:t>
            </a:r>
            <a:r>
              <a:rPr lang="en-US" sz="2000" i="1" dirty="0"/>
              <a:t>R</a:t>
            </a:r>
            <a:r>
              <a:rPr lang="en-US" sz="2000" dirty="0"/>
              <a:t> inputs.</a:t>
            </a:r>
          </a:p>
        </p:txBody>
      </p:sp>
      <p:sp>
        <p:nvSpPr>
          <p:cNvPr id="135243" name="Rectangle 75"/>
          <p:cNvSpPr>
            <a:spLocks noChangeArrowheads="1"/>
          </p:cNvSpPr>
          <p:nvPr/>
        </p:nvSpPr>
        <p:spPr bwMode="auto">
          <a:xfrm>
            <a:off x="4495800" y="5791200"/>
            <a:ext cx="4260850" cy="4191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SA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5408" y="3099307"/>
            <a:ext cx="5290514" cy="3110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3060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000"/>
                                        <p:tgtEl>
                                          <p:spTgt spid="135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24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ext Box 2"/>
          <p:cNvSpPr txBox="1">
            <a:spLocks noChangeArrowheads="1"/>
          </p:cNvSpPr>
          <p:nvPr/>
        </p:nvSpPr>
        <p:spPr bwMode="auto">
          <a:xfrm>
            <a:off x="2362200" y="1600200"/>
            <a:ext cx="7696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A gated latch is a variation on the basic latch.</a:t>
            </a:r>
          </a:p>
        </p:txBody>
      </p:sp>
      <p:pic>
        <p:nvPicPr>
          <p:cNvPr id="135171" name="Picture 3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35172" name="Text Box 4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35173" name="Rectangle 5"/>
          <p:cNvSpPr>
            <a:spLocks noChangeArrowheads="1"/>
          </p:cNvSpPr>
          <p:nvPr/>
        </p:nvSpPr>
        <p:spPr bwMode="auto">
          <a:xfrm>
            <a:off x="2438401" y="1143000"/>
            <a:ext cx="889859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Latches</a:t>
            </a:r>
          </a:p>
        </p:txBody>
      </p:sp>
      <p:sp>
        <p:nvSpPr>
          <p:cNvPr id="135205" name="Text Box 37"/>
          <p:cNvSpPr txBox="1">
            <a:spLocks noChangeArrowheads="1"/>
          </p:cNvSpPr>
          <p:nvPr/>
        </p:nvSpPr>
        <p:spPr bwMode="auto">
          <a:xfrm>
            <a:off x="2438401" y="2117348"/>
            <a:ext cx="840166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 dirty="0"/>
              <a:t>The gated latch has an additional input, called enable (</a:t>
            </a:r>
            <a:r>
              <a:rPr lang="en-US" sz="2000" i="1" dirty="0"/>
              <a:t>EN</a:t>
            </a:r>
            <a:r>
              <a:rPr lang="en-US" sz="2000" dirty="0"/>
              <a:t>) that must be HIGH in order for the latch to respond to the </a:t>
            </a:r>
            <a:r>
              <a:rPr lang="en-US" sz="2000" i="1" dirty="0"/>
              <a:t>S</a:t>
            </a:r>
            <a:r>
              <a:rPr lang="en-US" sz="2000" dirty="0"/>
              <a:t> and </a:t>
            </a:r>
            <a:r>
              <a:rPr lang="en-US" sz="2000" i="1" dirty="0"/>
              <a:t>R</a:t>
            </a:r>
            <a:r>
              <a:rPr lang="en-US" sz="2000" dirty="0"/>
              <a:t> inputs.</a:t>
            </a:r>
          </a:p>
        </p:txBody>
      </p:sp>
      <p:sp>
        <p:nvSpPr>
          <p:cNvPr id="135243" name="Rectangle 75"/>
          <p:cNvSpPr>
            <a:spLocks noChangeArrowheads="1"/>
          </p:cNvSpPr>
          <p:nvPr/>
        </p:nvSpPr>
        <p:spPr bwMode="auto">
          <a:xfrm>
            <a:off x="4495800" y="5791200"/>
            <a:ext cx="4260850" cy="4191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SA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3223" y="2973050"/>
            <a:ext cx="5472795" cy="3156914"/>
          </a:xfrm>
          <a:prstGeom prst="rect">
            <a:avLst/>
          </a:prstGeom>
        </p:spPr>
      </p:pic>
      <p:cxnSp>
        <p:nvCxnSpPr>
          <p:cNvPr id="4" name="Straight Connector 3"/>
          <p:cNvCxnSpPr/>
          <p:nvPr/>
        </p:nvCxnSpPr>
        <p:spPr>
          <a:xfrm>
            <a:off x="5879688" y="4188541"/>
            <a:ext cx="0" cy="198566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/>
          <p:cNvCxnSpPr/>
          <p:nvPr/>
        </p:nvCxnSpPr>
        <p:spPr>
          <a:xfrm>
            <a:off x="6889954" y="3569110"/>
            <a:ext cx="0" cy="283169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5319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000"/>
                                        <p:tgtEl>
                                          <p:spTgt spid="135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24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ext Box 2"/>
          <p:cNvSpPr txBox="1">
            <a:spLocks noChangeArrowheads="1"/>
          </p:cNvSpPr>
          <p:nvPr/>
        </p:nvSpPr>
        <p:spPr bwMode="auto">
          <a:xfrm>
            <a:off x="2362200" y="1600200"/>
            <a:ext cx="7696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A gated latch is a variation on the basic latch.</a:t>
            </a:r>
          </a:p>
        </p:txBody>
      </p:sp>
      <p:pic>
        <p:nvPicPr>
          <p:cNvPr id="135171" name="Picture 3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35172" name="Text Box 4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35173" name="Rectangle 5"/>
          <p:cNvSpPr>
            <a:spLocks noChangeArrowheads="1"/>
          </p:cNvSpPr>
          <p:nvPr/>
        </p:nvSpPr>
        <p:spPr bwMode="auto">
          <a:xfrm>
            <a:off x="2438401" y="1143000"/>
            <a:ext cx="889859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Latches</a:t>
            </a:r>
          </a:p>
        </p:txBody>
      </p:sp>
      <p:sp>
        <p:nvSpPr>
          <p:cNvPr id="135205" name="Text Box 37"/>
          <p:cNvSpPr txBox="1">
            <a:spLocks noChangeArrowheads="1"/>
          </p:cNvSpPr>
          <p:nvPr/>
        </p:nvSpPr>
        <p:spPr bwMode="auto">
          <a:xfrm>
            <a:off x="2438401" y="2117348"/>
            <a:ext cx="840166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 dirty="0"/>
              <a:t>The gated latch has an additional input, called enable (</a:t>
            </a:r>
            <a:r>
              <a:rPr lang="en-US" sz="2000" i="1" dirty="0"/>
              <a:t>EN</a:t>
            </a:r>
            <a:r>
              <a:rPr lang="en-US" sz="2000" dirty="0"/>
              <a:t>) that must be HIGH in order for the latch to respond to the </a:t>
            </a:r>
            <a:r>
              <a:rPr lang="en-US" sz="2000" i="1" dirty="0"/>
              <a:t>S</a:t>
            </a:r>
            <a:r>
              <a:rPr lang="en-US" sz="2000" dirty="0"/>
              <a:t> and </a:t>
            </a:r>
            <a:r>
              <a:rPr lang="en-US" sz="2000" i="1" dirty="0"/>
              <a:t>R</a:t>
            </a:r>
            <a:r>
              <a:rPr lang="en-US" sz="2000" dirty="0"/>
              <a:t> inputs.</a:t>
            </a:r>
          </a:p>
        </p:txBody>
      </p:sp>
      <p:sp>
        <p:nvSpPr>
          <p:cNvPr id="135243" name="Rectangle 75"/>
          <p:cNvSpPr>
            <a:spLocks noChangeArrowheads="1"/>
          </p:cNvSpPr>
          <p:nvPr/>
        </p:nvSpPr>
        <p:spPr bwMode="auto">
          <a:xfrm>
            <a:off x="4495800" y="5791200"/>
            <a:ext cx="4260850" cy="4191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SA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1909" y="2872720"/>
            <a:ext cx="5397909" cy="3143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2863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000"/>
                                        <p:tgtEl>
                                          <p:spTgt spid="135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243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ext Box 2"/>
          <p:cNvSpPr txBox="1">
            <a:spLocks noChangeArrowheads="1"/>
          </p:cNvSpPr>
          <p:nvPr/>
        </p:nvSpPr>
        <p:spPr bwMode="auto">
          <a:xfrm>
            <a:off x="2362200" y="1600200"/>
            <a:ext cx="7696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A gated latch is a variation on the basic latch.</a:t>
            </a:r>
          </a:p>
        </p:txBody>
      </p:sp>
      <p:pic>
        <p:nvPicPr>
          <p:cNvPr id="135171" name="Picture 3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35172" name="Text Box 4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35173" name="Rectangle 5"/>
          <p:cNvSpPr>
            <a:spLocks noChangeArrowheads="1"/>
          </p:cNvSpPr>
          <p:nvPr/>
        </p:nvSpPr>
        <p:spPr bwMode="auto">
          <a:xfrm>
            <a:off x="2438401" y="1143000"/>
            <a:ext cx="889859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Latches</a:t>
            </a:r>
          </a:p>
        </p:txBody>
      </p:sp>
      <p:sp>
        <p:nvSpPr>
          <p:cNvPr id="135205" name="Text Box 37"/>
          <p:cNvSpPr txBox="1">
            <a:spLocks noChangeArrowheads="1"/>
          </p:cNvSpPr>
          <p:nvPr/>
        </p:nvSpPr>
        <p:spPr bwMode="auto">
          <a:xfrm>
            <a:off x="2438401" y="2117348"/>
            <a:ext cx="840166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 dirty="0"/>
              <a:t>The gated latch has an additional input, called enable (</a:t>
            </a:r>
            <a:r>
              <a:rPr lang="en-US" sz="2000" i="1" dirty="0"/>
              <a:t>EN</a:t>
            </a:r>
            <a:r>
              <a:rPr lang="en-US" sz="2000" dirty="0"/>
              <a:t>) that must be HIGH in order for the latch to respond to the </a:t>
            </a:r>
            <a:r>
              <a:rPr lang="en-US" sz="2000" i="1" dirty="0"/>
              <a:t>S</a:t>
            </a:r>
            <a:r>
              <a:rPr lang="en-US" sz="2000" dirty="0"/>
              <a:t> and </a:t>
            </a:r>
            <a:r>
              <a:rPr lang="en-US" sz="2000" i="1" dirty="0"/>
              <a:t>R</a:t>
            </a:r>
            <a:r>
              <a:rPr lang="en-US" sz="2000" dirty="0"/>
              <a:t> inputs.</a:t>
            </a:r>
          </a:p>
        </p:txBody>
      </p:sp>
      <p:sp>
        <p:nvSpPr>
          <p:cNvPr id="135243" name="Rectangle 75"/>
          <p:cNvSpPr>
            <a:spLocks noChangeArrowheads="1"/>
          </p:cNvSpPr>
          <p:nvPr/>
        </p:nvSpPr>
        <p:spPr bwMode="auto">
          <a:xfrm>
            <a:off x="4495800" y="5791200"/>
            <a:ext cx="4260850" cy="4191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SA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3330" y="2974893"/>
            <a:ext cx="5663381" cy="329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3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000"/>
                                        <p:tgtEl>
                                          <p:spTgt spid="135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24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ext Box 2"/>
          <p:cNvSpPr txBox="1">
            <a:spLocks noChangeArrowheads="1"/>
          </p:cNvSpPr>
          <p:nvPr/>
        </p:nvSpPr>
        <p:spPr bwMode="auto">
          <a:xfrm>
            <a:off x="2362200" y="1600200"/>
            <a:ext cx="7696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A gated latch is a variation on the basic latch.</a:t>
            </a:r>
          </a:p>
        </p:txBody>
      </p:sp>
      <p:pic>
        <p:nvPicPr>
          <p:cNvPr id="135171" name="Picture 3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35172" name="Text Box 4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35173" name="Rectangle 5"/>
          <p:cNvSpPr>
            <a:spLocks noChangeArrowheads="1"/>
          </p:cNvSpPr>
          <p:nvPr/>
        </p:nvSpPr>
        <p:spPr bwMode="auto">
          <a:xfrm>
            <a:off x="2438401" y="1143000"/>
            <a:ext cx="889859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Latches</a:t>
            </a:r>
          </a:p>
        </p:txBody>
      </p:sp>
      <p:sp>
        <p:nvSpPr>
          <p:cNvPr id="135205" name="Text Box 37"/>
          <p:cNvSpPr txBox="1">
            <a:spLocks noChangeArrowheads="1"/>
          </p:cNvSpPr>
          <p:nvPr/>
        </p:nvSpPr>
        <p:spPr bwMode="auto">
          <a:xfrm>
            <a:off x="2438401" y="2117348"/>
            <a:ext cx="840166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 dirty="0"/>
              <a:t>The gated latch has an additional input, called enable (</a:t>
            </a:r>
            <a:r>
              <a:rPr lang="en-US" sz="2000" i="1" dirty="0"/>
              <a:t>EN</a:t>
            </a:r>
            <a:r>
              <a:rPr lang="en-US" sz="2000" dirty="0"/>
              <a:t>) that must be HIGH in order for the latch to respond to the </a:t>
            </a:r>
            <a:r>
              <a:rPr lang="en-US" sz="2000" i="1" dirty="0"/>
              <a:t>S</a:t>
            </a:r>
            <a:r>
              <a:rPr lang="en-US" sz="2000" dirty="0"/>
              <a:t> and </a:t>
            </a:r>
            <a:r>
              <a:rPr lang="en-US" sz="2000" i="1" dirty="0"/>
              <a:t>R</a:t>
            </a:r>
            <a:r>
              <a:rPr lang="en-US" sz="2000" dirty="0"/>
              <a:t> inputs.</a:t>
            </a:r>
          </a:p>
        </p:txBody>
      </p:sp>
      <p:sp>
        <p:nvSpPr>
          <p:cNvPr id="135243" name="Rectangle 75"/>
          <p:cNvSpPr>
            <a:spLocks noChangeArrowheads="1"/>
          </p:cNvSpPr>
          <p:nvPr/>
        </p:nvSpPr>
        <p:spPr bwMode="auto">
          <a:xfrm>
            <a:off x="4495800" y="5791200"/>
            <a:ext cx="4260850" cy="4191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SA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6697" y="2825234"/>
            <a:ext cx="5951614" cy="3362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240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000"/>
                                        <p:tgtEl>
                                          <p:spTgt spid="135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24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ext Box 2"/>
          <p:cNvSpPr txBox="1">
            <a:spLocks noChangeArrowheads="1"/>
          </p:cNvSpPr>
          <p:nvPr/>
        </p:nvSpPr>
        <p:spPr bwMode="auto">
          <a:xfrm>
            <a:off x="2362200" y="1600200"/>
            <a:ext cx="7696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A gated latch is a variation on the basic latch.</a:t>
            </a:r>
          </a:p>
        </p:txBody>
      </p:sp>
      <p:pic>
        <p:nvPicPr>
          <p:cNvPr id="135171" name="Picture 3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35172" name="Text Box 4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35173" name="Rectangle 5"/>
          <p:cNvSpPr>
            <a:spLocks noChangeArrowheads="1"/>
          </p:cNvSpPr>
          <p:nvPr/>
        </p:nvSpPr>
        <p:spPr bwMode="auto">
          <a:xfrm>
            <a:off x="2438401" y="1143000"/>
            <a:ext cx="889859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Latches</a:t>
            </a:r>
          </a:p>
        </p:txBody>
      </p:sp>
      <p:sp>
        <p:nvSpPr>
          <p:cNvPr id="135205" name="Text Box 37"/>
          <p:cNvSpPr txBox="1">
            <a:spLocks noChangeArrowheads="1"/>
          </p:cNvSpPr>
          <p:nvPr/>
        </p:nvSpPr>
        <p:spPr bwMode="auto">
          <a:xfrm>
            <a:off x="2438401" y="2117348"/>
            <a:ext cx="840166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 dirty="0"/>
              <a:t>The gated latch has an additional input, called enable (</a:t>
            </a:r>
            <a:r>
              <a:rPr lang="en-US" sz="2000" i="1" dirty="0"/>
              <a:t>EN</a:t>
            </a:r>
            <a:r>
              <a:rPr lang="en-US" sz="2000" dirty="0"/>
              <a:t>) that must be HIGH in order for the latch to respond to the </a:t>
            </a:r>
            <a:r>
              <a:rPr lang="en-US" sz="2000" i="1" dirty="0"/>
              <a:t>S</a:t>
            </a:r>
            <a:r>
              <a:rPr lang="en-US" sz="2000" dirty="0"/>
              <a:t> and </a:t>
            </a:r>
            <a:r>
              <a:rPr lang="en-US" sz="2000" i="1" dirty="0"/>
              <a:t>R</a:t>
            </a:r>
            <a:r>
              <a:rPr lang="en-US" sz="2000" dirty="0"/>
              <a:t> inputs.</a:t>
            </a:r>
          </a:p>
        </p:txBody>
      </p:sp>
      <p:sp>
        <p:nvSpPr>
          <p:cNvPr id="135243" name="Rectangle 75"/>
          <p:cNvSpPr>
            <a:spLocks noChangeArrowheads="1"/>
          </p:cNvSpPr>
          <p:nvPr/>
        </p:nvSpPr>
        <p:spPr bwMode="auto">
          <a:xfrm>
            <a:off x="4495800" y="5791200"/>
            <a:ext cx="4260850" cy="4191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SA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988" y="2825234"/>
            <a:ext cx="5875159" cy="3385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035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000"/>
                                        <p:tgtEl>
                                          <p:spTgt spid="135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24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ext Box 2"/>
          <p:cNvSpPr txBox="1">
            <a:spLocks noChangeArrowheads="1"/>
          </p:cNvSpPr>
          <p:nvPr/>
        </p:nvSpPr>
        <p:spPr bwMode="auto">
          <a:xfrm>
            <a:off x="2362200" y="1600200"/>
            <a:ext cx="76962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A gated latch is a variation on the basic latch.</a:t>
            </a:r>
          </a:p>
        </p:txBody>
      </p:sp>
      <p:pic>
        <p:nvPicPr>
          <p:cNvPr id="135171" name="Picture 3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35172" name="Text Box 4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35173" name="Rectangle 5"/>
          <p:cNvSpPr>
            <a:spLocks noChangeArrowheads="1"/>
          </p:cNvSpPr>
          <p:nvPr/>
        </p:nvSpPr>
        <p:spPr bwMode="auto">
          <a:xfrm>
            <a:off x="2438401" y="1143000"/>
            <a:ext cx="889859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Latches</a:t>
            </a:r>
          </a:p>
        </p:txBody>
      </p:sp>
      <p:sp>
        <p:nvSpPr>
          <p:cNvPr id="135205" name="Text Box 37"/>
          <p:cNvSpPr txBox="1">
            <a:spLocks noChangeArrowheads="1"/>
          </p:cNvSpPr>
          <p:nvPr/>
        </p:nvSpPr>
        <p:spPr bwMode="auto">
          <a:xfrm>
            <a:off x="2438401" y="2117348"/>
            <a:ext cx="840166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 dirty="0"/>
              <a:t>The gated latch has an additional input, called enable (</a:t>
            </a:r>
            <a:r>
              <a:rPr lang="en-US" sz="2000" i="1" dirty="0"/>
              <a:t>EN</a:t>
            </a:r>
            <a:r>
              <a:rPr lang="en-US" sz="2000" dirty="0"/>
              <a:t>) that must be HIGH in order for the latch to respond to the </a:t>
            </a:r>
            <a:r>
              <a:rPr lang="en-US" sz="2000" i="1" dirty="0"/>
              <a:t>S</a:t>
            </a:r>
            <a:r>
              <a:rPr lang="en-US" sz="2000" dirty="0"/>
              <a:t> and </a:t>
            </a:r>
            <a:r>
              <a:rPr lang="en-US" sz="2000" i="1" dirty="0"/>
              <a:t>R</a:t>
            </a:r>
            <a:r>
              <a:rPr lang="en-US" sz="2000" dirty="0"/>
              <a:t> inputs.</a:t>
            </a:r>
          </a:p>
        </p:txBody>
      </p:sp>
      <p:sp>
        <p:nvSpPr>
          <p:cNvPr id="135243" name="Rectangle 75"/>
          <p:cNvSpPr>
            <a:spLocks noChangeArrowheads="1"/>
          </p:cNvSpPr>
          <p:nvPr/>
        </p:nvSpPr>
        <p:spPr bwMode="auto">
          <a:xfrm>
            <a:off x="4495800" y="5791200"/>
            <a:ext cx="4260850" cy="4191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SA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7298" y="2883523"/>
            <a:ext cx="5420033" cy="3115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679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2000"/>
                                        <p:tgtEl>
                                          <p:spTgt spid="1352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35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24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22" name="Picture 6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37223" name="Text Box 7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37224" name="Rectangle 8"/>
          <p:cNvSpPr>
            <a:spLocks noChangeArrowheads="1"/>
          </p:cNvSpPr>
          <p:nvPr/>
        </p:nvSpPr>
        <p:spPr bwMode="auto">
          <a:xfrm>
            <a:off x="2438401" y="1143000"/>
            <a:ext cx="889859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Latches</a:t>
            </a:r>
          </a:p>
        </p:txBody>
      </p:sp>
      <p:sp>
        <p:nvSpPr>
          <p:cNvPr id="137244" name="Text Box 28"/>
          <p:cNvSpPr txBox="1">
            <a:spLocks noChangeArrowheads="1"/>
          </p:cNvSpPr>
          <p:nvPr/>
        </p:nvSpPr>
        <p:spPr bwMode="auto">
          <a:xfrm>
            <a:off x="2667000" y="1600201"/>
            <a:ext cx="7391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dirty="0"/>
              <a:t>The </a:t>
            </a:r>
            <a:r>
              <a:rPr lang="en-US" i="1" dirty="0"/>
              <a:t>D</a:t>
            </a:r>
            <a:r>
              <a:rPr lang="en-US" dirty="0"/>
              <a:t> latch is an variation of the </a:t>
            </a:r>
            <a:r>
              <a:rPr lang="en-US" i="1" dirty="0"/>
              <a:t>S-R</a:t>
            </a:r>
            <a:r>
              <a:rPr lang="en-US" dirty="0"/>
              <a:t> latch but combines the </a:t>
            </a:r>
            <a:r>
              <a:rPr lang="en-US" i="1" dirty="0"/>
              <a:t>S</a:t>
            </a:r>
            <a:r>
              <a:rPr lang="en-US" dirty="0"/>
              <a:t> and </a:t>
            </a:r>
            <a:r>
              <a:rPr lang="en-US" i="1" dirty="0"/>
              <a:t>R</a:t>
            </a:r>
            <a:r>
              <a:rPr lang="en-US" dirty="0"/>
              <a:t> inputs into a single </a:t>
            </a:r>
            <a:r>
              <a:rPr lang="en-US" i="1" dirty="0"/>
              <a:t>D</a:t>
            </a:r>
            <a:r>
              <a:rPr lang="en-US" dirty="0"/>
              <a:t> input as shown:</a:t>
            </a:r>
          </a:p>
        </p:txBody>
      </p:sp>
      <p:sp>
        <p:nvSpPr>
          <p:cNvPr id="137245" name="Text Box 29"/>
          <p:cNvSpPr txBox="1">
            <a:spLocks noChangeArrowheads="1"/>
          </p:cNvSpPr>
          <p:nvPr/>
        </p:nvSpPr>
        <p:spPr bwMode="auto">
          <a:xfrm>
            <a:off x="2667000" y="4876801"/>
            <a:ext cx="6781800" cy="674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10000"/>
              </a:spcBef>
            </a:pPr>
            <a:r>
              <a:rPr lang="en-US" dirty="0"/>
              <a:t>A simple rule for the </a:t>
            </a:r>
            <a:r>
              <a:rPr lang="en-US" i="1" dirty="0"/>
              <a:t>D</a:t>
            </a:r>
            <a:r>
              <a:rPr lang="en-US" dirty="0"/>
              <a:t> latch is: </a:t>
            </a:r>
          </a:p>
          <a:p>
            <a:pPr eaLnBrk="1" hangingPunct="1">
              <a:spcBef>
                <a:spcPct val="10000"/>
              </a:spcBef>
            </a:pPr>
            <a:r>
              <a:rPr lang="en-US" i="1" dirty="0">
                <a:solidFill>
                  <a:srgbClr val="FF3300"/>
                </a:solidFill>
              </a:rPr>
              <a:t>	Q</a:t>
            </a:r>
            <a:r>
              <a:rPr lang="en-US" dirty="0">
                <a:solidFill>
                  <a:srgbClr val="FF3300"/>
                </a:solidFill>
              </a:rPr>
              <a:t> follows </a:t>
            </a:r>
            <a:r>
              <a:rPr lang="en-US" i="1" dirty="0">
                <a:solidFill>
                  <a:srgbClr val="FF3300"/>
                </a:solidFill>
              </a:rPr>
              <a:t>D</a:t>
            </a:r>
            <a:r>
              <a:rPr lang="en-US" dirty="0">
                <a:solidFill>
                  <a:srgbClr val="FF3300"/>
                </a:solidFill>
              </a:rPr>
              <a:t> when the Enable is active.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8513" y="2337549"/>
            <a:ext cx="5608771" cy="253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061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45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22" name="Picture 6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37223" name="Text Box 7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37224" name="Rectangle 8"/>
          <p:cNvSpPr>
            <a:spLocks noChangeArrowheads="1"/>
          </p:cNvSpPr>
          <p:nvPr/>
        </p:nvSpPr>
        <p:spPr bwMode="auto">
          <a:xfrm>
            <a:off x="2438401" y="1143000"/>
            <a:ext cx="889859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Latches</a:t>
            </a:r>
          </a:p>
        </p:txBody>
      </p:sp>
      <p:sp>
        <p:nvSpPr>
          <p:cNvPr id="137244" name="Text Box 28"/>
          <p:cNvSpPr txBox="1">
            <a:spLocks noChangeArrowheads="1"/>
          </p:cNvSpPr>
          <p:nvPr/>
        </p:nvSpPr>
        <p:spPr bwMode="auto">
          <a:xfrm>
            <a:off x="2667000" y="1600201"/>
            <a:ext cx="7391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The </a:t>
            </a:r>
            <a:r>
              <a:rPr lang="en-US" i="1"/>
              <a:t>D</a:t>
            </a:r>
            <a:r>
              <a:rPr lang="en-US"/>
              <a:t> latch is an variation of the </a:t>
            </a:r>
            <a:r>
              <a:rPr lang="en-US" i="1"/>
              <a:t>S-R</a:t>
            </a:r>
            <a:r>
              <a:rPr lang="en-US"/>
              <a:t> latch but combines the </a:t>
            </a:r>
            <a:r>
              <a:rPr lang="en-US" i="1"/>
              <a:t>S</a:t>
            </a:r>
            <a:r>
              <a:rPr lang="en-US"/>
              <a:t> and </a:t>
            </a:r>
            <a:r>
              <a:rPr lang="en-US" i="1"/>
              <a:t>R</a:t>
            </a:r>
            <a:r>
              <a:rPr lang="en-US"/>
              <a:t> inputs into a single </a:t>
            </a:r>
            <a:r>
              <a:rPr lang="en-US" i="1"/>
              <a:t>D</a:t>
            </a:r>
            <a:r>
              <a:rPr lang="en-US"/>
              <a:t> input as shown:</a:t>
            </a:r>
          </a:p>
        </p:txBody>
      </p:sp>
      <p:sp>
        <p:nvSpPr>
          <p:cNvPr id="137245" name="Text Box 29"/>
          <p:cNvSpPr txBox="1">
            <a:spLocks noChangeArrowheads="1"/>
          </p:cNvSpPr>
          <p:nvPr/>
        </p:nvSpPr>
        <p:spPr bwMode="auto">
          <a:xfrm>
            <a:off x="2667000" y="4876801"/>
            <a:ext cx="6781800" cy="674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10000"/>
              </a:spcBef>
            </a:pPr>
            <a:r>
              <a:rPr lang="en-US"/>
              <a:t>A simple rule for the </a:t>
            </a:r>
            <a:r>
              <a:rPr lang="en-US" i="1"/>
              <a:t>D</a:t>
            </a:r>
            <a:r>
              <a:rPr lang="en-US"/>
              <a:t> latch is: </a:t>
            </a:r>
          </a:p>
          <a:p>
            <a:pPr eaLnBrk="1" hangingPunct="1">
              <a:spcBef>
                <a:spcPct val="10000"/>
              </a:spcBef>
            </a:pPr>
            <a:r>
              <a:rPr lang="en-US" i="1">
                <a:solidFill>
                  <a:srgbClr val="FF3300"/>
                </a:solidFill>
              </a:rPr>
              <a:t>	Q</a:t>
            </a:r>
            <a:r>
              <a:rPr lang="en-US">
                <a:solidFill>
                  <a:srgbClr val="FF3300"/>
                </a:solidFill>
              </a:rPr>
              <a:t> follows </a:t>
            </a:r>
            <a:r>
              <a:rPr lang="en-US" i="1">
                <a:solidFill>
                  <a:srgbClr val="FF3300"/>
                </a:solidFill>
              </a:rPr>
              <a:t>D</a:t>
            </a:r>
            <a:r>
              <a:rPr lang="en-US">
                <a:solidFill>
                  <a:srgbClr val="FF3300"/>
                </a:solidFill>
              </a:rPr>
              <a:t> when the Enable is active.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0117" y="2334401"/>
            <a:ext cx="5603058" cy="2639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052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4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22" name="Picture 6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37223" name="Text Box 7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37224" name="Rectangle 8"/>
          <p:cNvSpPr>
            <a:spLocks noChangeArrowheads="1"/>
          </p:cNvSpPr>
          <p:nvPr/>
        </p:nvSpPr>
        <p:spPr bwMode="auto">
          <a:xfrm>
            <a:off x="2438401" y="1143000"/>
            <a:ext cx="889859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Latches</a:t>
            </a:r>
          </a:p>
        </p:txBody>
      </p:sp>
      <p:sp>
        <p:nvSpPr>
          <p:cNvPr id="137244" name="Text Box 28"/>
          <p:cNvSpPr txBox="1">
            <a:spLocks noChangeArrowheads="1"/>
          </p:cNvSpPr>
          <p:nvPr/>
        </p:nvSpPr>
        <p:spPr bwMode="auto">
          <a:xfrm>
            <a:off x="2667000" y="1600201"/>
            <a:ext cx="7391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The </a:t>
            </a:r>
            <a:r>
              <a:rPr lang="en-US" i="1"/>
              <a:t>D</a:t>
            </a:r>
            <a:r>
              <a:rPr lang="en-US"/>
              <a:t> latch is an variation of the </a:t>
            </a:r>
            <a:r>
              <a:rPr lang="en-US" i="1"/>
              <a:t>S-R</a:t>
            </a:r>
            <a:r>
              <a:rPr lang="en-US"/>
              <a:t> latch but combines the </a:t>
            </a:r>
            <a:r>
              <a:rPr lang="en-US" i="1"/>
              <a:t>S</a:t>
            </a:r>
            <a:r>
              <a:rPr lang="en-US"/>
              <a:t> and </a:t>
            </a:r>
            <a:r>
              <a:rPr lang="en-US" i="1"/>
              <a:t>R</a:t>
            </a:r>
            <a:r>
              <a:rPr lang="en-US"/>
              <a:t> inputs into a single </a:t>
            </a:r>
            <a:r>
              <a:rPr lang="en-US" i="1"/>
              <a:t>D</a:t>
            </a:r>
            <a:r>
              <a:rPr lang="en-US"/>
              <a:t> input as shown:</a:t>
            </a:r>
          </a:p>
        </p:txBody>
      </p:sp>
      <p:sp>
        <p:nvSpPr>
          <p:cNvPr id="137245" name="Text Box 29"/>
          <p:cNvSpPr txBox="1">
            <a:spLocks noChangeArrowheads="1"/>
          </p:cNvSpPr>
          <p:nvPr/>
        </p:nvSpPr>
        <p:spPr bwMode="auto">
          <a:xfrm>
            <a:off x="2667000" y="4876801"/>
            <a:ext cx="6781800" cy="6740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10000"/>
              </a:spcBef>
            </a:pPr>
            <a:r>
              <a:rPr lang="en-US"/>
              <a:t>A simple rule for the </a:t>
            </a:r>
            <a:r>
              <a:rPr lang="en-US" i="1"/>
              <a:t>D</a:t>
            </a:r>
            <a:r>
              <a:rPr lang="en-US"/>
              <a:t> latch is: </a:t>
            </a:r>
          </a:p>
          <a:p>
            <a:pPr eaLnBrk="1" hangingPunct="1">
              <a:spcBef>
                <a:spcPct val="10000"/>
              </a:spcBef>
            </a:pPr>
            <a:r>
              <a:rPr lang="en-US" i="1">
                <a:solidFill>
                  <a:srgbClr val="FF3300"/>
                </a:solidFill>
              </a:rPr>
              <a:t>	Q</a:t>
            </a:r>
            <a:r>
              <a:rPr lang="en-US">
                <a:solidFill>
                  <a:srgbClr val="FF3300"/>
                </a:solidFill>
              </a:rPr>
              <a:t> follows </a:t>
            </a:r>
            <a:r>
              <a:rPr lang="en-US" i="1">
                <a:solidFill>
                  <a:srgbClr val="FF3300"/>
                </a:solidFill>
              </a:rPr>
              <a:t>D</a:t>
            </a:r>
            <a:r>
              <a:rPr lang="en-US">
                <a:solidFill>
                  <a:srgbClr val="FF3300"/>
                </a:solidFill>
              </a:rPr>
              <a:t> when the Enable is active.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8635" y="2335147"/>
            <a:ext cx="5144708" cy="258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773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4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22" name="Picture 6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37223" name="Text Box 7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37224" name="Rectangle 8"/>
          <p:cNvSpPr>
            <a:spLocks noChangeArrowheads="1"/>
          </p:cNvSpPr>
          <p:nvPr/>
        </p:nvSpPr>
        <p:spPr bwMode="auto">
          <a:xfrm>
            <a:off x="2438401" y="1143000"/>
            <a:ext cx="889859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Latches</a:t>
            </a:r>
          </a:p>
        </p:txBody>
      </p:sp>
      <p:sp>
        <p:nvSpPr>
          <p:cNvPr id="137244" name="Text Box 28"/>
          <p:cNvSpPr txBox="1">
            <a:spLocks noChangeArrowheads="1"/>
          </p:cNvSpPr>
          <p:nvPr/>
        </p:nvSpPr>
        <p:spPr bwMode="auto">
          <a:xfrm>
            <a:off x="824706" y="1568919"/>
            <a:ext cx="7391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The </a:t>
            </a:r>
            <a:r>
              <a:rPr lang="en-US" i="1"/>
              <a:t>D</a:t>
            </a:r>
            <a:r>
              <a:rPr lang="en-US"/>
              <a:t> latch is an variation of the </a:t>
            </a:r>
            <a:r>
              <a:rPr lang="en-US" i="1"/>
              <a:t>S-R</a:t>
            </a:r>
            <a:r>
              <a:rPr lang="en-US"/>
              <a:t> latch but combines the </a:t>
            </a:r>
            <a:r>
              <a:rPr lang="en-US" i="1"/>
              <a:t>S</a:t>
            </a:r>
            <a:r>
              <a:rPr lang="en-US"/>
              <a:t> and </a:t>
            </a:r>
            <a:r>
              <a:rPr lang="en-US" i="1"/>
              <a:t>R</a:t>
            </a:r>
            <a:r>
              <a:rPr lang="en-US"/>
              <a:t> inputs into a single </a:t>
            </a:r>
            <a:r>
              <a:rPr lang="en-US" i="1"/>
              <a:t>D</a:t>
            </a:r>
            <a:r>
              <a:rPr lang="en-US"/>
              <a:t> input as shown:</a:t>
            </a:r>
          </a:p>
        </p:txBody>
      </p:sp>
      <p:sp>
        <p:nvSpPr>
          <p:cNvPr id="137245" name="Text Box 29"/>
          <p:cNvSpPr txBox="1">
            <a:spLocks noChangeArrowheads="1"/>
          </p:cNvSpPr>
          <p:nvPr/>
        </p:nvSpPr>
        <p:spPr bwMode="auto">
          <a:xfrm>
            <a:off x="3771900" y="1801674"/>
            <a:ext cx="6781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10000"/>
              </a:spcBef>
            </a:pPr>
            <a:r>
              <a:rPr lang="en-US" dirty="0"/>
              <a:t>A simple rule for the </a:t>
            </a:r>
            <a:r>
              <a:rPr lang="en-US" i="1" dirty="0"/>
              <a:t>D</a:t>
            </a:r>
            <a:r>
              <a:rPr lang="en-US" dirty="0"/>
              <a:t> latch is: </a:t>
            </a:r>
            <a:r>
              <a:rPr lang="en-US" i="1" dirty="0" smtClean="0">
                <a:solidFill>
                  <a:srgbClr val="FF3300"/>
                </a:solidFill>
              </a:rPr>
              <a:t>Q</a:t>
            </a:r>
            <a:r>
              <a:rPr lang="en-US" dirty="0" smtClean="0">
                <a:solidFill>
                  <a:srgbClr val="FF3300"/>
                </a:solidFill>
              </a:rPr>
              <a:t> </a:t>
            </a:r>
            <a:r>
              <a:rPr lang="en-US" dirty="0">
                <a:solidFill>
                  <a:srgbClr val="FF3300"/>
                </a:solidFill>
              </a:rPr>
              <a:t>follows </a:t>
            </a:r>
            <a:r>
              <a:rPr lang="en-US" i="1" dirty="0">
                <a:solidFill>
                  <a:srgbClr val="FF3300"/>
                </a:solidFill>
              </a:rPr>
              <a:t>D</a:t>
            </a:r>
            <a:r>
              <a:rPr lang="en-US" dirty="0">
                <a:solidFill>
                  <a:srgbClr val="FF3300"/>
                </a:solidFill>
              </a:rPr>
              <a:t> when the Enable is active.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9961" y="2311548"/>
            <a:ext cx="6135329" cy="3485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113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45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22" name="Picture 6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37223" name="Text Box 7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37224" name="Rectangle 8"/>
          <p:cNvSpPr>
            <a:spLocks noChangeArrowheads="1"/>
          </p:cNvSpPr>
          <p:nvPr/>
        </p:nvSpPr>
        <p:spPr bwMode="auto">
          <a:xfrm>
            <a:off x="2438401" y="1143000"/>
            <a:ext cx="889859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Latches</a:t>
            </a:r>
          </a:p>
        </p:txBody>
      </p:sp>
      <p:sp>
        <p:nvSpPr>
          <p:cNvPr id="137244" name="Text Box 28"/>
          <p:cNvSpPr txBox="1">
            <a:spLocks noChangeArrowheads="1"/>
          </p:cNvSpPr>
          <p:nvPr/>
        </p:nvSpPr>
        <p:spPr bwMode="auto">
          <a:xfrm>
            <a:off x="824706" y="1568919"/>
            <a:ext cx="7391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The </a:t>
            </a:r>
            <a:r>
              <a:rPr lang="en-US" i="1"/>
              <a:t>D</a:t>
            </a:r>
            <a:r>
              <a:rPr lang="en-US"/>
              <a:t> latch is an variation of the </a:t>
            </a:r>
            <a:r>
              <a:rPr lang="en-US" i="1"/>
              <a:t>S-R</a:t>
            </a:r>
            <a:r>
              <a:rPr lang="en-US"/>
              <a:t> latch but combines the </a:t>
            </a:r>
            <a:r>
              <a:rPr lang="en-US" i="1"/>
              <a:t>S</a:t>
            </a:r>
            <a:r>
              <a:rPr lang="en-US"/>
              <a:t> and </a:t>
            </a:r>
            <a:r>
              <a:rPr lang="en-US" i="1"/>
              <a:t>R</a:t>
            </a:r>
            <a:r>
              <a:rPr lang="en-US"/>
              <a:t> inputs into a single </a:t>
            </a:r>
            <a:r>
              <a:rPr lang="en-US" i="1"/>
              <a:t>D</a:t>
            </a:r>
            <a:r>
              <a:rPr lang="en-US"/>
              <a:t> input as shown:</a:t>
            </a:r>
          </a:p>
        </p:txBody>
      </p:sp>
      <p:sp>
        <p:nvSpPr>
          <p:cNvPr id="137245" name="Text Box 29"/>
          <p:cNvSpPr txBox="1">
            <a:spLocks noChangeArrowheads="1"/>
          </p:cNvSpPr>
          <p:nvPr/>
        </p:nvSpPr>
        <p:spPr bwMode="auto">
          <a:xfrm>
            <a:off x="3771900" y="1801674"/>
            <a:ext cx="6781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10000"/>
              </a:spcBef>
            </a:pPr>
            <a:r>
              <a:rPr lang="en-US" dirty="0"/>
              <a:t>A simple rule for the </a:t>
            </a:r>
            <a:r>
              <a:rPr lang="en-US" i="1" dirty="0"/>
              <a:t>D</a:t>
            </a:r>
            <a:r>
              <a:rPr lang="en-US" dirty="0"/>
              <a:t> latch is: </a:t>
            </a:r>
            <a:r>
              <a:rPr lang="en-US" i="1" dirty="0" smtClean="0">
                <a:solidFill>
                  <a:srgbClr val="FF3300"/>
                </a:solidFill>
              </a:rPr>
              <a:t>Q</a:t>
            </a:r>
            <a:r>
              <a:rPr lang="en-US" dirty="0" smtClean="0">
                <a:solidFill>
                  <a:srgbClr val="FF3300"/>
                </a:solidFill>
              </a:rPr>
              <a:t> </a:t>
            </a:r>
            <a:r>
              <a:rPr lang="en-US" dirty="0">
                <a:solidFill>
                  <a:srgbClr val="FF3300"/>
                </a:solidFill>
              </a:rPr>
              <a:t>follows </a:t>
            </a:r>
            <a:r>
              <a:rPr lang="en-US" i="1" dirty="0">
                <a:solidFill>
                  <a:srgbClr val="FF3300"/>
                </a:solidFill>
              </a:rPr>
              <a:t>D</a:t>
            </a:r>
            <a:r>
              <a:rPr lang="en-US" dirty="0">
                <a:solidFill>
                  <a:srgbClr val="FF3300"/>
                </a:solidFill>
              </a:rPr>
              <a:t> when the Enable is active.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3"/>
          <a:stretch/>
        </p:blipFill>
        <p:spPr>
          <a:xfrm>
            <a:off x="2316924" y="2359742"/>
            <a:ext cx="6692912" cy="3765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981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45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22" name="Picture 6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37223" name="Text Box 7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37224" name="Rectangle 8"/>
          <p:cNvSpPr>
            <a:spLocks noChangeArrowheads="1"/>
          </p:cNvSpPr>
          <p:nvPr/>
        </p:nvSpPr>
        <p:spPr bwMode="auto">
          <a:xfrm>
            <a:off x="2438401" y="1143000"/>
            <a:ext cx="889859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Latches</a:t>
            </a:r>
          </a:p>
        </p:txBody>
      </p:sp>
      <p:sp>
        <p:nvSpPr>
          <p:cNvPr id="137244" name="Text Box 28"/>
          <p:cNvSpPr txBox="1">
            <a:spLocks noChangeArrowheads="1"/>
          </p:cNvSpPr>
          <p:nvPr/>
        </p:nvSpPr>
        <p:spPr bwMode="auto">
          <a:xfrm>
            <a:off x="824706" y="1568919"/>
            <a:ext cx="7391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The </a:t>
            </a:r>
            <a:r>
              <a:rPr lang="en-US" i="1"/>
              <a:t>D</a:t>
            </a:r>
            <a:r>
              <a:rPr lang="en-US"/>
              <a:t> latch is an variation of the </a:t>
            </a:r>
            <a:r>
              <a:rPr lang="en-US" i="1"/>
              <a:t>S-R</a:t>
            </a:r>
            <a:r>
              <a:rPr lang="en-US"/>
              <a:t> latch but combines the </a:t>
            </a:r>
            <a:r>
              <a:rPr lang="en-US" i="1"/>
              <a:t>S</a:t>
            </a:r>
            <a:r>
              <a:rPr lang="en-US"/>
              <a:t> and </a:t>
            </a:r>
            <a:r>
              <a:rPr lang="en-US" i="1"/>
              <a:t>R</a:t>
            </a:r>
            <a:r>
              <a:rPr lang="en-US"/>
              <a:t> inputs into a single </a:t>
            </a:r>
            <a:r>
              <a:rPr lang="en-US" i="1"/>
              <a:t>D</a:t>
            </a:r>
            <a:r>
              <a:rPr lang="en-US"/>
              <a:t> input as shown:</a:t>
            </a:r>
          </a:p>
        </p:txBody>
      </p:sp>
      <p:sp>
        <p:nvSpPr>
          <p:cNvPr id="137245" name="Text Box 29"/>
          <p:cNvSpPr txBox="1">
            <a:spLocks noChangeArrowheads="1"/>
          </p:cNvSpPr>
          <p:nvPr/>
        </p:nvSpPr>
        <p:spPr bwMode="auto">
          <a:xfrm>
            <a:off x="3771900" y="1801674"/>
            <a:ext cx="6781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10000"/>
              </a:spcBef>
            </a:pPr>
            <a:r>
              <a:rPr lang="en-US" dirty="0"/>
              <a:t>A simple rule for the </a:t>
            </a:r>
            <a:r>
              <a:rPr lang="en-US" i="1" dirty="0"/>
              <a:t>D</a:t>
            </a:r>
            <a:r>
              <a:rPr lang="en-US" dirty="0"/>
              <a:t> latch is: </a:t>
            </a:r>
            <a:r>
              <a:rPr lang="en-US" i="1" dirty="0" smtClean="0">
                <a:solidFill>
                  <a:srgbClr val="FF3300"/>
                </a:solidFill>
              </a:rPr>
              <a:t>Q</a:t>
            </a:r>
            <a:r>
              <a:rPr lang="en-US" dirty="0" smtClean="0">
                <a:solidFill>
                  <a:srgbClr val="FF3300"/>
                </a:solidFill>
              </a:rPr>
              <a:t> </a:t>
            </a:r>
            <a:r>
              <a:rPr lang="en-US" dirty="0">
                <a:solidFill>
                  <a:srgbClr val="FF3300"/>
                </a:solidFill>
              </a:rPr>
              <a:t>follows </a:t>
            </a:r>
            <a:r>
              <a:rPr lang="en-US" i="1" dirty="0">
                <a:solidFill>
                  <a:srgbClr val="FF3300"/>
                </a:solidFill>
              </a:rPr>
              <a:t>D</a:t>
            </a:r>
            <a:r>
              <a:rPr lang="en-US" dirty="0">
                <a:solidFill>
                  <a:srgbClr val="FF3300"/>
                </a:solidFill>
              </a:rPr>
              <a:t> when the Enable is active.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788" y="2403761"/>
            <a:ext cx="6581755" cy="3726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507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45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22" name="Picture 6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37223" name="Text Box 7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37224" name="Rectangle 8"/>
          <p:cNvSpPr>
            <a:spLocks noChangeArrowheads="1"/>
          </p:cNvSpPr>
          <p:nvPr/>
        </p:nvSpPr>
        <p:spPr bwMode="auto">
          <a:xfrm>
            <a:off x="2438401" y="1143000"/>
            <a:ext cx="889859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Latches</a:t>
            </a:r>
          </a:p>
        </p:txBody>
      </p:sp>
      <p:sp>
        <p:nvSpPr>
          <p:cNvPr id="137244" name="Text Box 28"/>
          <p:cNvSpPr txBox="1">
            <a:spLocks noChangeArrowheads="1"/>
          </p:cNvSpPr>
          <p:nvPr/>
        </p:nvSpPr>
        <p:spPr bwMode="auto">
          <a:xfrm>
            <a:off x="824706" y="1568919"/>
            <a:ext cx="7391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The </a:t>
            </a:r>
            <a:r>
              <a:rPr lang="en-US" i="1"/>
              <a:t>D</a:t>
            </a:r>
            <a:r>
              <a:rPr lang="en-US"/>
              <a:t> latch is an variation of the </a:t>
            </a:r>
            <a:r>
              <a:rPr lang="en-US" i="1"/>
              <a:t>S-R</a:t>
            </a:r>
            <a:r>
              <a:rPr lang="en-US"/>
              <a:t> latch but combines the </a:t>
            </a:r>
            <a:r>
              <a:rPr lang="en-US" i="1"/>
              <a:t>S</a:t>
            </a:r>
            <a:r>
              <a:rPr lang="en-US"/>
              <a:t> and </a:t>
            </a:r>
            <a:r>
              <a:rPr lang="en-US" i="1"/>
              <a:t>R</a:t>
            </a:r>
            <a:r>
              <a:rPr lang="en-US"/>
              <a:t> inputs into a single </a:t>
            </a:r>
            <a:r>
              <a:rPr lang="en-US" i="1"/>
              <a:t>D</a:t>
            </a:r>
            <a:r>
              <a:rPr lang="en-US"/>
              <a:t> input as shown:</a:t>
            </a:r>
          </a:p>
        </p:txBody>
      </p:sp>
      <p:sp>
        <p:nvSpPr>
          <p:cNvPr id="137245" name="Text Box 29"/>
          <p:cNvSpPr txBox="1">
            <a:spLocks noChangeArrowheads="1"/>
          </p:cNvSpPr>
          <p:nvPr/>
        </p:nvSpPr>
        <p:spPr bwMode="auto">
          <a:xfrm>
            <a:off x="3771900" y="1801674"/>
            <a:ext cx="6781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10000"/>
              </a:spcBef>
            </a:pPr>
            <a:r>
              <a:rPr lang="en-US" dirty="0"/>
              <a:t>A simple rule for the </a:t>
            </a:r>
            <a:r>
              <a:rPr lang="en-US" i="1" dirty="0"/>
              <a:t>D</a:t>
            </a:r>
            <a:r>
              <a:rPr lang="en-US" dirty="0"/>
              <a:t> latch is: </a:t>
            </a:r>
            <a:r>
              <a:rPr lang="en-US" i="1" dirty="0" smtClean="0">
                <a:solidFill>
                  <a:srgbClr val="FF3300"/>
                </a:solidFill>
              </a:rPr>
              <a:t>Q</a:t>
            </a:r>
            <a:r>
              <a:rPr lang="en-US" dirty="0" smtClean="0">
                <a:solidFill>
                  <a:srgbClr val="FF3300"/>
                </a:solidFill>
              </a:rPr>
              <a:t> </a:t>
            </a:r>
            <a:r>
              <a:rPr lang="en-US" dirty="0">
                <a:solidFill>
                  <a:srgbClr val="FF3300"/>
                </a:solidFill>
              </a:rPr>
              <a:t>follows </a:t>
            </a:r>
            <a:r>
              <a:rPr lang="en-US" i="1" dirty="0">
                <a:solidFill>
                  <a:srgbClr val="FF3300"/>
                </a:solidFill>
              </a:rPr>
              <a:t>D</a:t>
            </a:r>
            <a:r>
              <a:rPr lang="en-US" dirty="0">
                <a:solidFill>
                  <a:srgbClr val="FF3300"/>
                </a:solidFill>
              </a:rPr>
              <a:t> when the Enable is active.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6735" y="2450504"/>
            <a:ext cx="8141111" cy="2163244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4461415" y="2905436"/>
            <a:ext cx="0" cy="2256503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5984160" y="2905436"/>
            <a:ext cx="0" cy="2256503"/>
          </a:xfrm>
          <a:prstGeom prst="line">
            <a:avLst/>
          </a:prstGeom>
          <a:ln w="28575">
            <a:solidFill>
              <a:srgbClr val="FFFF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995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4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22" name="Picture 6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37223" name="Text Box 7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37224" name="Rectangle 8"/>
          <p:cNvSpPr>
            <a:spLocks noChangeArrowheads="1"/>
          </p:cNvSpPr>
          <p:nvPr/>
        </p:nvSpPr>
        <p:spPr bwMode="auto">
          <a:xfrm>
            <a:off x="2438401" y="1143000"/>
            <a:ext cx="889859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Latches</a:t>
            </a:r>
          </a:p>
        </p:txBody>
      </p:sp>
      <p:sp>
        <p:nvSpPr>
          <p:cNvPr id="137244" name="Text Box 28"/>
          <p:cNvSpPr txBox="1">
            <a:spLocks noChangeArrowheads="1"/>
          </p:cNvSpPr>
          <p:nvPr/>
        </p:nvSpPr>
        <p:spPr bwMode="auto">
          <a:xfrm>
            <a:off x="824706" y="1568919"/>
            <a:ext cx="7391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The </a:t>
            </a:r>
            <a:r>
              <a:rPr lang="en-US" i="1"/>
              <a:t>D</a:t>
            </a:r>
            <a:r>
              <a:rPr lang="en-US"/>
              <a:t> latch is an variation of the </a:t>
            </a:r>
            <a:r>
              <a:rPr lang="en-US" i="1"/>
              <a:t>S-R</a:t>
            </a:r>
            <a:r>
              <a:rPr lang="en-US"/>
              <a:t> latch but combines the </a:t>
            </a:r>
            <a:r>
              <a:rPr lang="en-US" i="1"/>
              <a:t>S</a:t>
            </a:r>
            <a:r>
              <a:rPr lang="en-US"/>
              <a:t> and </a:t>
            </a:r>
            <a:r>
              <a:rPr lang="en-US" i="1"/>
              <a:t>R</a:t>
            </a:r>
            <a:r>
              <a:rPr lang="en-US"/>
              <a:t> inputs into a single </a:t>
            </a:r>
            <a:r>
              <a:rPr lang="en-US" i="1"/>
              <a:t>D</a:t>
            </a:r>
            <a:r>
              <a:rPr lang="en-US"/>
              <a:t> input as shown:</a:t>
            </a:r>
          </a:p>
        </p:txBody>
      </p:sp>
      <p:sp>
        <p:nvSpPr>
          <p:cNvPr id="137245" name="Text Box 29"/>
          <p:cNvSpPr txBox="1">
            <a:spLocks noChangeArrowheads="1"/>
          </p:cNvSpPr>
          <p:nvPr/>
        </p:nvSpPr>
        <p:spPr bwMode="auto">
          <a:xfrm>
            <a:off x="3771900" y="1801674"/>
            <a:ext cx="6781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10000"/>
              </a:spcBef>
            </a:pPr>
            <a:r>
              <a:rPr lang="en-US" dirty="0"/>
              <a:t>A simple rule for the </a:t>
            </a:r>
            <a:r>
              <a:rPr lang="en-US" i="1" dirty="0"/>
              <a:t>D</a:t>
            </a:r>
            <a:r>
              <a:rPr lang="en-US" dirty="0"/>
              <a:t> latch is: </a:t>
            </a:r>
            <a:r>
              <a:rPr lang="en-US" i="1" dirty="0" smtClean="0">
                <a:solidFill>
                  <a:srgbClr val="FF3300"/>
                </a:solidFill>
              </a:rPr>
              <a:t>Q</a:t>
            </a:r>
            <a:r>
              <a:rPr lang="en-US" dirty="0" smtClean="0">
                <a:solidFill>
                  <a:srgbClr val="FF3300"/>
                </a:solidFill>
              </a:rPr>
              <a:t> </a:t>
            </a:r>
            <a:r>
              <a:rPr lang="en-US" dirty="0">
                <a:solidFill>
                  <a:srgbClr val="FF3300"/>
                </a:solidFill>
              </a:rPr>
              <a:t>follows </a:t>
            </a:r>
            <a:r>
              <a:rPr lang="en-US" i="1" dirty="0">
                <a:solidFill>
                  <a:srgbClr val="FF3300"/>
                </a:solidFill>
              </a:rPr>
              <a:t>D</a:t>
            </a:r>
            <a:r>
              <a:rPr lang="en-US" dirty="0">
                <a:solidFill>
                  <a:srgbClr val="FF3300"/>
                </a:solidFill>
              </a:rPr>
              <a:t> when the Enable is active.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232" y="2245524"/>
            <a:ext cx="6559982" cy="373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776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45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222" name="Picture 6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37223" name="Text Box 7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37224" name="Rectangle 8"/>
          <p:cNvSpPr>
            <a:spLocks noChangeArrowheads="1"/>
          </p:cNvSpPr>
          <p:nvPr/>
        </p:nvSpPr>
        <p:spPr bwMode="auto">
          <a:xfrm>
            <a:off x="2438401" y="1143000"/>
            <a:ext cx="889859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Latches</a:t>
            </a:r>
          </a:p>
        </p:txBody>
      </p:sp>
      <p:sp>
        <p:nvSpPr>
          <p:cNvPr id="137244" name="Text Box 28"/>
          <p:cNvSpPr txBox="1">
            <a:spLocks noChangeArrowheads="1"/>
          </p:cNvSpPr>
          <p:nvPr/>
        </p:nvSpPr>
        <p:spPr bwMode="auto">
          <a:xfrm>
            <a:off x="824706" y="1568919"/>
            <a:ext cx="7391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The </a:t>
            </a:r>
            <a:r>
              <a:rPr lang="en-US" i="1"/>
              <a:t>D</a:t>
            </a:r>
            <a:r>
              <a:rPr lang="en-US"/>
              <a:t> latch is an variation of the </a:t>
            </a:r>
            <a:r>
              <a:rPr lang="en-US" i="1"/>
              <a:t>S-R</a:t>
            </a:r>
            <a:r>
              <a:rPr lang="en-US"/>
              <a:t> latch but combines the </a:t>
            </a:r>
            <a:r>
              <a:rPr lang="en-US" i="1"/>
              <a:t>S</a:t>
            </a:r>
            <a:r>
              <a:rPr lang="en-US"/>
              <a:t> and </a:t>
            </a:r>
            <a:r>
              <a:rPr lang="en-US" i="1"/>
              <a:t>R</a:t>
            </a:r>
            <a:r>
              <a:rPr lang="en-US"/>
              <a:t> inputs into a single </a:t>
            </a:r>
            <a:r>
              <a:rPr lang="en-US" i="1"/>
              <a:t>D</a:t>
            </a:r>
            <a:r>
              <a:rPr lang="en-US"/>
              <a:t> input as shown:</a:t>
            </a:r>
          </a:p>
        </p:txBody>
      </p:sp>
      <p:sp>
        <p:nvSpPr>
          <p:cNvPr id="137245" name="Text Box 29"/>
          <p:cNvSpPr txBox="1">
            <a:spLocks noChangeArrowheads="1"/>
          </p:cNvSpPr>
          <p:nvPr/>
        </p:nvSpPr>
        <p:spPr bwMode="auto">
          <a:xfrm>
            <a:off x="3771900" y="1801674"/>
            <a:ext cx="6781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10000"/>
              </a:spcBef>
            </a:pPr>
            <a:r>
              <a:rPr lang="en-US" dirty="0"/>
              <a:t>A simple rule for the </a:t>
            </a:r>
            <a:r>
              <a:rPr lang="en-US" i="1" dirty="0"/>
              <a:t>D</a:t>
            </a:r>
            <a:r>
              <a:rPr lang="en-US" dirty="0"/>
              <a:t> latch is: </a:t>
            </a:r>
            <a:r>
              <a:rPr lang="en-US" i="1" dirty="0" smtClean="0">
                <a:solidFill>
                  <a:srgbClr val="FF3300"/>
                </a:solidFill>
              </a:rPr>
              <a:t>Q</a:t>
            </a:r>
            <a:r>
              <a:rPr lang="en-US" dirty="0" smtClean="0">
                <a:solidFill>
                  <a:srgbClr val="FF3300"/>
                </a:solidFill>
              </a:rPr>
              <a:t> </a:t>
            </a:r>
            <a:r>
              <a:rPr lang="en-US" dirty="0">
                <a:solidFill>
                  <a:srgbClr val="FF3300"/>
                </a:solidFill>
              </a:rPr>
              <a:t>follows </a:t>
            </a:r>
            <a:r>
              <a:rPr lang="en-US" i="1" dirty="0">
                <a:solidFill>
                  <a:srgbClr val="FF3300"/>
                </a:solidFill>
              </a:rPr>
              <a:t>D</a:t>
            </a:r>
            <a:r>
              <a:rPr lang="en-US" dirty="0">
                <a:solidFill>
                  <a:srgbClr val="FF3300"/>
                </a:solidFill>
              </a:rPr>
              <a:t> when the Enable is active.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5"/>
          <a:srcRect l="17177" t="9658" r="17258" b="22568"/>
          <a:stretch/>
        </p:blipFill>
        <p:spPr>
          <a:xfrm>
            <a:off x="2684205" y="2403761"/>
            <a:ext cx="6253317" cy="3634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17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37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4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267" name="Picture 3" descr="SH2507-cr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39268" name="Text Box 4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39269" name="Rectangle 5"/>
          <p:cNvSpPr>
            <a:spLocks noChangeArrowheads="1"/>
          </p:cNvSpPr>
          <p:nvPr/>
        </p:nvSpPr>
        <p:spPr bwMode="auto">
          <a:xfrm>
            <a:off x="2438401" y="1143000"/>
            <a:ext cx="889859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Latches</a:t>
            </a:r>
          </a:p>
        </p:txBody>
      </p:sp>
      <p:sp>
        <p:nvSpPr>
          <p:cNvPr id="139270" name="Text Box 6"/>
          <p:cNvSpPr txBox="1">
            <a:spLocks noChangeArrowheads="1"/>
          </p:cNvSpPr>
          <p:nvPr/>
        </p:nvSpPr>
        <p:spPr bwMode="auto">
          <a:xfrm>
            <a:off x="2667000" y="1600201"/>
            <a:ext cx="73914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The truth table for the </a:t>
            </a:r>
            <a:r>
              <a:rPr lang="en-US" i="1"/>
              <a:t>D</a:t>
            </a:r>
            <a:r>
              <a:rPr lang="en-US"/>
              <a:t> latch summarizes its operation. If </a:t>
            </a:r>
            <a:r>
              <a:rPr lang="en-US" i="1"/>
              <a:t>EN</a:t>
            </a:r>
            <a:r>
              <a:rPr lang="en-US"/>
              <a:t> is LOW, then there is no change in the output and it is latched.</a:t>
            </a:r>
          </a:p>
        </p:txBody>
      </p:sp>
      <p:graphicFrame>
        <p:nvGraphicFramePr>
          <p:cNvPr id="139285" name="Object 21"/>
          <p:cNvGraphicFramePr>
            <a:graphicFrameLocks noChangeAspect="1"/>
          </p:cNvGraphicFramePr>
          <p:nvPr/>
        </p:nvGraphicFramePr>
        <p:xfrm>
          <a:off x="4419600" y="2590801"/>
          <a:ext cx="3505200" cy="1901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6" name="CorelDRAW" r:id="rId5" imgW="1932753" imgH="1048187" progId="CorelDRAW.Graphic.13">
                  <p:embed/>
                </p:oleObj>
              </mc:Choice>
              <mc:Fallback>
                <p:oleObj name="CorelDRAW" r:id="rId5" imgW="1932753" imgH="1048187" progId="CorelDRAW.Graphic.1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590801"/>
                        <a:ext cx="3505200" cy="1901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956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2743200" y="2256503"/>
            <a:ext cx="6223819" cy="58994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5456901" y="1666568"/>
            <a:ext cx="1" cy="619432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2772697" y="2315497"/>
            <a:ext cx="14749" cy="100289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8952270" y="2256503"/>
            <a:ext cx="14749" cy="100289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86749" y="1312607"/>
            <a:ext cx="1946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Memory Element</a:t>
            </a:r>
            <a:endParaRPr lang="en-GB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2482645" y="3318387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Latch</a:t>
            </a:r>
            <a:endParaRPr lang="en-GB" sz="20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8554062" y="3177325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Flip-Flop</a:t>
            </a:r>
            <a:endParaRPr lang="en-GB" sz="20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4205745" y="3805705"/>
            <a:ext cx="3829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Stores 1-bit of Information (1 or 0 )</a:t>
            </a:r>
            <a:endParaRPr lang="en-GB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4205745" y="4352055"/>
            <a:ext cx="3829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Two Stable States –  Bi-stable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750405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2743200" y="2256503"/>
            <a:ext cx="6223819" cy="58994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5456901" y="1666568"/>
            <a:ext cx="1" cy="619432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2772697" y="2315497"/>
            <a:ext cx="14749" cy="100289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8952270" y="2256503"/>
            <a:ext cx="14749" cy="100289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86749" y="1312607"/>
            <a:ext cx="1946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Memory Element</a:t>
            </a:r>
            <a:endParaRPr lang="en-GB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2482645" y="3318387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Latch</a:t>
            </a:r>
            <a:endParaRPr lang="en-GB" sz="20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8554062" y="3177325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Flip-Flop</a:t>
            </a:r>
            <a:endParaRPr lang="en-GB" sz="2000" b="1" dirty="0"/>
          </a:p>
        </p:txBody>
      </p:sp>
      <p:sp>
        <p:nvSpPr>
          <p:cNvPr id="5" name="Rounded Rectangle 4"/>
          <p:cNvSpPr/>
          <p:nvPr/>
        </p:nvSpPr>
        <p:spPr>
          <a:xfrm>
            <a:off x="2374490" y="4175037"/>
            <a:ext cx="1081548" cy="77125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Latch</a:t>
            </a:r>
            <a:endParaRPr lang="en-GB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1622323" y="4560665"/>
            <a:ext cx="752167" cy="0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3456038" y="4554246"/>
            <a:ext cx="752167" cy="0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40660" y="4321277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Input</a:t>
            </a:r>
            <a:endParaRPr lang="en-GB" sz="20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4208205" y="4321277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Output</a:t>
            </a:r>
            <a:endParaRPr lang="en-GB" sz="20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3589951" y="4154136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1</a:t>
            </a:r>
            <a:endParaRPr lang="en-GB" sz="20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1769807" y="4154136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1</a:t>
            </a: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1519258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2743200" y="2256503"/>
            <a:ext cx="6223819" cy="58994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5456901" y="1666568"/>
            <a:ext cx="1" cy="619432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2772697" y="2315497"/>
            <a:ext cx="14749" cy="100289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8952270" y="2256503"/>
            <a:ext cx="14749" cy="100289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86749" y="1312607"/>
            <a:ext cx="1946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Memory Element</a:t>
            </a:r>
            <a:endParaRPr lang="en-GB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2482645" y="3318387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Latch</a:t>
            </a:r>
            <a:endParaRPr lang="en-GB" sz="20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8554062" y="3177325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Flip-Flop</a:t>
            </a:r>
            <a:endParaRPr lang="en-GB" sz="2000" b="1" dirty="0"/>
          </a:p>
        </p:txBody>
      </p:sp>
      <p:sp>
        <p:nvSpPr>
          <p:cNvPr id="5" name="Rounded Rectangle 4"/>
          <p:cNvSpPr/>
          <p:nvPr/>
        </p:nvSpPr>
        <p:spPr>
          <a:xfrm>
            <a:off x="2374490" y="4175037"/>
            <a:ext cx="1081548" cy="77125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Latch</a:t>
            </a:r>
            <a:endParaRPr lang="en-GB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1622323" y="4560665"/>
            <a:ext cx="752167" cy="0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3456038" y="4554246"/>
            <a:ext cx="752167" cy="0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40660" y="4321277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Input</a:t>
            </a:r>
            <a:endParaRPr lang="en-GB" sz="20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4208205" y="4321277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Output</a:t>
            </a:r>
            <a:endParaRPr lang="en-GB" sz="20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3589951" y="4154136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0</a:t>
            </a:r>
            <a:endParaRPr lang="en-GB" sz="2000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1769807" y="4154136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0</a:t>
            </a:r>
            <a:endParaRPr lang="en-GB" sz="20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1885335" y="5407999"/>
            <a:ext cx="1946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Transparent Latch</a:t>
            </a:r>
            <a:endParaRPr lang="en-GB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1514606" y="5109130"/>
            <a:ext cx="35262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chemeClr val="accent6"/>
                </a:solidFill>
              </a:rPr>
              <a:t>Asynchronous Memory Element</a:t>
            </a:r>
            <a:endParaRPr lang="en-GB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1910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2743200" y="2256503"/>
            <a:ext cx="6223819" cy="58994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5456901" y="1666568"/>
            <a:ext cx="1" cy="619432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2772697" y="2315497"/>
            <a:ext cx="14749" cy="100289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8952270" y="2256503"/>
            <a:ext cx="14749" cy="100289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86749" y="1312607"/>
            <a:ext cx="1946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Memory Element</a:t>
            </a:r>
            <a:endParaRPr lang="en-GB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2482645" y="3318387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Latch</a:t>
            </a:r>
            <a:endParaRPr lang="en-GB" sz="20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8554062" y="3177325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Flip-Flop</a:t>
            </a:r>
            <a:endParaRPr lang="en-GB" sz="2000" b="1" dirty="0"/>
          </a:p>
        </p:txBody>
      </p:sp>
      <p:sp>
        <p:nvSpPr>
          <p:cNvPr id="5" name="Rounded Rectangle 4"/>
          <p:cNvSpPr/>
          <p:nvPr/>
        </p:nvSpPr>
        <p:spPr>
          <a:xfrm>
            <a:off x="2389730" y="4175037"/>
            <a:ext cx="1081548" cy="77125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Gated</a:t>
            </a:r>
          </a:p>
          <a:p>
            <a:pPr algn="ctr"/>
            <a:r>
              <a:rPr lang="en-GB" dirty="0" smtClean="0"/>
              <a:t>Latch</a:t>
            </a:r>
            <a:endParaRPr lang="en-GB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1622323" y="4321277"/>
            <a:ext cx="752167" cy="0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3456038" y="4554246"/>
            <a:ext cx="752167" cy="0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96414" y="4061080"/>
            <a:ext cx="825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Input</a:t>
            </a:r>
            <a:endParaRPr lang="en-GB" sz="20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4208205" y="4321277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Output</a:t>
            </a:r>
            <a:endParaRPr lang="en-GB" sz="2000" b="1" dirty="0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1622323" y="4676703"/>
            <a:ext cx="752167" cy="0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57085" y="4433083"/>
            <a:ext cx="101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Enable</a:t>
            </a: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2887024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4586749" y="1312607"/>
            <a:ext cx="1946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Memory Element</a:t>
            </a:r>
            <a:endParaRPr lang="en-GB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6783765" y="2409505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Output</a:t>
            </a:r>
            <a:endParaRPr lang="en-GB" sz="2000" b="1" dirty="0"/>
          </a:p>
        </p:txBody>
      </p:sp>
      <p:grpSp>
        <p:nvGrpSpPr>
          <p:cNvPr id="3" name="Group 2"/>
          <p:cNvGrpSpPr/>
          <p:nvPr/>
        </p:nvGrpSpPr>
        <p:grpSpPr>
          <a:xfrm>
            <a:off x="3302165" y="2116394"/>
            <a:ext cx="3451120" cy="885214"/>
            <a:chOff x="757085" y="4061080"/>
            <a:chExt cx="3451120" cy="885214"/>
          </a:xfrm>
        </p:grpSpPr>
        <p:sp>
          <p:nvSpPr>
            <p:cNvPr id="5" name="Rounded Rectangle 4"/>
            <p:cNvSpPr/>
            <p:nvPr/>
          </p:nvSpPr>
          <p:spPr>
            <a:xfrm>
              <a:off x="2389730" y="4175037"/>
              <a:ext cx="1081548" cy="771257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Gated</a:t>
              </a:r>
            </a:p>
            <a:p>
              <a:pPr algn="ctr"/>
              <a:r>
                <a:rPr lang="en-GB" dirty="0" smtClean="0"/>
                <a:t>Latch</a:t>
              </a:r>
              <a:endParaRPr lang="en-GB" dirty="0"/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1622323" y="4321277"/>
              <a:ext cx="752167" cy="0"/>
            </a:xfrm>
            <a:prstGeom prst="straightConnector1">
              <a:avLst/>
            </a:prstGeom>
            <a:ln w="571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3456038" y="4554246"/>
              <a:ext cx="752167" cy="0"/>
            </a:xfrm>
            <a:prstGeom prst="straightConnector1">
              <a:avLst/>
            </a:prstGeom>
            <a:ln w="571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796414" y="4061080"/>
              <a:ext cx="825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1" dirty="0" smtClean="0"/>
                <a:t>Input</a:t>
              </a:r>
              <a:endParaRPr lang="en-GB" sz="2000" b="1" dirty="0"/>
            </a:p>
          </p:txBody>
        </p:sp>
        <p:cxnSp>
          <p:nvCxnSpPr>
            <p:cNvPr id="27" name="Straight Arrow Connector 26"/>
            <p:cNvCxnSpPr/>
            <p:nvPr/>
          </p:nvCxnSpPr>
          <p:spPr>
            <a:xfrm>
              <a:off x="1622323" y="4676703"/>
              <a:ext cx="752167" cy="0"/>
            </a:xfrm>
            <a:prstGeom prst="straightConnector1">
              <a:avLst/>
            </a:prstGeom>
            <a:ln w="571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757085" y="4433083"/>
              <a:ext cx="10148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1" dirty="0" smtClean="0"/>
                <a:t>Enable</a:t>
              </a:r>
              <a:endParaRPr lang="en-GB" sz="2000" b="1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762925" y="2516504"/>
            <a:ext cx="1508760" cy="317180"/>
            <a:chOff x="1676400" y="3881060"/>
            <a:chExt cx="1508760" cy="317180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1676400" y="4167760"/>
              <a:ext cx="304800" cy="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V="1">
              <a:off x="1981200" y="3900680"/>
              <a:ext cx="0" cy="2670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996441" y="3900680"/>
              <a:ext cx="304800" cy="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V="1">
              <a:off x="2286000" y="3931160"/>
              <a:ext cx="0" cy="2670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0" y="4183000"/>
              <a:ext cx="304800" cy="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V="1">
              <a:off x="2590800" y="3900680"/>
              <a:ext cx="0" cy="2670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2590800" y="3891920"/>
              <a:ext cx="304800" cy="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V="1">
              <a:off x="2880360" y="3881060"/>
              <a:ext cx="0" cy="2670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2880360" y="4151000"/>
              <a:ext cx="304800" cy="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/>
          <p:cNvSpPr txBox="1"/>
          <p:nvPr/>
        </p:nvSpPr>
        <p:spPr>
          <a:xfrm>
            <a:off x="2200462" y="2040872"/>
            <a:ext cx="1946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chemeClr val="accent4"/>
                </a:solidFill>
              </a:rPr>
              <a:t>CLK</a:t>
            </a:r>
            <a:endParaRPr lang="en-GB" b="1" dirty="0">
              <a:solidFill>
                <a:schemeClr val="accent4"/>
              </a:solidFill>
            </a:endParaRPr>
          </a:p>
        </p:txBody>
      </p:sp>
      <p:grpSp>
        <p:nvGrpSpPr>
          <p:cNvPr id="37" name="Group 36"/>
          <p:cNvGrpSpPr/>
          <p:nvPr/>
        </p:nvGrpSpPr>
        <p:grpSpPr>
          <a:xfrm>
            <a:off x="3961909" y="4650104"/>
            <a:ext cx="1508760" cy="317180"/>
            <a:chOff x="1676400" y="3881060"/>
            <a:chExt cx="1508760" cy="317180"/>
          </a:xfrm>
        </p:grpSpPr>
        <p:cxnSp>
          <p:nvCxnSpPr>
            <p:cNvPr id="38" name="Straight Connector 37"/>
            <p:cNvCxnSpPr/>
            <p:nvPr/>
          </p:nvCxnSpPr>
          <p:spPr>
            <a:xfrm>
              <a:off x="1676400" y="4167760"/>
              <a:ext cx="304800" cy="80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 flipV="1">
              <a:off x="1981200" y="3900680"/>
              <a:ext cx="0" cy="26708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1996441" y="3900680"/>
              <a:ext cx="304800" cy="800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/>
            <p:cNvCxnSpPr/>
            <p:nvPr/>
          </p:nvCxnSpPr>
          <p:spPr>
            <a:xfrm flipV="1">
              <a:off x="2286000" y="3931160"/>
              <a:ext cx="0" cy="26708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2286000" y="4183000"/>
              <a:ext cx="304800" cy="80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flipV="1">
              <a:off x="2590800" y="3900680"/>
              <a:ext cx="0" cy="26708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>
              <a:off x="2590800" y="3891920"/>
              <a:ext cx="304800" cy="800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flipV="1">
              <a:off x="2880360" y="3881060"/>
              <a:ext cx="0" cy="26708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>
              <a:off x="2880360" y="4151000"/>
              <a:ext cx="304800" cy="80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/>
          <p:cNvGrpSpPr/>
          <p:nvPr/>
        </p:nvGrpSpPr>
        <p:grpSpPr>
          <a:xfrm>
            <a:off x="5453952" y="4634864"/>
            <a:ext cx="1508760" cy="317180"/>
            <a:chOff x="1676400" y="3881060"/>
            <a:chExt cx="1508760" cy="317180"/>
          </a:xfrm>
        </p:grpSpPr>
        <p:cxnSp>
          <p:nvCxnSpPr>
            <p:cNvPr id="48" name="Straight Connector 47"/>
            <p:cNvCxnSpPr/>
            <p:nvPr/>
          </p:nvCxnSpPr>
          <p:spPr>
            <a:xfrm>
              <a:off x="1676400" y="4167760"/>
              <a:ext cx="304800" cy="80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V="1">
              <a:off x="1981200" y="3900680"/>
              <a:ext cx="0" cy="26708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1996441" y="3900680"/>
              <a:ext cx="304800" cy="800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V="1">
              <a:off x="2286000" y="3931160"/>
              <a:ext cx="0" cy="26708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2286000" y="4183000"/>
              <a:ext cx="304800" cy="80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V="1">
              <a:off x="2590800" y="3900680"/>
              <a:ext cx="0" cy="26708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2590800" y="3891920"/>
              <a:ext cx="304800" cy="800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flipV="1">
              <a:off x="2880360" y="3881060"/>
              <a:ext cx="0" cy="26708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2880360" y="4151000"/>
              <a:ext cx="304800" cy="80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7" name="TextBox 56"/>
          <p:cNvSpPr txBox="1"/>
          <p:nvPr/>
        </p:nvSpPr>
        <p:spPr>
          <a:xfrm>
            <a:off x="4434350" y="4041676"/>
            <a:ext cx="1946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Level Sensitive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1245705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/>
        </p:nvSpPr>
        <p:spPr>
          <a:xfrm>
            <a:off x="4586749" y="1312607"/>
            <a:ext cx="1946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Memory Element</a:t>
            </a:r>
            <a:endParaRPr lang="en-GB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6783765" y="2409505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Output</a:t>
            </a:r>
            <a:endParaRPr lang="en-GB" sz="2000" b="1" dirty="0"/>
          </a:p>
        </p:txBody>
      </p:sp>
      <p:grpSp>
        <p:nvGrpSpPr>
          <p:cNvPr id="3" name="Group 2"/>
          <p:cNvGrpSpPr/>
          <p:nvPr/>
        </p:nvGrpSpPr>
        <p:grpSpPr>
          <a:xfrm>
            <a:off x="3302165" y="2116394"/>
            <a:ext cx="3451120" cy="885214"/>
            <a:chOff x="757085" y="4061080"/>
            <a:chExt cx="3451120" cy="885214"/>
          </a:xfrm>
        </p:grpSpPr>
        <p:sp>
          <p:nvSpPr>
            <p:cNvPr id="5" name="Rounded Rectangle 4"/>
            <p:cNvSpPr/>
            <p:nvPr/>
          </p:nvSpPr>
          <p:spPr>
            <a:xfrm>
              <a:off x="2389730" y="4175037"/>
              <a:ext cx="1081548" cy="771257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Gated</a:t>
              </a:r>
            </a:p>
            <a:p>
              <a:pPr algn="ctr"/>
              <a:r>
                <a:rPr lang="en-GB" dirty="0" smtClean="0"/>
                <a:t>Latch</a:t>
              </a:r>
              <a:endParaRPr lang="en-GB" dirty="0"/>
            </a:p>
          </p:txBody>
        </p:sp>
        <p:cxnSp>
          <p:nvCxnSpPr>
            <p:cNvPr id="7" name="Straight Arrow Connector 6"/>
            <p:cNvCxnSpPr/>
            <p:nvPr/>
          </p:nvCxnSpPr>
          <p:spPr>
            <a:xfrm>
              <a:off x="1622323" y="4321277"/>
              <a:ext cx="752167" cy="0"/>
            </a:xfrm>
            <a:prstGeom prst="straightConnector1">
              <a:avLst/>
            </a:prstGeom>
            <a:ln w="571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>
              <a:off x="3456038" y="4554246"/>
              <a:ext cx="752167" cy="0"/>
            </a:xfrm>
            <a:prstGeom prst="straightConnector1">
              <a:avLst/>
            </a:prstGeom>
            <a:ln w="571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796414" y="4061080"/>
              <a:ext cx="825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1" dirty="0" smtClean="0"/>
                <a:t>Input</a:t>
              </a:r>
              <a:endParaRPr lang="en-GB" sz="2000" b="1" dirty="0"/>
            </a:p>
          </p:txBody>
        </p:sp>
        <p:cxnSp>
          <p:nvCxnSpPr>
            <p:cNvPr id="27" name="Straight Arrow Connector 26"/>
            <p:cNvCxnSpPr/>
            <p:nvPr/>
          </p:nvCxnSpPr>
          <p:spPr>
            <a:xfrm>
              <a:off x="1622323" y="4676703"/>
              <a:ext cx="752167" cy="0"/>
            </a:xfrm>
            <a:prstGeom prst="straightConnector1">
              <a:avLst/>
            </a:prstGeom>
            <a:ln w="571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757085" y="4433083"/>
              <a:ext cx="10148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1" dirty="0" smtClean="0"/>
                <a:t>Enable</a:t>
              </a:r>
              <a:endParaRPr lang="en-GB" sz="2000" b="1" dirty="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1762925" y="2516504"/>
            <a:ext cx="1508760" cy="317180"/>
            <a:chOff x="1676400" y="3881060"/>
            <a:chExt cx="1508760" cy="317180"/>
          </a:xfrm>
        </p:grpSpPr>
        <p:cxnSp>
          <p:nvCxnSpPr>
            <p:cNvPr id="8" name="Straight Connector 7"/>
            <p:cNvCxnSpPr/>
            <p:nvPr/>
          </p:nvCxnSpPr>
          <p:spPr>
            <a:xfrm>
              <a:off x="1676400" y="4167760"/>
              <a:ext cx="304800" cy="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V="1">
              <a:off x="1981200" y="3900680"/>
              <a:ext cx="0" cy="2670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996441" y="3900680"/>
              <a:ext cx="304800" cy="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V="1">
              <a:off x="2286000" y="3931160"/>
              <a:ext cx="0" cy="2670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0" y="4183000"/>
              <a:ext cx="304800" cy="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 flipV="1">
              <a:off x="2590800" y="3900680"/>
              <a:ext cx="0" cy="2670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2590800" y="3891920"/>
              <a:ext cx="304800" cy="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V="1">
              <a:off x="2880360" y="3881060"/>
              <a:ext cx="0" cy="2670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2880360" y="4151000"/>
              <a:ext cx="304800" cy="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TextBox 34"/>
          <p:cNvSpPr txBox="1"/>
          <p:nvPr/>
        </p:nvSpPr>
        <p:spPr>
          <a:xfrm>
            <a:off x="2200462" y="2040872"/>
            <a:ext cx="1946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chemeClr val="accent4"/>
                </a:solidFill>
              </a:rPr>
              <a:t>CLK</a:t>
            </a:r>
            <a:endParaRPr lang="en-GB" b="1" dirty="0">
              <a:solidFill>
                <a:schemeClr val="accent4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6734" t="44083" r="40000" b="19340"/>
          <a:stretch/>
        </p:blipFill>
        <p:spPr>
          <a:xfrm>
            <a:off x="2829725" y="3243932"/>
            <a:ext cx="4839436" cy="299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888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 flipV="1">
            <a:off x="2743200" y="2256503"/>
            <a:ext cx="6223819" cy="58994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H="1">
            <a:off x="5456901" y="1666568"/>
            <a:ext cx="1" cy="619432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2772697" y="2315497"/>
            <a:ext cx="14749" cy="100289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8952270" y="2256503"/>
            <a:ext cx="14749" cy="1002890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86749" y="1312607"/>
            <a:ext cx="1946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Memory Element</a:t>
            </a:r>
            <a:endParaRPr lang="en-GB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2482645" y="3318387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Latch</a:t>
            </a:r>
            <a:endParaRPr lang="en-GB" sz="20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8554062" y="3177325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Flip-Flop</a:t>
            </a:r>
            <a:endParaRPr lang="en-GB" sz="2000" b="1" dirty="0"/>
          </a:p>
        </p:txBody>
      </p:sp>
      <p:sp>
        <p:nvSpPr>
          <p:cNvPr id="5" name="Rounded Rectangle 4"/>
          <p:cNvSpPr/>
          <p:nvPr/>
        </p:nvSpPr>
        <p:spPr>
          <a:xfrm>
            <a:off x="2389730" y="4175037"/>
            <a:ext cx="1081548" cy="771257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Gated</a:t>
            </a:r>
          </a:p>
          <a:p>
            <a:pPr algn="ctr"/>
            <a:r>
              <a:rPr lang="en-GB" dirty="0" smtClean="0"/>
              <a:t>Latch</a:t>
            </a:r>
            <a:endParaRPr lang="en-GB" dirty="0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1622323" y="4321277"/>
            <a:ext cx="752167" cy="0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3456038" y="4554246"/>
            <a:ext cx="752167" cy="0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96414" y="4061080"/>
            <a:ext cx="825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Input</a:t>
            </a:r>
            <a:endParaRPr lang="en-GB" sz="20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4159044" y="4321277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Output</a:t>
            </a:r>
            <a:endParaRPr lang="en-GB" sz="2000" b="1" dirty="0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1622323" y="4676703"/>
            <a:ext cx="752167" cy="0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57085" y="4433083"/>
            <a:ext cx="10148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Enable</a:t>
            </a:r>
            <a:endParaRPr lang="en-GB" sz="2000" b="1" dirty="0"/>
          </a:p>
        </p:txBody>
      </p:sp>
      <p:sp>
        <p:nvSpPr>
          <p:cNvPr id="16" name="Rounded Rectangle 15"/>
          <p:cNvSpPr/>
          <p:nvPr/>
        </p:nvSpPr>
        <p:spPr>
          <a:xfrm>
            <a:off x="8554062" y="3727000"/>
            <a:ext cx="1081548" cy="771257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Flip-Flop</a:t>
            </a:r>
            <a:endParaRPr lang="en-GB" dirty="0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7801895" y="3913238"/>
            <a:ext cx="752167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7801894" y="4357154"/>
            <a:ext cx="752167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9635610" y="4070912"/>
            <a:ext cx="752167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059559" y="3684265"/>
            <a:ext cx="825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Input</a:t>
            </a:r>
            <a:endParaRPr lang="en-GB" sz="2000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7059559" y="4125292"/>
            <a:ext cx="825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CLK</a:t>
            </a:r>
            <a:endParaRPr lang="en-GB" sz="20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10321407" y="3849903"/>
            <a:ext cx="825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Input</a:t>
            </a:r>
            <a:endParaRPr lang="en-GB" sz="2000" b="1" dirty="0"/>
          </a:p>
        </p:txBody>
      </p:sp>
      <p:cxnSp>
        <p:nvCxnSpPr>
          <p:cNvPr id="6" name="Straight Arrow Connector 5"/>
          <p:cNvCxnSpPr/>
          <p:nvPr/>
        </p:nvCxnSpPr>
        <p:spPr>
          <a:xfrm flipH="1" flipV="1">
            <a:off x="7776065" y="5301993"/>
            <a:ext cx="14750" cy="7158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H="1" flipV="1">
            <a:off x="8560171" y="5301993"/>
            <a:ext cx="14750" cy="7158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 flipV="1">
            <a:off x="9309928" y="5295843"/>
            <a:ext cx="14750" cy="7158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7392606" y="6017875"/>
            <a:ext cx="38345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7783440" y="5301993"/>
            <a:ext cx="38345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 flipH="1" flipV="1">
            <a:off x="8152172" y="5301993"/>
            <a:ext cx="22102" cy="7158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8174274" y="6011725"/>
            <a:ext cx="38345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8554061" y="5295843"/>
            <a:ext cx="38345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flipH="1" flipV="1">
            <a:off x="8941226" y="5295843"/>
            <a:ext cx="22102" cy="7158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8967016" y="6011725"/>
            <a:ext cx="38345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9309928" y="5290332"/>
            <a:ext cx="38345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H="1" flipV="1">
            <a:off x="9714281" y="5266049"/>
            <a:ext cx="22102" cy="7158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9714281" y="5981931"/>
            <a:ext cx="38345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959224" y="4805970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Edge Triggered</a:t>
            </a:r>
            <a:endParaRPr lang="en-GB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pSp>
        <p:nvGrpSpPr>
          <p:cNvPr id="45" name="Group 44"/>
          <p:cNvGrpSpPr/>
          <p:nvPr/>
        </p:nvGrpSpPr>
        <p:grpSpPr>
          <a:xfrm>
            <a:off x="1428628" y="5636164"/>
            <a:ext cx="1508760" cy="317180"/>
            <a:chOff x="1676400" y="3881060"/>
            <a:chExt cx="1508760" cy="317180"/>
          </a:xfrm>
        </p:grpSpPr>
        <p:cxnSp>
          <p:nvCxnSpPr>
            <p:cNvPr id="46" name="Straight Connector 45"/>
            <p:cNvCxnSpPr/>
            <p:nvPr/>
          </p:nvCxnSpPr>
          <p:spPr>
            <a:xfrm>
              <a:off x="1676400" y="4167760"/>
              <a:ext cx="304800" cy="80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V="1">
              <a:off x="1981200" y="3900680"/>
              <a:ext cx="0" cy="26708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>
              <a:off x="1996441" y="3900680"/>
              <a:ext cx="304800" cy="8000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V="1">
              <a:off x="2286000" y="3931160"/>
              <a:ext cx="0" cy="26708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2286000" y="4183000"/>
              <a:ext cx="304800" cy="80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V="1">
              <a:off x="2590800" y="3900680"/>
              <a:ext cx="0" cy="26708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2590800" y="3891920"/>
              <a:ext cx="304800" cy="800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/>
            <p:cNvCxnSpPr/>
            <p:nvPr/>
          </p:nvCxnSpPr>
          <p:spPr>
            <a:xfrm flipV="1">
              <a:off x="2880360" y="3881060"/>
              <a:ext cx="0" cy="267080"/>
            </a:xfrm>
            <a:prstGeom prst="line">
              <a:avLst/>
            </a:prstGeom>
            <a:ln w="571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>
              <a:off x="2880360" y="4151000"/>
              <a:ext cx="304800" cy="8000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5" name="TextBox 64"/>
          <p:cNvSpPr txBox="1"/>
          <p:nvPr/>
        </p:nvSpPr>
        <p:spPr>
          <a:xfrm>
            <a:off x="1509252" y="5160532"/>
            <a:ext cx="1946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/>
              <a:t>Level Triggered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860990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574888" y="1068306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Flip-Flop</a:t>
            </a:r>
            <a:endParaRPr lang="en-GB" sz="2000" b="1" dirty="0"/>
          </a:p>
        </p:txBody>
      </p:sp>
      <p:sp>
        <p:nvSpPr>
          <p:cNvPr id="4" name="Rounded Rectangle 3"/>
          <p:cNvSpPr/>
          <p:nvPr/>
        </p:nvSpPr>
        <p:spPr>
          <a:xfrm>
            <a:off x="5574888" y="1617981"/>
            <a:ext cx="1081548" cy="771257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Flip-Flop</a:t>
            </a:r>
            <a:endParaRPr lang="en-GB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822721" y="1804219"/>
            <a:ext cx="752167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4822720" y="2248135"/>
            <a:ext cx="752167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6656436" y="1961893"/>
            <a:ext cx="752167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080385" y="1575246"/>
            <a:ext cx="825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Input</a:t>
            </a:r>
            <a:endParaRPr lang="en-GB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080385" y="2016273"/>
            <a:ext cx="825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CLK</a:t>
            </a:r>
            <a:endParaRPr lang="en-GB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342233" y="1740884"/>
            <a:ext cx="825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Input</a:t>
            </a:r>
            <a:endParaRPr lang="en-GB" sz="2000" b="1" dirty="0"/>
          </a:p>
        </p:txBody>
      </p:sp>
      <p:cxnSp>
        <p:nvCxnSpPr>
          <p:cNvPr id="11" name="Straight Arrow Connector 10"/>
          <p:cNvCxnSpPr/>
          <p:nvPr/>
        </p:nvCxnSpPr>
        <p:spPr>
          <a:xfrm flipH="1" flipV="1">
            <a:off x="4796891" y="3192974"/>
            <a:ext cx="14750" cy="7158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5580997" y="3192974"/>
            <a:ext cx="14750" cy="7158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 flipV="1">
            <a:off x="6330754" y="3186824"/>
            <a:ext cx="14750" cy="71588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413432" y="3908856"/>
            <a:ext cx="38345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804266" y="3192974"/>
            <a:ext cx="38345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 flipV="1">
            <a:off x="5172998" y="3192974"/>
            <a:ext cx="22102" cy="7158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5195100" y="3902706"/>
            <a:ext cx="38345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574887" y="3186824"/>
            <a:ext cx="38345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 flipV="1">
            <a:off x="5962052" y="3186824"/>
            <a:ext cx="22102" cy="7158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987842" y="3902706"/>
            <a:ext cx="38345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330754" y="3181313"/>
            <a:ext cx="38345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 flipV="1">
            <a:off x="6735107" y="3157030"/>
            <a:ext cx="22102" cy="7158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735107" y="3872912"/>
            <a:ext cx="38345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435972" y="3344710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Rising Edge </a:t>
            </a:r>
            <a:endParaRPr lang="en-GB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4410759" y="5085269"/>
            <a:ext cx="38345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801593" y="4369387"/>
            <a:ext cx="38345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 flipV="1">
            <a:off x="4798078" y="4369387"/>
            <a:ext cx="22102" cy="7158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>
            <a:off x="5192427" y="5079119"/>
            <a:ext cx="38345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>
            <a:off x="5572214" y="4363237"/>
            <a:ext cx="38345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H="1" flipV="1">
            <a:off x="5577321" y="4345461"/>
            <a:ext cx="22102" cy="7158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5985169" y="5079119"/>
            <a:ext cx="38345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6328081" y="4357726"/>
            <a:ext cx="38345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6732434" y="5049325"/>
            <a:ext cx="383459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2286114" y="4527273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Falling Edge </a:t>
            </a:r>
            <a:endParaRPr lang="en-GB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55" name="Straight Connector 54"/>
          <p:cNvCxnSpPr/>
          <p:nvPr/>
        </p:nvCxnSpPr>
        <p:spPr>
          <a:xfrm flipH="1" flipV="1">
            <a:off x="6336074" y="4395829"/>
            <a:ext cx="22102" cy="71588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6691679" y="4362515"/>
            <a:ext cx="35836" cy="7456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>
            <a:off x="5176452" y="4352556"/>
            <a:ext cx="35836" cy="7456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5958957" y="4352556"/>
            <a:ext cx="35836" cy="7456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7531536" y="3472802"/>
            <a:ext cx="3129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Positive Edge Triggered</a:t>
            </a:r>
            <a:endParaRPr lang="en-GB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7521674" y="4725394"/>
            <a:ext cx="3129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Negative Edge Triggered</a:t>
            </a:r>
            <a:endParaRPr lang="en-GB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43295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574888" y="1068306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Flip-Flop</a:t>
            </a:r>
            <a:endParaRPr lang="en-GB" sz="2000" b="1" dirty="0"/>
          </a:p>
        </p:txBody>
      </p:sp>
      <p:sp>
        <p:nvSpPr>
          <p:cNvPr id="4" name="Rounded Rectangle 3"/>
          <p:cNvSpPr/>
          <p:nvPr/>
        </p:nvSpPr>
        <p:spPr>
          <a:xfrm>
            <a:off x="5574888" y="1617981"/>
            <a:ext cx="1081548" cy="771257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Flip-Flop</a:t>
            </a:r>
            <a:endParaRPr lang="en-GB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822721" y="1804219"/>
            <a:ext cx="752167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4822720" y="2248135"/>
            <a:ext cx="752167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6656436" y="1961893"/>
            <a:ext cx="752167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080385" y="1575246"/>
            <a:ext cx="825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Input</a:t>
            </a:r>
            <a:endParaRPr lang="en-GB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080385" y="2016273"/>
            <a:ext cx="825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CLK</a:t>
            </a:r>
            <a:endParaRPr lang="en-GB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342233" y="1740884"/>
            <a:ext cx="825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Input</a:t>
            </a:r>
            <a:endParaRPr lang="en-GB" sz="20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7460" t="43895" r="37096" b="20846"/>
          <a:stretch/>
        </p:blipFill>
        <p:spPr>
          <a:xfrm>
            <a:off x="3392123" y="3345658"/>
            <a:ext cx="4970212" cy="277987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4626064" y="2808829"/>
            <a:ext cx="3129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Positive Edge Triggered</a:t>
            </a:r>
            <a:endParaRPr lang="en-GB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00584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574888" y="1068306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Flip-Flop</a:t>
            </a:r>
            <a:endParaRPr lang="en-GB" sz="2000" b="1" dirty="0"/>
          </a:p>
        </p:txBody>
      </p:sp>
      <p:sp>
        <p:nvSpPr>
          <p:cNvPr id="4" name="Rounded Rectangle 3"/>
          <p:cNvSpPr/>
          <p:nvPr/>
        </p:nvSpPr>
        <p:spPr>
          <a:xfrm>
            <a:off x="5574888" y="1617981"/>
            <a:ext cx="1081548" cy="771257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Flip-Flop</a:t>
            </a:r>
            <a:endParaRPr lang="en-GB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822721" y="1804219"/>
            <a:ext cx="752167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4822720" y="2248135"/>
            <a:ext cx="752167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6656436" y="1961893"/>
            <a:ext cx="752167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080385" y="1575246"/>
            <a:ext cx="825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Input</a:t>
            </a:r>
            <a:endParaRPr lang="en-GB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4080385" y="2016273"/>
            <a:ext cx="825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CLK</a:t>
            </a:r>
            <a:endParaRPr lang="en-GB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342233" y="1740884"/>
            <a:ext cx="825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Input</a:t>
            </a:r>
            <a:endParaRPr lang="en-GB" sz="20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4626064" y="2860298"/>
            <a:ext cx="3129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Negative Edge Triggered</a:t>
            </a:r>
            <a:endParaRPr lang="en-GB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2"/>
          <a:srcRect l="27218" t="44083" r="38307" b="21784"/>
          <a:stretch/>
        </p:blipFill>
        <p:spPr>
          <a:xfrm>
            <a:off x="3569102" y="3304214"/>
            <a:ext cx="5093120" cy="2835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520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34109" y="1049240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Flip-Flop</a:t>
            </a:r>
            <a:endParaRPr lang="en-GB" sz="2000" b="1" dirty="0"/>
          </a:p>
        </p:txBody>
      </p:sp>
      <p:sp>
        <p:nvSpPr>
          <p:cNvPr id="4" name="Rounded Rectangle 3"/>
          <p:cNvSpPr/>
          <p:nvPr/>
        </p:nvSpPr>
        <p:spPr>
          <a:xfrm>
            <a:off x="2334109" y="1598915"/>
            <a:ext cx="1081548" cy="771257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Flip-Flop</a:t>
            </a:r>
            <a:endParaRPr lang="en-GB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1581942" y="1785153"/>
            <a:ext cx="752167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1581941" y="2229069"/>
            <a:ext cx="752167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3415657" y="1942827"/>
            <a:ext cx="752167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39606" y="1556180"/>
            <a:ext cx="825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Input</a:t>
            </a:r>
            <a:endParaRPr lang="en-GB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839606" y="1997207"/>
            <a:ext cx="825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CLK</a:t>
            </a:r>
            <a:endParaRPr lang="en-GB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4101454" y="1721818"/>
            <a:ext cx="825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Input</a:t>
            </a:r>
            <a:endParaRPr lang="en-GB" sz="2000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7460" t="43895" r="37096" b="20846"/>
          <a:stretch/>
        </p:blipFill>
        <p:spPr>
          <a:xfrm>
            <a:off x="885677" y="3876774"/>
            <a:ext cx="4020617" cy="224876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31356" y="3192287"/>
            <a:ext cx="31291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Positive Edge Triggered</a:t>
            </a:r>
            <a:endParaRPr lang="en-GB" sz="2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184254" y="1496805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Output</a:t>
            </a:r>
            <a:endParaRPr lang="en-GB" sz="2000" b="1" dirty="0"/>
          </a:p>
        </p:txBody>
      </p:sp>
      <p:grpSp>
        <p:nvGrpSpPr>
          <p:cNvPr id="13" name="Group 12"/>
          <p:cNvGrpSpPr/>
          <p:nvPr/>
        </p:nvGrpSpPr>
        <p:grpSpPr>
          <a:xfrm>
            <a:off x="6733134" y="1281292"/>
            <a:ext cx="3451120" cy="885214"/>
            <a:chOff x="757085" y="4061080"/>
            <a:chExt cx="3451120" cy="885214"/>
          </a:xfrm>
        </p:grpSpPr>
        <p:sp>
          <p:nvSpPr>
            <p:cNvPr id="14" name="Rounded Rectangle 13"/>
            <p:cNvSpPr/>
            <p:nvPr/>
          </p:nvSpPr>
          <p:spPr>
            <a:xfrm>
              <a:off x="2389730" y="4175037"/>
              <a:ext cx="1081548" cy="771257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Gated</a:t>
              </a:r>
            </a:p>
            <a:p>
              <a:pPr algn="ctr"/>
              <a:r>
                <a:rPr lang="en-GB" dirty="0" smtClean="0"/>
                <a:t>Latch</a:t>
              </a:r>
              <a:endParaRPr lang="en-GB" dirty="0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622323" y="4321277"/>
              <a:ext cx="752167" cy="0"/>
            </a:xfrm>
            <a:prstGeom prst="straightConnector1">
              <a:avLst/>
            </a:prstGeom>
            <a:ln w="571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3456038" y="4554246"/>
              <a:ext cx="752167" cy="0"/>
            </a:xfrm>
            <a:prstGeom prst="straightConnector1">
              <a:avLst/>
            </a:prstGeom>
            <a:ln w="571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796414" y="4061080"/>
              <a:ext cx="825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1" dirty="0" smtClean="0"/>
                <a:t>Input</a:t>
              </a:r>
              <a:endParaRPr lang="en-GB" sz="2000" b="1" dirty="0"/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>
              <a:off x="1622323" y="4676703"/>
              <a:ext cx="752167" cy="0"/>
            </a:xfrm>
            <a:prstGeom prst="straightConnector1">
              <a:avLst/>
            </a:prstGeom>
            <a:ln w="571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757085" y="4433083"/>
              <a:ext cx="10148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1" dirty="0" smtClean="0"/>
                <a:t>Enable</a:t>
              </a:r>
              <a:endParaRPr lang="en-GB" sz="2000" b="1" dirty="0"/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5192204" y="1661682"/>
            <a:ext cx="1508760" cy="317180"/>
            <a:chOff x="1676400" y="3881060"/>
            <a:chExt cx="1508760" cy="317180"/>
          </a:xfrm>
        </p:grpSpPr>
        <p:cxnSp>
          <p:nvCxnSpPr>
            <p:cNvPr id="21" name="Straight Connector 20"/>
            <p:cNvCxnSpPr/>
            <p:nvPr/>
          </p:nvCxnSpPr>
          <p:spPr>
            <a:xfrm>
              <a:off x="1676400" y="4167760"/>
              <a:ext cx="304800" cy="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V="1">
              <a:off x="1981200" y="3900680"/>
              <a:ext cx="0" cy="2670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1996441" y="3900680"/>
              <a:ext cx="304800" cy="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/>
            <p:nvPr/>
          </p:nvCxnSpPr>
          <p:spPr>
            <a:xfrm flipV="1">
              <a:off x="2286000" y="3931160"/>
              <a:ext cx="0" cy="2670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2286000" y="4183000"/>
              <a:ext cx="304800" cy="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V="1">
              <a:off x="2590800" y="3900680"/>
              <a:ext cx="0" cy="2670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2590800" y="3891920"/>
              <a:ext cx="304800" cy="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 flipV="1">
              <a:off x="2880360" y="3881060"/>
              <a:ext cx="0" cy="26708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880360" y="4151000"/>
              <a:ext cx="304800" cy="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/>
          <p:cNvSpPr txBox="1"/>
          <p:nvPr/>
        </p:nvSpPr>
        <p:spPr>
          <a:xfrm>
            <a:off x="5598876" y="1311210"/>
            <a:ext cx="1946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 smtClean="0">
                <a:solidFill>
                  <a:schemeClr val="accent4"/>
                </a:solidFill>
              </a:rPr>
              <a:t>CLK</a:t>
            </a:r>
            <a:endParaRPr lang="en-GB" b="1" dirty="0">
              <a:solidFill>
                <a:schemeClr val="accent4"/>
              </a:solidFill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3"/>
          <a:srcRect l="26734" t="44083" r="40000" b="19340"/>
          <a:stretch/>
        </p:blipFill>
        <p:spPr>
          <a:xfrm>
            <a:off x="6291174" y="3133886"/>
            <a:ext cx="4839436" cy="299165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350539" y="756510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Latch</a:t>
            </a:r>
            <a:endParaRPr lang="en-GB" sz="2000" b="1" dirty="0"/>
          </a:p>
        </p:txBody>
      </p:sp>
    </p:spTree>
    <p:extLst>
      <p:ext uri="{BB962C8B-B14F-4D97-AF65-F5344CB8AC3E}">
        <p14:creationId xmlns:p14="http://schemas.microsoft.com/office/powerpoint/2010/main" val="3148210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61614" y="4156062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Flip-Flop</a:t>
            </a:r>
            <a:endParaRPr lang="en-GB" sz="2000" b="1" dirty="0"/>
          </a:p>
        </p:txBody>
      </p:sp>
      <p:sp>
        <p:nvSpPr>
          <p:cNvPr id="4" name="Rounded Rectangle 3"/>
          <p:cNvSpPr/>
          <p:nvPr/>
        </p:nvSpPr>
        <p:spPr>
          <a:xfrm>
            <a:off x="5353459" y="4603272"/>
            <a:ext cx="1081548" cy="771257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Flip-Flop</a:t>
            </a:r>
            <a:endParaRPr lang="en-GB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4601292" y="4789510"/>
            <a:ext cx="752167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4601291" y="5233426"/>
            <a:ext cx="752167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6435007" y="4947184"/>
            <a:ext cx="752167" cy="0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858956" y="4560537"/>
            <a:ext cx="825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Input</a:t>
            </a:r>
            <a:endParaRPr lang="en-GB" sz="20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3858956" y="5001564"/>
            <a:ext cx="825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CLK</a:t>
            </a:r>
            <a:endParaRPr lang="en-GB" sz="20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7120804" y="4726175"/>
            <a:ext cx="8259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Input</a:t>
            </a:r>
            <a:endParaRPr lang="en-GB" sz="20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7137624" y="2154752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Output</a:t>
            </a:r>
            <a:endParaRPr lang="en-GB" sz="2000" b="1" dirty="0"/>
          </a:p>
        </p:txBody>
      </p:sp>
      <p:grpSp>
        <p:nvGrpSpPr>
          <p:cNvPr id="13" name="Group 12"/>
          <p:cNvGrpSpPr/>
          <p:nvPr/>
        </p:nvGrpSpPr>
        <p:grpSpPr>
          <a:xfrm>
            <a:off x="3686504" y="1954697"/>
            <a:ext cx="3451120" cy="885214"/>
            <a:chOff x="757085" y="4061080"/>
            <a:chExt cx="3451120" cy="885214"/>
          </a:xfrm>
        </p:grpSpPr>
        <p:sp>
          <p:nvSpPr>
            <p:cNvPr id="14" name="Rounded Rectangle 13"/>
            <p:cNvSpPr/>
            <p:nvPr/>
          </p:nvSpPr>
          <p:spPr>
            <a:xfrm>
              <a:off x="2389730" y="4175037"/>
              <a:ext cx="1081548" cy="771257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 smtClean="0"/>
                <a:t>Gated</a:t>
              </a:r>
            </a:p>
            <a:p>
              <a:pPr algn="ctr"/>
              <a:r>
                <a:rPr lang="en-GB" dirty="0" smtClean="0"/>
                <a:t>Latch</a:t>
              </a:r>
              <a:endParaRPr lang="en-GB" dirty="0"/>
            </a:p>
          </p:txBody>
        </p:sp>
        <p:cxnSp>
          <p:nvCxnSpPr>
            <p:cNvPr id="15" name="Straight Arrow Connector 14"/>
            <p:cNvCxnSpPr/>
            <p:nvPr/>
          </p:nvCxnSpPr>
          <p:spPr>
            <a:xfrm>
              <a:off x="1622323" y="4321277"/>
              <a:ext cx="752167" cy="0"/>
            </a:xfrm>
            <a:prstGeom prst="straightConnector1">
              <a:avLst/>
            </a:prstGeom>
            <a:ln w="571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3456038" y="4554246"/>
              <a:ext cx="752167" cy="0"/>
            </a:xfrm>
            <a:prstGeom prst="straightConnector1">
              <a:avLst/>
            </a:prstGeom>
            <a:ln w="571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796414" y="4061080"/>
              <a:ext cx="82590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1" dirty="0" smtClean="0"/>
                <a:t>Input</a:t>
              </a:r>
              <a:endParaRPr lang="en-GB" sz="2000" b="1" dirty="0"/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>
              <a:off x="1622323" y="4676703"/>
              <a:ext cx="752167" cy="0"/>
            </a:xfrm>
            <a:prstGeom prst="straightConnector1">
              <a:avLst/>
            </a:prstGeom>
            <a:ln w="571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Box 18"/>
            <p:cNvSpPr txBox="1"/>
            <p:nvPr/>
          </p:nvSpPr>
          <p:spPr>
            <a:xfrm>
              <a:off x="757085" y="4433083"/>
              <a:ext cx="101487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000" b="1" dirty="0" smtClean="0"/>
                <a:t>Enable</a:t>
              </a:r>
              <a:endParaRPr lang="en-GB" sz="2000" b="1" dirty="0"/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5124468" y="1437017"/>
            <a:ext cx="1946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 smtClean="0"/>
              <a:t>Gated Latch</a:t>
            </a:r>
            <a:endParaRPr lang="en-GB" sz="2000" b="1" dirty="0"/>
          </a:p>
        </p:txBody>
      </p:sp>
      <p:sp>
        <p:nvSpPr>
          <p:cNvPr id="33" name="Rounded Rectangle 32"/>
          <p:cNvSpPr/>
          <p:nvPr/>
        </p:nvSpPr>
        <p:spPr>
          <a:xfrm>
            <a:off x="1297262" y="1955348"/>
            <a:ext cx="1372195" cy="89075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smtClean="0"/>
              <a:t>CLK </a:t>
            </a:r>
          </a:p>
          <a:p>
            <a:pPr algn="ctr"/>
            <a:r>
              <a:rPr lang="en-GB" dirty="0" smtClean="0"/>
              <a:t>Transition</a:t>
            </a:r>
          </a:p>
          <a:p>
            <a:pPr algn="ctr"/>
            <a:r>
              <a:rPr lang="en-GB" dirty="0" smtClean="0"/>
              <a:t>Circuit </a:t>
            </a:r>
            <a:endParaRPr lang="en-GB" dirty="0"/>
          </a:p>
        </p:txBody>
      </p:sp>
      <p:cxnSp>
        <p:nvCxnSpPr>
          <p:cNvPr id="34" name="Straight Arrow Connector 33"/>
          <p:cNvCxnSpPr>
            <a:endCxn id="19" idx="1"/>
          </p:cNvCxnSpPr>
          <p:nvPr/>
        </p:nvCxnSpPr>
        <p:spPr>
          <a:xfrm flipV="1">
            <a:off x="2669457" y="2526755"/>
            <a:ext cx="1017047" cy="5515"/>
          </a:xfrm>
          <a:prstGeom prst="straightConnector1">
            <a:avLst/>
          </a:prstGeom>
          <a:ln w="571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5894233" y="2839911"/>
            <a:ext cx="0" cy="1363403"/>
          </a:xfrm>
          <a:prstGeom prst="straightConnector1">
            <a:avLst/>
          </a:prstGeom>
          <a:ln w="5715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545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58" y="744794"/>
            <a:ext cx="5537746" cy="282431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58" y="3082414"/>
            <a:ext cx="5040693" cy="284643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6648" y="3884760"/>
            <a:ext cx="3639463" cy="172844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9616" y="1017641"/>
            <a:ext cx="2191935" cy="2241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290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871" y="575186"/>
            <a:ext cx="10244228" cy="5678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75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62" name="Picture 2" descr="SH2507-cr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43363" name="Text Box 3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43364" name="Rectangle 4"/>
          <p:cNvSpPr>
            <a:spLocks noChangeArrowheads="1"/>
          </p:cNvSpPr>
          <p:nvPr/>
        </p:nvSpPr>
        <p:spPr bwMode="auto">
          <a:xfrm>
            <a:off x="2438401" y="1143000"/>
            <a:ext cx="1044325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Flip-flops</a:t>
            </a:r>
          </a:p>
        </p:txBody>
      </p:sp>
      <p:sp>
        <p:nvSpPr>
          <p:cNvPr id="143365" name="Rectangle 5"/>
          <p:cNvSpPr>
            <a:spLocks noChangeArrowheads="1"/>
          </p:cNvSpPr>
          <p:nvPr/>
        </p:nvSpPr>
        <p:spPr bwMode="auto">
          <a:xfrm>
            <a:off x="2674938" y="1524000"/>
            <a:ext cx="4411662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ar-SA"/>
          </a:p>
        </p:txBody>
      </p:sp>
      <p:sp>
        <p:nvSpPr>
          <p:cNvPr id="143382" name="Text Box 22"/>
          <p:cNvSpPr txBox="1">
            <a:spLocks noChangeArrowheads="1"/>
          </p:cNvSpPr>
          <p:nvPr/>
        </p:nvSpPr>
        <p:spPr bwMode="auto">
          <a:xfrm>
            <a:off x="2667000" y="1676400"/>
            <a:ext cx="7010400" cy="1338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dirty="0"/>
              <a:t>A flip-flop differs from a latch in the manner it changes states. A flip-flop is a clocked device, in which only the clock edge determines when a new bit is entered. </a:t>
            </a:r>
          </a:p>
          <a:p>
            <a:pPr eaLnBrk="1" hangingPunct="1">
              <a:spcBef>
                <a:spcPct val="50000"/>
              </a:spcBef>
            </a:pPr>
            <a:r>
              <a:rPr lang="en-US" dirty="0"/>
              <a:t>The active edge can be positive or negative.</a:t>
            </a:r>
          </a:p>
        </p:txBody>
      </p:sp>
      <p:graphicFrame>
        <p:nvGraphicFramePr>
          <p:cNvPr id="143383" name="Object 23"/>
          <p:cNvGraphicFramePr>
            <a:graphicFrameLocks noChangeAspect="1"/>
          </p:cNvGraphicFramePr>
          <p:nvPr/>
        </p:nvGraphicFramePr>
        <p:xfrm>
          <a:off x="4114800" y="3505201"/>
          <a:ext cx="5105400" cy="2214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94" name="CorelDRAW" r:id="rId5" imgW="2470594" imgH="1072248" progId="CorelDRAW.Graphic.12">
                  <p:embed/>
                </p:oleObj>
              </mc:Choice>
              <mc:Fallback>
                <p:oleObj name="CorelDRAW" r:id="rId5" imgW="2470594" imgH="1072248" progId="CorelDRAW.Graphic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505201"/>
                        <a:ext cx="5105400" cy="2214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87" name="Text Box 27"/>
          <p:cNvSpPr txBox="1">
            <a:spLocks noChangeArrowheads="1"/>
          </p:cNvSpPr>
          <p:nvPr/>
        </p:nvSpPr>
        <p:spPr bwMode="auto">
          <a:xfrm>
            <a:off x="2514600" y="4876800"/>
            <a:ext cx="1143000" cy="915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Dynamic input indicator</a:t>
            </a:r>
          </a:p>
        </p:txBody>
      </p:sp>
      <p:sp>
        <p:nvSpPr>
          <p:cNvPr id="143388" name="Line 28"/>
          <p:cNvSpPr>
            <a:spLocks noChangeShapeType="1"/>
          </p:cNvSpPr>
          <p:nvPr/>
        </p:nvSpPr>
        <p:spPr bwMode="auto">
          <a:xfrm flipV="1">
            <a:off x="3657600" y="4495800"/>
            <a:ext cx="1066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ar-SA"/>
          </a:p>
        </p:txBody>
      </p:sp>
      <p:sp>
        <p:nvSpPr>
          <p:cNvPr id="143389" name="Line 29"/>
          <p:cNvSpPr>
            <a:spLocks noChangeShapeType="1"/>
          </p:cNvSpPr>
          <p:nvPr/>
        </p:nvSpPr>
        <p:spPr bwMode="auto">
          <a:xfrm flipV="1">
            <a:off x="3733800" y="4495800"/>
            <a:ext cx="36576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ar-SA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457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410" name="Picture 2" descr="SH2507-cr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45411" name="Text Box 3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45412" name="Rectangle 4"/>
          <p:cNvSpPr>
            <a:spLocks noChangeArrowheads="1"/>
          </p:cNvSpPr>
          <p:nvPr/>
        </p:nvSpPr>
        <p:spPr bwMode="auto">
          <a:xfrm>
            <a:off x="2438401" y="1143000"/>
            <a:ext cx="1044325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Flip-flops</a:t>
            </a:r>
          </a:p>
        </p:txBody>
      </p:sp>
      <p:sp>
        <p:nvSpPr>
          <p:cNvPr id="145421" name="Text Box 13"/>
          <p:cNvSpPr txBox="1">
            <a:spLocks noChangeArrowheads="1"/>
          </p:cNvSpPr>
          <p:nvPr/>
        </p:nvSpPr>
        <p:spPr bwMode="auto">
          <a:xfrm>
            <a:off x="2514600" y="1752601"/>
            <a:ext cx="7391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The truth table for a positive-edge triggered D flip-flop shows an up arrow to remind you that it is sensitive to its </a:t>
            </a:r>
            <a:r>
              <a:rPr lang="en-US" i="1"/>
              <a:t>D</a:t>
            </a:r>
            <a:r>
              <a:rPr lang="en-US"/>
              <a:t> input only on the rising edge of the clock; otherwise it is latched. The truth table for a negative-edge triggered D flip-flop is identical except for the direction of the arrow.</a:t>
            </a:r>
          </a:p>
        </p:txBody>
      </p:sp>
      <p:graphicFrame>
        <p:nvGraphicFramePr>
          <p:cNvPr id="145462" name="Object 54"/>
          <p:cNvGraphicFramePr>
            <a:graphicFrameLocks noChangeAspect="1"/>
          </p:cNvGraphicFramePr>
          <p:nvPr/>
        </p:nvGraphicFramePr>
        <p:xfrm>
          <a:off x="2667000" y="3962400"/>
          <a:ext cx="6858000" cy="1530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18" name="CorelDRAW" r:id="rId5" imgW="4010847" imgH="896031" progId="CorelDRAW.Graphic.13">
                  <p:embed/>
                </p:oleObj>
              </mc:Choice>
              <mc:Fallback>
                <p:oleObj name="CorelDRAW" r:id="rId5" imgW="4010847" imgH="896031" progId="CorelDRAW.Graphic.1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962400"/>
                        <a:ext cx="6858000" cy="1530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5463" name="Text Box 55"/>
          <p:cNvSpPr txBox="1">
            <a:spLocks noChangeArrowheads="1"/>
          </p:cNvSpPr>
          <p:nvPr/>
        </p:nvSpPr>
        <p:spPr bwMode="auto">
          <a:xfrm>
            <a:off x="2895600" y="5562600"/>
            <a:ext cx="6553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(a) Positive-edge triggered                             (b) Negative-edge triggered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395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58" name="Picture 2" descr="SH2507-cr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47459" name="Text Box 3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47460" name="Rectangle 4"/>
          <p:cNvSpPr>
            <a:spLocks noChangeArrowheads="1"/>
          </p:cNvSpPr>
          <p:nvPr/>
        </p:nvSpPr>
        <p:spPr bwMode="auto">
          <a:xfrm>
            <a:off x="2438401" y="1143000"/>
            <a:ext cx="1044325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Flip-flops</a:t>
            </a:r>
          </a:p>
        </p:txBody>
      </p:sp>
      <p:sp>
        <p:nvSpPr>
          <p:cNvPr id="147461" name="Text Box 5"/>
          <p:cNvSpPr txBox="1">
            <a:spLocks noChangeArrowheads="1"/>
          </p:cNvSpPr>
          <p:nvPr/>
        </p:nvSpPr>
        <p:spPr bwMode="auto">
          <a:xfrm>
            <a:off x="2514600" y="1752600"/>
            <a:ext cx="75438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The J-K flip-flop is more versatile than the D flip flop. In addition to the clock input, it has two inputs, labeled </a:t>
            </a:r>
            <a:r>
              <a:rPr lang="en-US" i="1"/>
              <a:t>J</a:t>
            </a:r>
            <a:r>
              <a:rPr lang="en-US"/>
              <a:t> and </a:t>
            </a:r>
            <a:r>
              <a:rPr lang="en-US" i="1"/>
              <a:t>K</a:t>
            </a:r>
            <a:r>
              <a:rPr lang="en-US"/>
              <a:t>. When both </a:t>
            </a:r>
            <a:r>
              <a:rPr lang="en-US" i="1"/>
              <a:t>J</a:t>
            </a:r>
            <a:r>
              <a:rPr lang="en-US"/>
              <a:t> and </a:t>
            </a:r>
            <a:r>
              <a:rPr lang="en-US" i="1"/>
              <a:t>K</a:t>
            </a:r>
            <a:r>
              <a:rPr lang="en-US"/>
              <a:t> = 1, the output changes states (toggles) on the active clock edge (in this case, the rising edge).</a:t>
            </a:r>
          </a:p>
        </p:txBody>
      </p:sp>
      <p:graphicFrame>
        <p:nvGraphicFramePr>
          <p:cNvPr id="147464" name="Object 8"/>
          <p:cNvGraphicFramePr>
            <a:graphicFrameLocks noChangeAspect="1"/>
          </p:cNvGraphicFramePr>
          <p:nvPr/>
        </p:nvGraphicFramePr>
        <p:xfrm>
          <a:off x="3962401" y="3429000"/>
          <a:ext cx="4416425" cy="242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42" name="CorelDRAW" r:id="rId5" imgW="2126862" imgH="1166856" progId="CorelDRAW.Graphic.13">
                  <p:embed/>
                </p:oleObj>
              </mc:Choice>
              <mc:Fallback>
                <p:oleObj name="CorelDRAW" r:id="rId5" imgW="2126862" imgH="1166856" progId="CorelDRAW.Graphic.1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1" y="3429000"/>
                        <a:ext cx="4416425" cy="242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122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58" name="Picture 2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47459" name="Text Box 3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47460" name="Rectangle 4"/>
          <p:cNvSpPr>
            <a:spLocks noChangeArrowheads="1"/>
          </p:cNvSpPr>
          <p:nvPr/>
        </p:nvSpPr>
        <p:spPr bwMode="auto">
          <a:xfrm>
            <a:off x="2438401" y="1143000"/>
            <a:ext cx="1044325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Flip-flops</a:t>
            </a:r>
          </a:p>
        </p:txBody>
      </p:sp>
      <p:sp>
        <p:nvSpPr>
          <p:cNvPr id="147461" name="Text Box 5"/>
          <p:cNvSpPr txBox="1">
            <a:spLocks noChangeArrowheads="1"/>
          </p:cNvSpPr>
          <p:nvPr/>
        </p:nvSpPr>
        <p:spPr bwMode="auto">
          <a:xfrm>
            <a:off x="2514600" y="1752600"/>
            <a:ext cx="75438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The J-K flip-flop is more versatile than the D flip flop. In addition to the clock input, it has two inputs, labeled </a:t>
            </a:r>
            <a:r>
              <a:rPr lang="en-US" i="1"/>
              <a:t>J</a:t>
            </a:r>
            <a:r>
              <a:rPr lang="en-US"/>
              <a:t> and </a:t>
            </a:r>
            <a:r>
              <a:rPr lang="en-US" i="1"/>
              <a:t>K</a:t>
            </a:r>
            <a:r>
              <a:rPr lang="en-US"/>
              <a:t>. When both </a:t>
            </a:r>
            <a:r>
              <a:rPr lang="en-US" i="1"/>
              <a:t>J</a:t>
            </a:r>
            <a:r>
              <a:rPr lang="en-US"/>
              <a:t> and </a:t>
            </a:r>
            <a:r>
              <a:rPr lang="en-US" i="1"/>
              <a:t>K</a:t>
            </a:r>
            <a:r>
              <a:rPr lang="en-US"/>
              <a:t> = 1, the output changes states (toggles) on the active clock edge (in this case, the rising edge).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413" y="2779169"/>
            <a:ext cx="4871577" cy="310468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8237" y="3298876"/>
            <a:ext cx="3609975" cy="229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952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458" name="Picture 2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47459" name="Text Box 3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47460" name="Rectangle 4"/>
          <p:cNvSpPr>
            <a:spLocks noChangeArrowheads="1"/>
          </p:cNvSpPr>
          <p:nvPr/>
        </p:nvSpPr>
        <p:spPr bwMode="auto">
          <a:xfrm>
            <a:off x="2438401" y="1143000"/>
            <a:ext cx="1414618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 dirty="0" smtClean="0">
                <a:solidFill>
                  <a:srgbClr val="FFFF99"/>
                </a:solidFill>
              </a:rPr>
              <a:t>J-K  Flip-flops</a:t>
            </a:r>
            <a:endParaRPr lang="en-US" dirty="0">
              <a:solidFill>
                <a:srgbClr val="FFFF99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76" y="1876353"/>
            <a:ext cx="6150524" cy="391976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1562" y="4317359"/>
            <a:ext cx="2643648" cy="168105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5" t="2612" r="6576" b="5837"/>
          <a:stretch/>
        </p:blipFill>
        <p:spPr>
          <a:xfrm>
            <a:off x="7513894" y="1327666"/>
            <a:ext cx="3554634" cy="2833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873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506" name="Picture 2" descr="SH2507-cr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49507" name="Text Box 3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49508" name="Rectangle 4"/>
          <p:cNvSpPr>
            <a:spLocks noChangeArrowheads="1"/>
          </p:cNvSpPr>
          <p:nvPr/>
        </p:nvSpPr>
        <p:spPr bwMode="auto">
          <a:xfrm>
            <a:off x="2438401" y="1143000"/>
            <a:ext cx="1044325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Flip-flops</a:t>
            </a:r>
          </a:p>
        </p:txBody>
      </p:sp>
      <p:sp>
        <p:nvSpPr>
          <p:cNvPr id="149512" name="Rectangle 8"/>
          <p:cNvSpPr>
            <a:spLocks noChangeArrowheads="1"/>
          </p:cNvSpPr>
          <p:nvPr/>
        </p:nvSpPr>
        <p:spPr bwMode="auto">
          <a:xfrm>
            <a:off x="2667000" y="1524000"/>
            <a:ext cx="48006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ar-SA"/>
          </a:p>
        </p:txBody>
      </p:sp>
      <p:sp>
        <p:nvSpPr>
          <p:cNvPr id="149514" name="Text Box 10"/>
          <p:cNvSpPr txBox="1">
            <a:spLocks noChangeArrowheads="1"/>
          </p:cNvSpPr>
          <p:nvPr/>
        </p:nvSpPr>
        <p:spPr bwMode="auto">
          <a:xfrm>
            <a:off x="2971800" y="2057401"/>
            <a:ext cx="4572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Determine the </a:t>
            </a:r>
            <a:r>
              <a:rPr lang="en-US" i="1"/>
              <a:t>Q</a:t>
            </a:r>
            <a:r>
              <a:rPr lang="en-US"/>
              <a:t> output for the </a:t>
            </a:r>
            <a:r>
              <a:rPr lang="en-US" i="1"/>
              <a:t>J-K</a:t>
            </a:r>
            <a:r>
              <a:rPr lang="en-US"/>
              <a:t> flip-flop, given the inputs shown. </a:t>
            </a:r>
          </a:p>
        </p:txBody>
      </p:sp>
      <p:sp>
        <p:nvSpPr>
          <p:cNvPr id="149521" name="WordArt 17"/>
          <p:cNvSpPr>
            <a:spLocks noChangeArrowheads="1" noChangeShapeType="1" noTextEdit="1"/>
          </p:cNvSpPr>
          <p:nvPr/>
        </p:nvSpPr>
        <p:spPr bwMode="auto">
          <a:xfrm>
            <a:off x="2438400" y="1676401"/>
            <a:ext cx="1219200" cy="4492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2800" kern="1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/>
              </a:rPr>
              <a:t>Example</a:t>
            </a:r>
            <a:endParaRPr lang="ar-SA" sz="2800" kern="10">
              <a:ln w="9525">
                <a:noFill/>
                <a:round/>
                <a:headEnd/>
                <a:tailEnd/>
              </a:ln>
              <a:gradFill rotWithShape="0">
                <a:gsLst>
                  <a:gs pos="0">
                    <a:srgbClr val="FFFF00"/>
                  </a:gs>
                  <a:gs pos="100000">
                    <a:srgbClr val="FF9933"/>
                  </a:gs>
                </a:gsLst>
                <a:path path="rect">
                  <a:fillToRect l="50000" t="50000" r="50000" b="50000"/>
                </a:path>
              </a:gradFill>
              <a:effectLst>
                <a:outerShdw dist="35921" dir="2700000" algn="ctr" rotWithShape="0">
                  <a:srgbClr val="C0C0C0">
                    <a:alpha val="80000"/>
                  </a:srgbClr>
                </a:outerShdw>
              </a:effectLst>
              <a:latin typeface="Impact"/>
            </a:endParaRPr>
          </a:p>
        </p:txBody>
      </p:sp>
      <p:sp>
        <p:nvSpPr>
          <p:cNvPr id="149522" name="AutoShape 18"/>
          <p:cNvSpPr>
            <a:spLocks noChangeAspect="1" noChangeArrowheads="1" noTextEdit="1"/>
          </p:cNvSpPr>
          <p:nvPr/>
        </p:nvSpPr>
        <p:spPr bwMode="auto">
          <a:xfrm>
            <a:off x="2667000" y="4114801"/>
            <a:ext cx="6413500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ar-SA"/>
          </a:p>
        </p:txBody>
      </p:sp>
      <p:sp>
        <p:nvSpPr>
          <p:cNvPr id="149524" name="Rectangle 20"/>
          <p:cNvSpPr>
            <a:spLocks noChangeArrowheads="1"/>
          </p:cNvSpPr>
          <p:nvPr/>
        </p:nvSpPr>
        <p:spPr bwMode="auto">
          <a:xfrm>
            <a:off x="2514601" y="4217988"/>
            <a:ext cx="339837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Times" pitchFamily="18" charset="0"/>
              </a:rPr>
              <a:t>CLK</a:t>
            </a:r>
            <a:endParaRPr lang="en-US"/>
          </a:p>
        </p:txBody>
      </p:sp>
      <p:sp>
        <p:nvSpPr>
          <p:cNvPr id="149525" name="Rectangle 21"/>
          <p:cNvSpPr>
            <a:spLocks noChangeArrowheads="1"/>
          </p:cNvSpPr>
          <p:nvPr/>
        </p:nvSpPr>
        <p:spPr bwMode="auto">
          <a:xfrm>
            <a:off x="2692400" y="5822950"/>
            <a:ext cx="12984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Times" pitchFamily="18" charset="0"/>
              </a:rPr>
              <a:t>Q</a:t>
            </a:r>
            <a:endParaRPr lang="en-US"/>
          </a:p>
        </p:txBody>
      </p:sp>
      <p:sp>
        <p:nvSpPr>
          <p:cNvPr id="149526" name="Rectangle 22"/>
          <p:cNvSpPr>
            <a:spLocks noChangeArrowheads="1"/>
          </p:cNvSpPr>
          <p:nvPr/>
        </p:nvSpPr>
        <p:spPr bwMode="auto">
          <a:xfrm>
            <a:off x="2692400" y="5335588"/>
            <a:ext cx="12022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Times" pitchFamily="18" charset="0"/>
              </a:rPr>
              <a:t>K</a:t>
            </a:r>
            <a:endParaRPr lang="en-US"/>
          </a:p>
        </p:txBody>
      </p:sp>
      <p:sp>
        <p:nvSpPr>
          <p:cNvPr id="149527" name="Rectangle 23"/>
          <p:cNvSpPr>
            <a:spLocks noChangeArrowheads="1"/>
          </p:cNvSpPr>
          <p:nvPr/>
        </p:nvSpPr>
        <p:spPr bwMode="auto">
          <a:xfrm>
            <a:off x="2698750" y="4826000"/>
            <a:ext cx="8015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Times" pitchFamily="18" charset="0"/>
              </a:rPr>
              <a:t>J</a:t>
            </a:r>
            <a:endParaRPr lang="en-US"/>
          </a:p>
        </p:txBody>
      </p:sp>
      <p:graphicFrame>
        <p:nvGraphicFramePr>
          <p:cNvPr id="149536" name="Object 32"/>
          <p:cNvGraphicFramePr>
            <a:graphicFrameLocks noChangeAspect="1"/>
          </p:cNvGraphicFramePr>
          <p:nvPr/>
        </p:nvGraphicFramePr>
        <p:xfrm>
          <a:off x="7848601" y="1295401"/>
          <a:ext cx="1827213" cy="164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0" name="CorelDRAW" r:id="rId5" imgW="912796" imgH="824504" progId="CorelDRAW.Graphic.13">
                  <p:embed/>
                </p:oleObj>
              </mc:Choice>
              <mc:Fallback>
                <p:oleObj name="CorelDRAW" r:id="rId5" imgW="912796" imgH="824504" progId="CorelDRAW.Graphic.1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8601" y="1295401"/>
                        <a:ext cx="1827213" cy="164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37" name="Rectangle 33"/>
          <p:cNvSpPr>
            <a:spLocks noChangeArrowheads="1"/>
          </p:cNvSpPr>
          <p:nvPr/>
        </p:nvSpPr>
        <p:spPr bwMode="auto">
          <a:xfrm>
            <a:off x="8578851" y="1981200"/>
            <a:ext cx="339837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Times" pitchFamily="18" charset="0"/>
              </a:rPr>
              <a:t>CLK</a:t>
            </a:r>
            <a:endParaRPr lang="en-US"/>
          </a:p>
        </p:txBody>
      </p:sp>
      <p:sp>
        <p:nvSpPr>
          <p:cNvPr id="149539" name="Rectangle 35"/>
          <p:cNvSpPr>
            <a:spLocks noChangeArrowheads="1"/>
          </p:cNvSpPr>
          <p:nvPr/>
        </p:nvSpPr>
        <p:spPr bwMode="auto">
          <a:xfrm>
            <a:off x="8461375" y="2530475"/>
            <a:ext cx="12022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Times" pitchFamily="18" charset="0"/>
              </a:rPr>
              <a:t>K</a:t>
            </a:r>
            <a:endParaRPr lang="en-US"/>
          </a:p>
        </p:txBody>
      </p:sp>
      <p:sp>
        <p:nvSpPr>
          <p:cNvPr id="149540" name="Rectangle 36"/>
          <p:cNvSpPr>
            <a:spLocks noChangeArrowheads="1"/>
          </p:cNvSpPr>
          <p:nvPr/>
        </p:nvSpPr>
        <p:spPr bwMode="auto">
          <a:xfrm>
            <a:off x="8467725" y="1490663"/>
            <a:ext cx="8015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Times" pitchFamily="18" charset="0"/>
              </a:rPr>
              <a:t>J</a:t>
            </a:r>
            <a:endParaRPr lang="en-US"/>
          </a:p>
        </p:txBody>
      </p:sp>
      <p:grpSp>
        <p:nvGrpSpPr>
          <p:cNvPr id="149542" name="Group 38"/>
          <p:cNvGrpSpPr>
            <a:grpSpLocks/>
          </p:cNvGrpSpPr>
          <p:nvPr/>
        </p:nvGrpSpPr>
        <p:grpSpPr bwMode="auto">
          <a:xfrm>
            <a:off x="9602788" y="2438400"/>
            <a:ext cx="381000" cy="336550"/>
            <a:chOff x="2454" y="3201"/>
            <a:chExt cx="240" cy="212"/>
          </a:xfrm>
        </p:grpSpPr>
        <p:sp>
          <p:nvSpPr>
            <p:cNvPr id="149543" name="Text Box 39"/>
            <p:cNvSpPr txBox="1">
              <a:spLocks noChangeArrowheads="1"/>
            </p:cNvSpPr>
            <p:nvPr/>
          </p:nvSpPr>
          <p:spPr bwMode="auto">
            <a:xfrm>
              <a:off x="2454" y="3201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Q</a:t>
              </a:r>
            </a:p>
          </p:txBody>
        </p:sp>
        <p:sp>
          <p:nvSpPr>
            <p:cNvPr id="149544" name="Line 40"/>
            <p:cNvSpPr>
              <a:spLocks noChangeShapeType="1"/>
            </p:cNvSpPr>
            <p:nvPr/>
          </p:nvSpPr>
          <p:spPr bwMode="auto">
            <a:xfrm>
              <a:off x="2524" y="3237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sp>
        <p:nvSpPr>
          <p:cNvPr id="149545" name="Text Box 41"/>
          <p:cNvSpPr txBox="1">
            <a:spLocks noChangeArrowheads="1"/>
          </p:cNvSpPr>
          <p:nvPr/>
        </p:nvSpPr>
        <p:spPr bwMode="auto">
          <a:xfrm>
            <a:off x="9601200" y="1336675"/>
            <a:ext cx="533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i="1">
                <a:solidFill>
                  <a:srgbClr val="FF0000"/>
                </a:solidFill>
              </a:rPr>
              <a:t>Q</a:t>
            </a:r>
          </a:p>
        </p:txBody>
      </p:sp>
      <p:sp>
        <p:nvSpPr>
          <p:cNvPr id="149518" name="Text Box 14"/>
          <p:cNvSpPr txBox="1">
            <a:spLocks noChangeArrowheads="1"/>
          </p:cNvSpPr>
          <p:nvPr/>
        </p:nvSpPr>
        <p:spPr bwMode="auto">
          <a:xfrm>
            <a:off x="2971800" y="2879726"/>
            <a:ext cx="7086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2000"/>
              <a:t>Notice that the outputs change on the leading edge of the clock. </a:t>
            </a:r>
          </a:p>
        </p:txBody>
      </p:sp>
      <p:sp>
        <p:nvSpPr>
          <p:cNvPr id="149546" name="Line 42"/>
          <p:cNvSpPr>
            <a:spLocks noChangeShapeType="1"/>
          </p:cNvSpPr>
          <p:nvPr/>
        </p:nvSpPr>
        <p:spPr bwMode="auto">
          <a:xfrm flipV="1">
            <a:off x="7467600" y="2209800"/>
            <a:ext cx="8382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ar-SA"/>
          </a:p>
        </p:txBody>
      </p:sp>
      <p:sp>
        <p:nvSpPr>
          <p:cNvPr id="149548" name="WordArt 44"/>
          <p:cNvSpPr>
            <a:spLocks noChangeArrowheads="1" noChangeShapeType="1" noTextEdit="1"/>
          </p:cNvSpPr>
          <p:nvPr/>
        </p:nvSpPr>
        <p:spPr bwMode="auto">
          <a:xfrm>
            <a:off x="2438400" y="3276601"/>
            <a:ext cx="1219200" cy="4492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2800" kern="1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/>
              </a:rPr>
              <a:t>Solution</a:t>
            </a:r>
            <a:endParaRPr lang="ar-SA" sz="2800" kern="10">
              <a:ln w="9525">
                <a:noFill/>
                <a:round/>
                <a:headEnd/>
                <a:tailEnd/>
              </a:ln>
              <a:gradFill rotWithShape="0">
                <a:gsLst>
                  <a:gs pos="0">
                    <a:srgbClr val="FFFF00"/>
                  </a:gs>
                  <a:gs pos="100000">
                    <a:srgbClr val="FF9933"/>
                  </a:gs>
                </a:gsLst>
                <a:path path="rect">
                  <a:fillToRect l="50000" t="50000" r="50000" b="50000"/>
                </a:path>
              </a:gradFill>
              <a:effectLst>
                <a:outerShdw dist="35921" dir="2700000" algn="ctr" rotWithShape="0">
                  <a:srgbClr val="C0C0C0">
                    <a:alpha val="80000"/>
                  </a:srgbClr>
                </a:outerShdw>
              </a:effectLst>
              <a:latin typeface="Impact"/>
            </a:endParaRPr>
          </a:p>
        </p:txBody>
      </p:sp>
      <p:sp>
        <p:nvSpPr>
          <p:cNvPr id="149549" name="Text Box 45"/>
          <p:cNvSpPr txBox="1">
            <a:spLocks noChangeArrowheads="1"/>
          </p:cNvSpPr>
          <p:nvPr/>
        </p:nvSpPr>
        <p:spPr bwMode="auto">
          <a:xfrm>
            <a:off x="2819400" y="3733800"/>
            <a:ext cx="533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Set</a:t>
            </a:r>
          </a:p>
        </p:txBody>
      </p:sp>
      <p:sp>
        <p:nvSpPr>
          <p:cNvPr id="149550" name="Text Box 46"/>
          <p:cNvSpPr txBox="1">
            <a:spLocks noChangeArrowheads="1"/>
          </p:cNvSpPr>
          <p:nvPr/>
        </p:nvSpPr>
        <p:spPr bwMode="auto">
          <a:xfrm>
            <a:off x="4572000" y="3733800"/>
            <a:ext cx="838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Toggle</a:t>
            </a:r>
          </a:p>
        </p:txBody>
      </p:sp>
      <p:sp>
        <p:nvSpPr>
          <p:cNvPr id="149551" name="Text Box 47"/>
          <p:cNvSpPr txBox="1">
            <a:spLocks noChangeArrowheads="1"/>
          </p:cNvSpPr>
          <p:nvPr/>
        </p:nvSpPr>
        <p:spPr bwMode="auto">
          <a:xfrm>
            <a:off x="6172200" y="3733800"/>
            <a:ext cx="533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Set</a:t>
            </a:r>
          </a:p>
        </p:txBody>
      </p:sp>
      <p:sp>
        <p:nvSpPr>
          <p:cNvPr id="149552" name="Text Box 48"/>
          <p:cNvSpPr txBox="1">
            <a:spLocks noChangeArrowheads="1"/>
          </p:cNvSpPr>
          <p:nvPr/>
        </p:nvSpPr>
        <p:spPr bwMode="auto">
          <a:xfrm>
            <a:off x="7696200" y="3733800"/>
            <a:ext cx="914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Latch</a:t>
            </a:r>
          </a:p>
        </p:txBody>
      </p:sp>
      <p:graphicFrame>
        <p:nvGraphicFramePr>
          <p:cNvPr id="149553" name="Object 49"/>
          <p:cNvGraphicFramePr>
            <a:graphicFrameLocks noChangeAspect="1"/>
          </p:cNvGraphicFramePr>
          <p:nvPr/>
        </p:nvGraphicFramePr>
        <p:xfrm>
          <a:off x="2895600" y="4114800"/>
          <a:ext cx="6172200" cy="201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1" name="CorelDRAW" r:id="rId7" imgW="5385976" imgH="1761500" progId="CorelDRAW.Graphic.13">
                  <p:embed/>
                </p:oleObj>
              </mc:Choice>
              <mc:Fallback>
                <p:oleObj name="CorelDRAW" r:id="rId7" imgW="5385976" imgH="1761500" progId="CorelDRAW.Graphic.1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4114800"/>
                        <a:ext cx="6172200" cy="201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9516" name="Rectangle 12"/>
          <p:cNvSpPr>
            <a:spLocks noChangeArrowheads="1"/>
          </p:cNvSpPr>
          <p:nvPr/>
        </p:nvSpPr>
        <p:spPr bwMode="auto">
          <a:xfrm>
            <a:off x="3060700" y="5651500"/>
            <a:ext cx="6477000" cy="4572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SA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866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9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9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954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49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49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495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495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95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95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95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95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495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495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8" dur="2000"/>
                                        <p:tgtEl>
                                          <p:spTgt spid="1495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18" grpId="0"/>
      <p:bldP spid="149546" grpId="0" animBg="1"/>
      <p:bldP spid="149548" grpId="0" animBg="1"/>
      <p:bldP spid="149549" grpId="0"/>
      <p:bldP spid="149550" grpId="0"/>
      <p:bldP spid="149551" grpId="0"/>
      <p:bldP spid="149552" grpId="0"/>
      <p:bldP spid="149516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554" name="Picture 2" descr="SH2507-cr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51555" name="Text Box 3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51556" name="Rectangle 4"/>
          <p:cNvSpPr>
            <a:spLocks noChangeArrowheads="1"/>
          </p:cNvSpPr>
          <p:nvPr/>
        </p:nvSpPr>
        <p:spPr bwMode="auto">
          <a:xfrm>
            <a:off x="2438401" y="1143000"/>
            <a:ext cx="1044325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Flip-flops</a:t>
            </a:r>
          </a:p>
        </p:txBody>
      </p:sp>
      <p:graphicFrame>
        <p:nvGraphicFramePr>
          <p:cNvPr id="151608" name="Object 56"/>
          <p:cNvGraphicFramePr>
            <a:graphicFrameLocks noChangeAspect="1"/>
          </p:cNvGraphicFramePr>
          <p:nvPr/>
        </p:nvGraphicFramePr>
        <p:xfrm>
          <a:off x="7086600" y="3048000"/>
          <a:ext cx="2057400" cy="196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90" name="CorelDRAW" r:id="rId5" imgW="1250001" imgH="1191565" progId="CorelDRAW.Graphic.13">
                  <p:embed/>
                </p:oleObj>
              </mc:Choice>
              <mc:Fallback>
                <p:oleObj name="CorelDRAW" r:id="rId5" imgW="1250001" imgH="1191565" progId="CorelDRAW.Graphic.1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3048000"/>
                        <a:ext cx="2057400" cy="196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1609" name="Rectangle 57"/>
          <p:cNvSpPr>
            <a:spLocks noChangeArrowheads="1"/>
          </p:cNvSpPr>
          <p:nvPr/>
        </p:nvSpPr>
        <p:spPr bwMode="auto">
          <a:xfrm>
            <a:off x="8001001" y="3810000"/>
            <a:ext cx="339837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Times" pitchFamily="18" charset="0"/>
              </a:rPr>
              <a:t>CLK</a:t>
            </a:r>
            <a:endParaRPr lang="en-US"/>
          </a:p>
        </p:txBody>
      </p:sp>
      <p:sp>
        <p:nvSpPr>
          <p:cNvPr id="151610" name="Rectangle 58"/>
          <p:cNvSpPr>
            <a:spLocks noChangeArrowheads="1"/>
          </p:cNvSpPr>
          <p:nvPr/>
        </p:nvSpPr>
        <p:spPr bwMode="auto">
          <a:xfrm>
            <a:off x="7924800" y="3276600"/>
            <a:ext cx="129844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Times" pitchFamily="18" charset="0"/>
              </a:rPr>
              <a:t>D</a:t>
            </a:r>
            <a:endParaRPr lang="en-US"/>
          </a:p>
        </p:txBody>
      </p:sp>
      <p:sp>
        <p:nvSpPr>
          <p:cNvPr id="151611" name="Rectangle 59"/>
          <p:cNvSpPr>
            <a:spLocks noChangeArrowheads="1"/>
          </p:cNvSpPr>
          <p:nvPr/>
        </p:nvSpPr>
        <p:spPr bwMode="auto">
          <a:xfrm>
            <a:off x="6705601" y="3810000"/>
            <a:ext cx="339837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Times" pitchFamily="18" charset="0"/>
              </a:rPr>
              <a:t>CLK</a:t>
            </a:r>
            <a:endParaRPr lang="en-US"/>
          </a:p>
        </p:txBody>
      </p:sp>
      <p:grpSp>
        <p:nvGrpSpPr>
          <p:cNvPr id="151612" name="Group 60"/>
          <p:cNvGrpSpPr>
            <a:grpSpLocks/>
          </p:cNvGrpSpPr>
          <p:nvPr/>
        </p:nvGrpSpPr>
        <p:grpSpPr bwMode="auto">
          <a:xfrm>
            <a:off x="9067800" y="4343400"/>
            <a:ext cx="381000" cy="336550"/>
            <a:chOff x="2454" y="3201"/>
            <a:chExt cx="240" cy="212"/>
          </a:xfrm>
        </p:grpSpPr>
        <p:sp>
          <p:nvSpPr>
            <p:cNvPr id="151613" name="Text Box 61"/>
            <p:cNvSpPr txBox="1">
              <a:spLocks noChangeArrowheads="1"/>
            </p:cNvSpPr>
            <p:nvPr/>
          </p:nvSpPr>
          <p:spPr bwMode="auto">
            <a:xfrm>
              <a:off x="2454" y="3201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Q</a:t>
              </a:r>
            </a:p>
          </p:txBody>
        </p:sp>
        <p:sp>
          <p:nvSpPr>
            <p:cNvPr id="151614" name="Line 62"/>
            <p:cNvSpPr>
              <a:spLocks noChangeShapeType="1"/>
            </p:cNvSpPr>
            <p:nvPr/>
          </p:nvSpPr>
          <p:spPr bwMode="auto">
            <a:xfrm>
              <a:off x="2524" y="3237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sp>
        <p:nvSpPr>
          <p:cNvPr id="151615" name="Text Box 63"/>
          <p:cNvSpPr txBox="1">
            <a:spLocks noChangeArrowheads="1"/>
          </p:cNvSpPr>
          <p:nvPr/>
        </p:nvSpPr>
        <p:spPr bwMode="auto">
          <a:xfrm>
            <a:off x="9144000" y="3200400"/>
            <a:ext cx="533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i="1">
                <a:solidFill>
                  <a:srgbClr val="FF0000"/>
                </a:solidFill>
              </a:rPr>
              <a:t>Q</a:t>
            </a:r>
          </a:p>
        </p:txBody>
      </p:sp>
      <p:grpSp>
        <p:nvGrpSpPr>
          <p:cNvPr id="151620" name="Group 68"/>
          <p:cNvGrpSpPr>
            <a:grpSpLocks/>
          </p:cNvGrpSpPr>
          <p:nvPr/>
        </p:nvGrpSpPr>
        <p:grpSpPr bwMode="auto">
          <a:xfrm>
            <a:off x="2514600" y="1752601"/>
            <a:ext cx="7543800" cy="923925"/>
            <a:chOff x="624" y="1104"/>
            <a:chExt cx="4752" cy="582"/>
          </a:xfrm>
        </p:grpSpPr>
        <p:sp>
          <p:nvSpPr>
            <p:cNvPr id="151589" name="Text Box 37"/>
            <p:cNvSpPr txBox="1">
              <a:spLocks noChangeArrowheads="1"/>
            </p:cNvSpPr>
            <p:nvPr/>
          </p:nvSpPr>
          <p:spPr bwMode="auto">
            <a:xfrm>
              <a:off x="624" y="1104"/>
              <a:ext cx="4752" cy="5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/>
                <a:t>A D-flip-flop does not have a toggle mode like the J-K flip-flop, but you can hardwire a toggle mode by connecting </a:t>
              </a:r>
              <a:r>
                <a:rPr lang="en-US" i="1"/>
                <a:t>Q</a:t>
              </a:r>
              <a:r>
                <a:rPr lang="en-US"/>
                <a:t> back to </a:t>
              </a:r>
              <a:r>
                <a:rPr lang="en-US" i="1"/>
                <a:t>D</a:t>
              </a:r>
              <a:r>
                <a:rPr lang="en-US"/>
                <a:t> as shown. This is useful in some counters as you will see in Chapter 8. </a:t>
              </a:r>
            </a:p>
          </p:txBody>
        </p:sp>
        <p:sp>
          <p:nvSpPr>
            <p:cNvPr id="151616" name="Line 64"/>
            <p:cNvSpPr>
              <a:spLocks noChangeShapeType="1"/>
            </p:cNvSpPr>
            <p:nvPr/>
          </p:nvSpPr>
          <p:spPr bwMode="auto">
            <a:xfrm>
              <a:off x="5040" y="1392"/>
              <a:ext cx="14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grpSp>
        <p:nvGrpSpPr>
          <p:cNvPr id="151618" name="Group 66"/>
          <p:cNvGrpSpPr>
            <a:grpSpLocks/>
          </p:cNvGrpSpPr>
          <p:nvPr/>
        </p:nvGrpSpPr>
        <p:grpSpPr bwMode="auto">
          <a:xfrm>
            <a:off x="2590800" y="3581401"/>
            <a:ext cx="3962400" cy="1920875"/>
            <a:chOff x="672" y="2256"/>
            <a:chExt cx="2496" cy="1210"/>
          </a:xfrm>
        </p:grpSpPr>
        <p:sp>
          <p:nvSpPr>
            <p:cNvPr id="151590" name="Text Box 38"/>
            <p:cNvSpPr txBox="1">
              <a:spLocks noChangeArrowheads="1"/>
            </p:cNvSpPr>
            <p:nvPr/>
          </p:nvSpPr>
          <p:spPr bwMode="auto">
            <a:xfrm>
              <a:off x="672" y="2256"/>
              <a:ext cx="2496" cy="12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2000"/>
                <a:t>For example, if </a:t>
              </a:r>
              <a:r>
                <a:rPr lang="en-US" sz="2000" i="1"/>
                <a:t>Q</a:t>
              </a:r>
              <a:r>
                <a:rPr lang="en-US" sz="2000"/>
                <a:t> is LOW, </a:t>
              </a:r>
              <a:r>
                <a:rPr lang="en-US" sz="2000" i="1"/>
                <a:t>Q</a:t>
              </a:r>
              <a:r>
                <a:rPr lang="en-US" sz="2000"/>
                <a:t> is HIGH and the flip-flop will toggle on the next clock edge. Because the flip-flop only changes on the active edge, the output will only change once for each clock pulse.</a:t>
              </a:r>
            </a:p>
          </p:txBody>
        </p:sp>
        <p:sp>
          <p:nvSpPr>
            <p:cNvPr id="151617" name="Line 65"/>
            <p:cNvSpPr>
              <a:spLocks noChangeShapeType="1"/>
            </p:cNvSpPr>
            <p:nvPr/>
          </p:nvSpPr>
          <p:spPr bwMode="auto">
            <a:xfrm>
              <a:off x="2496" y="2304"/>
              <a:ext cx="9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sp>
        <p:nvSpPr>
          <p:cNvPr id="151621" name="Text Box 69"/>
          <p:cNvSpPr txBox="1">
            <a:spLocks noChangeArrowheads="1"/>
          </p:cNvSpPr>
          <p:nvPr/>
        </p:nvSpPr>
        <p:spPr bwMode="auto">
          <a:xfrm>
            <a:off x="6858000" y="5334001"/>
            <a:ext cx="28194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D flip-flop hardwired for a toggle mode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074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16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16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274" name="Picture 2" descr="SH2507-crop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82275" name="Text Box 3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82276" name="Rectangle 4"/>
          <p:cNvSpPr>
            <a:spLocks noChangeArrowheads="1"/>
          </p:cNvSpPr>
          <p:nvPr/>
        </p:nvSpPr>
        <p:spPr bwMode="auto">
          <a:xfrm>
            <a:off x="2438401" y="1143000"/>
            <a:ext cx="1044325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Flip-flops</a:t>
            </a:r>
          </a:p>
        </p:txBody>
      </p:sp>
      <p:sp>
        <p:nvSpPr>
          <p:cNvPr id="182277" name="Text Box 5"/>
          <p:cNvSpPr txBox="1">
            <a:spLocks noChangeArrowheads="1"/>
          </p:cNvSpPr>
          <p:nvPr/>
        </p:nvSpPr>
        <p:spPr bwMode="auto">
          <a:xfrm>
            <a:off x="2590800" y="1752600"/>
            <a:ext cx="73914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Synchronous inputs are transferred in the triggering edge of the clock (for example the </a:t>
            </a:r>
            <a:r>
              <a:rPr lang="en-US" i="1"/>
              <a:t>D</a:t>
            </a:r>
            <a:r>
              <a:rPr lang="en-US"/>
              <a:t> or </a:t>
            </a:r>
            <a:r>
              <a:rPr lang="en-US" i="1"/>
              <a:t>J-K</a:t>
            </a:r>
            <a:r>
              <a:rPr lang="en-US"/>
              <a:t> inputs). Most flip-flops have other inputs that are </a:t>
            </a:r>
            <a:r>
              <a:rPr lang="en-US" i="1"/>
              <a:t>asynchronous</a:t>
            </a:r>
            <a:r>
              <a:rPr lang="en-US"/>
              <a:t>, meaning they affect the output independent of the clock. </a:t>
            </a:r>
          </a:p>
        </p:txBody>
      </p:sp>
      <p:sp>
        <p:nvSpPr>
          <p:cNvPr id="182278" name="Text Box 6"/>
          <p:cNvSpPr txBox="1">
            <a:spLocks noChangeArrowheads="1"/>
          </p:cNvSpPr>
          <p:nvPr/>
        </p:nvSpPr>
        <p:spPr bwMode="auto">
          <a:xfrm>
            <a:off x="2590800" y="3581401"/>
            <a:ext cx="4267200" cy="161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Two such inputs are normally labeled preset (</a:t>
            </a:r>
            <a:r>
              <a:rPr lang="en-US" sz="2000" i="1"/>
              <a:t>PRE</a:t>
            </a:r>
            <a:r>
              <a:rPr lang="en-US" sz="2000"/>
              <a:t>) and clear (</a:t>
            </a:r>
            <a:r>
              <a:rPr lang="en-US" sz="2000" i="1"/>
              <a:t>CLR</a:t>
            </a:r>
            <a:r>
              <a:rPr lang="en-US" sz="2000"/>
              <a:t>). These inputs are usually active LOW. A J-K flip flop with active LOW preset and CLR is shown.</a:t>
            </a:r>
          </a:p>
        </p:txBody>
      </p:sp>
      <p:graphicFrame>
        <p:nvGraphicFramePr>
          <p:cNvPr id="182279" name="Object 7"/>
          <p:cNvGraphicFramePr>
            <a:graphicFrameLocks noChangeAspect="1"/>
          </p:cNvGraphicFramePr>
          <p:nvPr/>
        </p:nvGraphicFramePr>
        <p:xfrm>
          <a:off x="7239000" y="3657600"/>
          <a:ext cx="18415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414" name="CorelDRAW" r:id="rId5" imgW="935576" imgH="1122314" progId="CorelDRAW.Graphic.13">
                  <p:embed/>
                </p:oleObj>
              </mc:Choice>
              <mc:Fallback>
                <p:oleObj name="CorelDRAW" r:id="rId5" imgW="935576" imgH="1122314" progId="CorelDRAW.Graphic.1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3657600"/>
                        <a:ext cx="1841500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2280" name="Rectangle 8"/>
          <p:cNvSpPr>
            <a:spLocks noChangeArrowheads="1"/>
          </p:cNvSpPr>
          <p:nvPr/>
        </p:nvSpPr>
        <p:spPr bwMode="auto">
          <a:xfrm>
            <a:off x="7978776" y="4648200"/>
            <a:ext cx="339837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Times" pitchFamily="18" charset="0"/>
              </a:rPr>
              <a:t>CLK</a:t>
            </a:r>
            <a:endParaRPr lang="en-US"/>
          </a:p>
        </p:txBody>
      </p:sp>
      <p:sp>
        <p:nvSpPr>
          <p:cNvPr id="182281" name="Rectangle 9"/>
          <p:cNvSpPr>
            <a:spLocks noChangeArrowheads="1"/>
          </p:cNvSpPr>
          <p:nvPr/>
        </p:nvSpPr>
        <p:spPr bwMode="auto">
          <a:xfrm>
            <a:off x="7861300" y="5197475"/>
            <a:ext cx="12022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Times" pitchFamily="18" charset="0"/>
              </a:rPr>
              <a:t>K</a:t>
            </a:r>
            <a:endParaRPr lang="en-US"/>
          </a:p>
        </p:txBody>
      </p:sp>
      <p:sp>
        <p:nvSpPr>
          <p:cNvPr id="182282" name="Rectangle 10"/>
          <p:cNvSpPr>
            <a:spLocks noChangeArrowheads="1"/>
          </p:cNvSpPr>
          <p:nvPr/>
        </p:nvSpPr>
        <p:spPr bwMode="auto">
          <a:xfrm>
            <a:off x="7867650" y="4157663"/>
            <a:ext cx="8015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Times" pitchFamily="18" charset="0"/>
              </a:rPr>
              <a:t>J</a:t>
            </a:r>
            <a:endParaRPr lang="en-US"/>
          </a:p>
        </p:txBody>
      </p:sp>
      <p:grpSp>
        <p:nvGrpSpPr>
          <p:cNvPr id="182283" name="Group 11"/>
          <p:cNvGrpSpPr>
            <a:grpSpLocks/>
          </p:cNvGrpSpPr>
          <p:nvPr/>
        </p:nvGrpSpPr>
        <p:grpSpPr bwMode="auto">
          <a:xfrm>
            <a:off x="9002713" y="5105400"/>
            <a:ext cx="381000" cy="336550"/>
            <a:chOff x="2454" y="3201"/>
            <a:chExt cx="240" cy="212"/>
          </a:xfrm>
        </p:grpSpPr>
        <p:sp>
          <p:nvSpPr>
            <p:cNvPr id="182284" name="Text Box 12"/>
            <p:cNvSpPr txBox="1">
              <a:spLocks noChangeArrowheads="1"/>
            </p:cNvSpPr>
            <p:nvPr/>
          </p:nvSpPr>
          <p:spPr bwMode="auto">
            <a:xfrm>
              <a:off x="2454" y="3201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Q</a:t>
              </a:r>
            </a:p>
          </p:txBody>
        </p:sp>
        <p:sp>
          <p:nvSpPr>
            <p:cNvPr id="182285" name="Line 13"/>
            <p:cNvSpPr>
              <a:spLocks noChangeShapeType="1"/>
            </p:cNvSpPr>
            <p:nvPr/>
          </p:nvSpPr>
          <p:spPr bwMode="auto">
            <a:xfrm>
              <a:off x="2524" y="3237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sp>
        <p:nvSpPr>
          <p:cNvPr id="182286" name="Text Box 14"/>
          <p:cNvSpPr txBox="1">
            <a:spLocks noChangeArrowheads="1"/>
          </p:cNvSpPr>
          <p:nvPr/>
        </p:nvSpPr>
        <p:spPr bwMode="auto">
          <a:xfrm>
            <a:off x="9001125" y="4003675"/>
            <a:ext cx="533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i="1">
                <a:solidFill>
                  <a:srgbClr val="FF0000"/>
                </a:solidFill>
              </a:rPr>
              <a:t>Q</a:t>
            </a:r>
          </a:p>
        </p:txBody>
      </p:sp>
      <p:sp>
        <p:nvSpPr>
          <p:cNvPr id="182287" name="Text Box 15"/>
          <p:cNvSpPr txBox="1">
            <a:spLocks noChangeArrowheads="1"/>
          </p:cNvSpPr>
          <p:nvPr/>
        </p:nvSpPr>
        <p:spPr bwMode="auto">
          <a:xfrm>
            <a:off x="7861300" y="3352801"/>
            <a:ext cx="46358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i="1"/>
              <a:t>PRE</a:t>
            </a:r>
          </a:p>
        </p:txBody>
      </p:sp>
      <p:sp>
        <p:nvSpPr>
          <p:cNvPr id="182288" name="Text Box 16"/>
          <p:cNvSpPr txBox="1">
            <a:spLocks noChangeArrowheads="1"/>
          </p:cNvSpPr>
          <p:nvPr/>
        </p:nvSpPr>
        <p:spPr bwMode="auto">
          <a:xfrm>
            <a:off x="7937500" y="5867401"/>
            <a:ext cx="45236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i="1"/>
              <a:t>CLR</a:t>
            </a:r>
          </a:p>
        </p:txBody>
      </p:sp>
      <p:sp>
        <p:nvSpPr>
          <p:cNvPr id="182289" name="Line 17"/>
          <p:cNvSpPr>
            <a:spLocks noChangeShapeType="1"/>
          </p:cNvSpPr>
          <p:nvPr/>
        </p:nvSpPr>
        <p:spPr bwMode="auto">
          <a:xfrm>
            <a:off x="8013700" y="5894388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ar-SA"/>
          </a:p>
        </p:txBody>
      </p:sp>
      <p:sp>
        <p:nvSpPr>
          <p:cNvPr id="182290" name="Line 18"/>
          <p:cNvSpPr>
            <a:spLocks noChangeShapeType="1"/>
          </p:cNvSpPr>
          <p:nvPr/>
        </p:nvSpPr>
        <p:spPr bwMode="auto">
          <a:xfrm>
            <a:off x="7962900" y="33845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ar-SA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520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2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8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3654" name="Object 54"/>
          <p:cNvGraphicFramePr>
            <a:graphicFrameLocks noChangeAspect="1"/>
          </p:cNvGraphicFramePr>
          <p:nvPr/>
        </p:nvGraphicFramePr>
        <p:xfrm>
          <a:off x="3048000" y="3581400"/>
          <a:ext cx="6019800" cy="258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62" name="CorelDRAW" r:id="rId4" imgW="5148232" imgH="2209190" progId="CorelDRAW.Graphic.13">
                  <p:embed/>
                </p:oleObj>
              </mc:Choice>
              <mc:Fallback>
                <p:oleObj name="CorelDRAW" r:id="rId4" imgW="5148232" imgH="2209190" progId="CorelDRAW.Graphic.1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581400"/>
                        <a:ext cx="6019800" cy="2584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3602" name="Picture 2" descr="SH2507-crop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53603" name="Text Box 3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53604" name="Rectangle 4"/>
          <p:cNvSpPr>
            <a:spLocks noChangeArrowheads="1"/>
          </p:cNvSpPr>
          <p:nvPr/>
        </p:nvSpPr>
        <p:spPr bwMode="auto">
          <a:xfrm>
            <a:off x="2438401" y="1143000"/>
            <a:ext cx="1044325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Flip-flops</a:t>
            </a:r>
          </a:p>
        </p:txBody>
      </p:sp>
      <p:sp>
        <p:nvSpPr>
          <p:cNvPr id="153619" name="Rectangle 19"/>
          <p:cNvSpPr>
            <a:spLocks noChangeArrowheads="1"/>
          </p:cNvSpPr>
          <p:nvPr/>
        </p:nvSpPr>
        <p:spPr bwMode="auto">
          <a:xfrm>
            <a:off x="2438401" y="1143000"/>
            <a:ext cx="1044325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Flip-flops</a:t>
            </a:r>
          </a:p>
        </p:txBody>
      </p:sp>
      <p:sp>
        <p:nvSpPr>
          <p:cNvPr id="153620" name="Rectangle 20"/>
          <p:cNvSpPr>
            <a:spLocks noChangeArrowheads="1"/>
          </p:cNvSpPr>
          <p:nvPr/>
        </p:nvSpPr>
        <p:spPr bwMode="auto">
          <a:xfrm>
            <a:off x="2667000" y="1524000"/>
            <a:ext cx="48006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anchor="ctr"/>
          <a:lstStyle/>
          <a:p>
            <a:endParaRPr lang="ar-SA"/>
          </a:p>
        </p:txBody>
      </p:sp>
      <p:sp>
        <p:nvSpPr>
          <p:cNvPr id="153621" name="Text Box 21"/>
          <p:cNvSpPr txBox="1">
            <a:spLocks noChangeArrowheads="1"/>
          </p:cNvSpPr>
          <p:nvPr/>
        </p:nvSpPr>
        <p:spPr bwMode="auto">
          <a:xfrm>
            <a:off x="2971800" y="2057401"/>
            <a:ext cx="45720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Determine the </a:t>
            </a:r>
            <a:r>
              <a:rPr lang="en-US" i="1"/>
              <a:t>Q</a:t>
            </a:r>
            <a:r>
              <a:rPr lang="en-US"/>
              <a:t> output for the </a:t>
            </a:r>
            <a:r>
              <a:rPr lang="en-US" i="1"/>
              <a:t>J-K</a:t>
            </a:r>
            <a:r>
              <a:rPr lang="en-US"/>
              <a:t> flip-flop, given the inputs shown. </a:t>
            </a:r>
          </a:p>
        </p:txBody>
      </p:sp>
      <p:sp>
        <p:nvSpPr>
          <p:cNvPr id="153622" name="WordArt 22"/>
          <p:cNvSpPr>
            <a:spLocks noChangeArrowheads="1" noChangeShapeType="1" noTextEdit="1"/>
          </p:cNvSpPr>
          <p:nvPr/>
        </p:nvSpPr>
        <p:spPr bwMode="auto">
          <a:xfrm>
            <a:off x="2438400" y="1676401"/>
            <a:ext cx="1219200" cy="4492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2800" kern="1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/>
              </a:rPr>
              <a:t>Example</a:t>
            </a:r>
            <a:endParaRPr lang="ar-SA" sz="2800" kern="10">
              <a:ln w="9525">
                <a:noFill/>
                <a:round/>
                <a:headEnd/>
                <a:tailEnd/>
              </a:ln>
              <a:gradFill rotWithShape="0">
                <a:gsLst>
                  <a:gs pos="0">
                    <a:srgbClr val="FFFF00"/>
                  </a:gs>
                  <a:gs pos="100000">
                    <a:srgbClr val="FF9933"/>
                  </a:gs>
                </a:gsLst>
                <a:path path="rect">
                  <a:fillToRect l="50000" t="50000" r="50000" b="50000"/>
                </a:path>
              </a:gradFill>
              <a:effectLst>
                <a:outerShdw dist="35921" dir="2700000" algn="ctr" rotWithShape="0">
                  <a:srgbClr val="C0C0C0">
                    <a:alpha val="80000"/>
                  </a:srgbClr>
                </a:outerShdw>
              </a:effectLst>
              <a:latin typeface="Impact"/>
            </a:endParaRPr>
          </a:p>
        </p:txBody>
      </p:sp>
      <p:graphicFrame>
        <p:nvGraphicFramePr>
          <p:cNvPr id="153633" name="Object 33"/>
          <p:cNvGraphicFramePr>
            <a:graphicFrameLocks noChangeAspect="1"/>
          </p:cNvGraphicFramePr>
          <p:nvPr/>
        </p:nvGraphicFramePr>
        <p:xfrm>
          <a:off x="7718425" y="838200"/>
          <a:ext cx="1841500" cy="220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63" name="CorelDRAW" r:id="rId7" imgW="935576" imgH="1122314" progId="CorelDRAW.Graphic.13">
                  <p:embed/>
                </p:oleObj>
              </mc:Choice>
              <mc:Fallback>
                <p:oleObj name="CorelDRAW" r:id="rId7" imgW="935576" imgH="1122314" progId="CorelDRAW.Graphic.1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18425" y="838200"/>
                        <a:ext cx="1841500" cy="220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34" name="Rectangle 34"/>
          <p:cNvSpPr>
            <a:spLocks noChangeArrowheads="1"/>
          </p:cNvSpPr>
          <p:nvPr/>
        </p:nvSpPr>
        <p:spPr bwMode="auto">
          <a:xfrm>
            <a:off x="8458201" y="1828800"/>
            <a:ext cx="339837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Times" pitchFamily="18" charset="0"/>
              </a:rPr>
              <a:t>CLK</a:t>
            </a:r>
            <a:endParaRPr lang="en-US"/>
          </a:p>
        </p:txBody>
      </p:sp>
      <p:sp>
        <p:nvSpPr>
          <p:cNvPr id="153635" name="Rectangle 35"/>
          <p:cNvSpPr>
            <a:spLocks noChangeArrowheads="1"/>
          </p:cNvSpPr>
          <p:nvPr/>
        </p:nvSpPr>
        <p:spPr bwMode="auto">
          <a:xfrm>
            <a:off x="8340725" y="2378075"/>
            <a:ext cx="12022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Times" pitchFamily="18" charset="0"/>
              </a:rPr>
              <a:t>K</a:t>
            </a:r>
            <a:endParaRPr lang="en-US"/>
          </a:p>
        </p:txBody>
      </p:sp>
      <p:sp>
        <p:nvSpPr>
          <p:cNvPr id="153636" name="Rectangle 36"/>
          <p:cNvSpPr>
            <a:spLocks noChangeArrowheads="1"/>
          </p:cNvSpPr>
          <p:nvPr/>
        </p:nvSpPr>
        <p:spPr bwMode="auto">
          <a:xfrm>
            <a:off x="8347075" y="1338263"/>
            <a:ext cx="8015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Times" pitchFamily="18" charset="0"/>
              </a:rPr>
              <a:t>J</a:t>
            </a:r>
            <a:endParaRPr lang="en-US"/>
          </a:p>
        </p:txBody>
      </p:sp>
      <p:grpSp>
        <p:nvGrpSpPr>
          <p:cNvPr id="153637" name="Group 37"/>
          <p:cNvGrpSpPr>
            <a:grpSpLocks/>
          </p:cNvGrpSpPr>
          <p:nvPr/>
        </p:nvGrpSpPr>
        <p:grpSpPr bwMode="auto">
          <a:xfrm>
            <a:off x="9482138" y="2286000"/>
            <a:ext cx="381000" cy="336550"/>
            <a:chOff x="2454" y="3201"/>
            <a:chExt cx="240" cy="212"/>
          </a:xfrm>
        </p:grpSpPr>
        <p:sp>
          <p:nvSpPr>
            <p:cNvPr id="153638" name="Text Box 38"/>
            <p:cNvSpPr txBox="1">
              <a:spLocks noChangeArrowheads="1"/>
            </p:cNvSpPr>
            <p:nvPr/>
          </p:nvSpPr>
          <p:spPr bwMode="auto">
            <a:xfrm>
              <a:off x="2454" y="3201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i="1">
                  <a:solidFill>
                    <a:srgbClr val="FF0000"/>
                  </a:solidFill>
                </a:rPr>
                <a:t>Q</a:t>
              </a:r>
            </a:p>
          </p:txBody>
        </p:sp>
        <p:sp>
          <p:nvSpPr>
            <p:cNvPr id="153639" name="Line 39"/>
            <p:cNvSpPr>
              <a:spLocks noChangeShapeType="1"/>
            </p:cNvSpPr>
            <p:nvPr/>
          </p:nvSpPr>
          <p:spPr bwMode="auto">
            <a:xfrm>
              <a:off x="2524" y="3237"/>
              <a:ext cx="96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sp>
        <p:nvSpPr>
          <p:cNvPr id="153640" name="Text Box 40"/>
          <p:cNvSpPr txBox="1">
            <a:spLocks noChangeArrowheads="1"/>
          </p:cNvSpPr>
          <p:nvPr/>
        </p:nvSpPr>
        <p:spPr bwMode="auto">
          <a:xfrm>
            <a:off x="9480550" y="1184275"/>
            <a:ext cx="533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i="1">
                <a:solidFill>
                  <a:srgbClr val="FF0000"/>
                </a:solidFill>
              </a:rPr>
              <a:t>Q</a:t>
            </a:r>
          </a:p>
        </p:txBody>
      </p:sp>
      <p:sp>
        <p:nvSpPr>
          <p:cNvPr id="153641" name="Text Box 41"/>
          <p:cNvSpPr txBox="1">
            <a:spLocks noChangeArrowheads="1"/>
          </p:cNvSpPr>
          <p:nvPr/>
        </p:nvSpPr>
        <p:spPr bwMode="auto">
          <a:xfrm>
            <a:off x="8340725" y="533401"/>
            <a:ext cx="46358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i="1"/>
              <a:t>PRE</a:t>
            </a:r>
          </a:p>
        </p:txBody>
      </p:sp>
      <p:sp>
        <p:nvSpPr>
          <p:cNvPr id="153642" name="Text Box 42"/>
          <p:cNvSpPr txBox="1">
            <a:spLocks noChangeArrowheads="1"/>
          </p:cNvSpPr>
          <p:nvPr/>
        </p:nvSpPr>
        <p:spPr bwMode="auto">
          <a:xfrm>
            <a:off x="8382000" y="3048001"/>
            <a:ext cx="452368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1400" i="1"/>
              <a:t>CLR</a:t>
            </a:r>
          </a:p>
        </p:txBody>
      </p:sp>
      <p:sp>
        <p:nvSpPr>
          <p:cNvPr id="153643" name="Line 43"/>
          <p:cNvSpPr>
            <a:spLocks noChangeShapeType="1"/>
          </p:cNvSpPr>
          <p:nvPr/>
        </p:nvSpPr>
        <p:spPr bwMode="auto">
          <a:xfrm>
            <a:off x="8493125" y="3074988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ar-SA"/>
          </a:p>
        </p:txBody>
      </p:sp>
      <p:sp>
        <p:nvSpPr>
          <p:cNvPr id="153644" name="Line 44"/>
          <p:cNvSpPr>
            <a:spLocks noChangeShapeType="1"/>
          </p:cNvSpPr>
          <p:nvPr/>
        </p:nvSpPr>
        <p:spPr bwMode="auto">
          <a:xfrm>
            <a:off x="8442325" y="565150"/>
            <a:ext cx="304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ar-SA"/>
          </a:p>
        </p:txBody>
      </p:sp>
      <p:sp>
        <p:nvSpPr>
          <p:cNvPr id="153646" name="WordArt 46"/>
          <p:cNvSpPr>
            <a:spLocks noChangeArrowheads="1" noChangeShapeType="1" noTextEdit="1"/>
          </p:cNvSpPr>
          <p:nvPr/>
        </p:nvSpPr>
        <p:spPr bwMode="auto">
          <a:xfrm>
            <a:off x="2438400" y="2863851"/>
            <a:ext cx="1219200" cy="4492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2800" kern="1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/>
              </a:rPr>
              <a:t>Solution</a:t>
            </a:r>
            <a:endParaRPr lang="ar-SA" sz="2800" kern="10">
              <a:ln w="9525">
                <a:noFill/>
                <a:round/>
                <a:headEnd/>
                <a:tailEnd/>
              </a:ln>
              <a:gradFill rotWithShape="0">
                <a:gsLst>
                  <a:gs pos="0">
                    <a:srgbClr val="FFFF00"/>
                  </a:gs>
                  <a:gs pos="100000">
                    <a:srgbClr val="FF9933"/>
                  </a:gs>
                </a:gsLst>
                <a:path path="rect">
                  <a:fillToRect l="50000" t="50000" r="50000" b="50000"/>
                </a:path>
              </a:gradFill>
              <a:effectLst>
                <a:outerShdw dist="35921" dir="2700000" algn="ctr" rotWithShape="0">
                  <a:srgbClr val="C0C0C0">
                    <a:alpha val="80000"/>
                  </a:srgbClr>
                </a:outerShdw>
              </a:effectLst>
              <a:latin typeface="Impact"/>
            </a:endParaRPr>
          </a:p>
        </p:txBody>
      </p:sp>
      <p:sp>
        <p:nvSpPr>
          <p:cNvPr id="153647" name="Text Box 47"/>
          <p:cNvSpPr txBox="1">
            <a:spLocks noChangeArrowheads="1"/>
          </p:cNvSpPr>
          <p:nvPr/>
        </p:nvSpPr>
        <p:spPr bwMode="auto">
          <a:xfrm>
            <a:off x="3011488" y="3276600"/>
            <a:ext cx="533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Set</a:t>
            </a:r>
          </a:p>
        </p:txBody>
      </p:sp>
      <p:sp>
        <p:nvSpPr>
          <p:cNvPr id="153648" name="Text Box 48"/>
          <p:cNvSpPr txBox="1">
            <a:spLocks noChangeArrowheads="1"/>
          </p:cNvSpPr>
          <p:nvPr/>
        </p:nvSpPr>
        <p:spPr bwMode="auto">
          <a:xfrm>
            <a:off x="4114800" y="3276600"/>
            <a:ext cx="838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Toggle</a:t>
            </a:r>
          </a:p>
        </p:txBody>
      </p:sp>
      <p:sp>
        <p:nvSpPr>
          <p:cNvPr id="153649" name="Text Box 49"/>
          <p:cNvSpPr txBox="1">
            <a:spLocks noChangeArrowheads="1"/>
          </p:cNvSpPr>
          <p:nvPr/>
        </p:nvSpPr>
        <p:spPr bwMode="auto">
          <a:xfrm>
            <a:off x="6248401" y="3276600"/>
            <a:ext cx="64611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Reset</a:t>
            </a:r>
          </a:p>
        </p:txBody>
      </p:sp>
      <p:sp>
        <p:nvSpPr>
          <p:cNvPr id="153650" name="Text Box 50"/>
          <p:cNvSpPr txBox="1">
            <a:spLocks noChangeArrowheads="1"/>
          </p:cNvSpPr>
          <p:nvPr/>
        </p:nvSpPr>
        <p:spPr bwMode="auto">
          <a:xfrm>
            <a:off x="7315200" y="3276600"/>
            <a:ext cx="914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Toggle</a:t>
            </a:r>
          </a:p>
        </p:txBody>
      </p:sp>
      <p:sp>
        <p:nvSpPr>
          <p:cNvPr id="153651" name="Text Box 51"/>
          <p:cNvSpPr txBox="1">
            <a:spLocks noChangeArrowheads="1"/>
          </p:cNvSpPr>
          <p:nvPr/>
        </p:nvSpPr>
        <p:spPr bwMode="auto">
          <a:xfrm>
            <a:off x="4495800" y="4572000"/>
            <a:ext cx="533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Set</a:t>
            </a:r>
          </a:p>
        </p:txBody>
      </p:sp>
      <p:sp>
        <p:nvSpPr>
          <p:cNvPr id="153652" name="Text Box 52"/>
          <p:cNvSpPr txBox="1">
            <a:spLocks noChangeArrowheads="1"/>
          </p:cNvSpPr>
          <p:nvPr/>
        </p:nvSpPr>
        <p:spPr bwMode="auto">
          <a:xfrm>
            <a:off x="5181600" y="3276600"/>
            <a:ext cx="533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Set</a:t>
            </a:r>
          </a:p>
        </p:txBody>
      </p:sp>
      <p:sp>
        <p:nvSpPr>
          <p:cNvPr id="153653" name="Text Box 53"/>
          <p:cNvSpPr txBox="1">
            <a:spLocks noChangeArrowheads="1"/>
          </p:cNvSpPr>
          <p:nvPr/>
        </p:nvSpPr>
        <p:spPr bwMode="auto">
          <a:xfrm>
            <a:off x="7964488" y="4997450"/>
            <a:ext cx="646112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Reset</a:t>
            </a:r>
          </a:p>
        </p:txBody>
      </p:sp>
      <p:sp>
        <p:nvSpPr>
          <p:cNvPr id="153655" name="Text Box 55"/>
          <p:cNvSpPr txBox="1">
            <a:spLocks noChangeArrowheads="1"/>
          </p:cNvSpPr>
          <p:nvPr/>
        </p:nvSpPr>
        <p:spPr bwMode="auto">
          <a:xfrm>
            <a:off x="8382000" y="3276600"/>
            <a:ext cx="914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/>
              <a:t>Latch</a:t>
            </a:r>
          </a:p>
        </p:txBody>
      </p:sp>
      <p:sp>
        <p:nvSpPr>
          <p:cNvPr id="153656" name="Rectangle 56"/>
          <p:cNvSpPr>
            <a:spLocks noChangeArrowheads="1"/>
          </p:cNvSpPr>
          <p:nvPr/>
        </p:nvSpPr>
        <p:spPr bwMode="auto">
          <a:xfrm>
            <a:off x="2895600" y="5715000"/>
            <a:ext cx="6400800" cy="457200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ar-SA"/>
          </a:p>
        </p:txBody>
      </p:sp>
      <p:sp>
        <p:nvSpPr>
          <p:cNvPr id="153657" name="Rectangle 57"/>
          <p:cNvSpPr>
            <a:spLocks noChangeArrowheads="1"/>
          </p:cNvSpPr>
          <p:nvPr/>
        </p:nvSpPr>
        <p:spPr bwMode="auto">
          <a:xfrm>
            <a:off x="2635251" y="3657600"/>
            <a:ext cx="339837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Times" pitchFamily="18" charset="0"/>
              </a:rPr>
              <a:t>CLK</a:t>
            </a:r>
            <a:endParaRPr lang="en-US"/>
          </a:p>
        </p:txBody>
      </p:sp>
      <p:sp>
        <p:nvSpPr>
          <p:cNvPr id="153658" name="Rectangle 58"/>
          <p:cNvSpPr>
            <a:spLocks noChangeArrowheads="1"/>
          </p:cNvSpPr>
          <p:nvPr/>
        </p:nvSpPr>
        <p:spPr bwMode="auto">
          <a:xfrm>
            <a:off x="2819400" y="4572000"/>
            <a:ext cx="120226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Times" pitchFamily="18" charset="0"/>
              </a:rPr>
              <a:t>K</a:t>
            </a:r>
            <a:endParaRPr lang="en-US"/>
          </a:p>
        </p:txBody>
      </p:sp>
      <p:sp>
        <p:nvSpPr>
          <p:cNvPr id="153659" name="Rectangle 59"/>
          <p:cNvSpPr>
            <a:spLocks noChangeArrowheads="1"/>
          </p:cNvSpPr>
          <p:nvPr/>
        </p:nvSpPr>
        <p:spPr bwMode="auto">
          <a:xfrm flipH="1">
            <a:off x="2832100" y="4114800"/>
            <a:ext cx="215900" cy="215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r>
              <a:rPr lang="en-US" sz="1400" i="1">
                <a:solidFill>
                  <a:srgbClr val="000000"/>
                </a:solidFill>
                <a:latin typeface="Times" pitchFamily="18" charset="0"/>
              </a:rPr>
              <a:t>J</a:t>
            </a:r>
            <a:endParaRPr lang="en-US"/>
          </a:p>
        </p:txBody>
      </p:sp>
      <p:sp>
        <p:nvSpPr>
          <p:cNvPr id="153663" name="Text Box 63"/>
          <p:cNvSpPr txBox="1">
            <a:spLocks noChangeArrowheads="1"/>
          </p:cNvSpPr>
          <p:nvPr/>
        </p:nvSpPr>
        <p:spPr bwMode="auto">
          <a:xfrm>
            <a:off x="2667000" y="5729288"/>
            <a:ext cx="5334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i="1"/>
              <a:t>Q</a:t>
            </a:r>
          </a:p>
        </p:txBody>
      </p:sp>
      <p:grpSp>
        <p:nvGrpSpPr>
          <p:cNvPr id="153667" name="Group 67"/>
          <p:cNvGrpSpPr>
            <a:grpSpLocks/>
          </p:cNvGrpSpPr>
          <p:nvPr/>
        </p:nvGrpSpPr>
        <p:grpSpPr bwMode="auto">
          <a:xfrm>
            <a:off x="2590800" y="4953001"/>
            <a:ext cx="463550" cy="307975"/>
            <a:chOff x="482" y="3190"/>
            <a:chExt cx="292" cy="194"/>
          </a:xfrm>
        </p:grpSpPr>
        <p:sp>
          <p:nvSpPr>
            <p:cNvPr id="153664" name="Text Box 64"/>
            <p:cNvSpPr txBox="1">
              <a:spLocks noChangeArrowheads="1"/>
            </p:cNvSpPr>
            <p:nvPr/>
          </p:nvSpPr>
          <p:spPr bwMode="auto">
            <a:xfrm>
              <a:off x="482" y="3190"/>
              <a:ext cx="292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 i="1"/>
                <a:t>PRE</a:t>
              </a:r>
            </a:p>
          </p:txBody>
        </p:sp>
        <p:sp>
          <p:nvSpPr>
            <p:cNvPr id="153666" name="Line 66"/>
            <p:cNvSpPr>
              <a:spLocks noChangeShapeType="1"/>
            </p:cNvSpPr>
            <p:nvPr/>
          </p:nvSpPr>
          <p:spPr bwMode="auto">
            <a:xfrm>
              <a:off x="546" y="3210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grpSp>
        <p:nvGrpSpPr>
          <p:cNvPr id="153670" name="Group 70"/>
          <p:cNvGrpSpPr>
            <a:grpSpLocks/>
          </p:cNvGrpSpPr>
          <p:nvPr/>
        </p:nvGrpSpPr>
        <p:grpSpPr bwMode="auto">
          <a:xfrm>
            <a:off x="2590800" y="5334001"/>
            <a:ext cx="452438" cy="307975"/>
            <a:chOff x="720" y="3360"/>
            <a:chExt cx="285" cy="194"/>
          </a:xfrm>
        </p:grpSpPr>
        <p:sp>
          <p:nvSpPr>
            <p:cNvPr id="153668" name="Text Box 68"/>
            <p:cNvSpPr txBox="1">
              <a:spLocks noChangeArrowheads="1"/>
            </p:cNvSpPr>
            <p:nvPr/>
          </p:nvSpPr>
          <p:spPr bwMode="auto">
            <a:xfrm>
              <a:off x="720" y="3360"/>
              <a:ext cx="285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US" sz="1400" i="1"/>
                <a:t>CLR</a:t>
              </a:r>
            </a:p>
          </p:txBody>
        </p:sp>
        <p:sp>
          <p:nvSpPr>
            <p:cNvPr id="153669" name="Line 69"/>
            <p:cNvSpPr>
              <a:spLocks noChangeShapeType="1"/>
            </p:cNvSpPr>
            <p:nvPr/>
          </p:nvSpPr>
          <p:spPr bwMode="auto">
            <a:xfrm>
              <a:off x="790" y="3377"/>
              <a:ext cx="1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/>
            <a:lstStyle/>
            <a:p>
              <a:endParaRPr lang="ar-SA"/>
            </a:p>
          </p:txBody>
        </p:sp>
      </p:grpSp>
      <p:pic>
        <p:nvPicPr>
          <p:cNvPr id="42" name="Picture 4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51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3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36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36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3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3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3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3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36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36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36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36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3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3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36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36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3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3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536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536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536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536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9" dur="2000"/>
                                        <p:tgtEl>
                                          <p:spTgt spid="1536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53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46" grpId="0" animBg="1"/>
      <p:bldP spid="153647" grpId="0"/>
      <p:bldP spid="153648" grpId="0"/>
      <p:bldP spid="153649" grpId="0"/>
      <p:bldP spid="153650" grpId="0"/>
      <p:bldP spid="153651" grpId="0"/>
      <p:bldP spid="153652" grpId="0"/>
      <p:bldP spid="153653" grpId="0"/>
      <p:bldP spid="153655" grpId="0"/>
      <p:bldP spid="153656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Text Box 2"/>
          <p:cNvSpPr txBox="1">
            <a:spLocks noChangeArrowheads="1"/>
          </p:cNvSpPr>
          <p:nvPr/>
        </p:nvSpPr>
        <p:spPr bwMode="auto">
          <a:xfrm>
            <a:off x="2362200" y="1752600"/>
            <a:ext cx="76962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/>
              <a:t>Other specifications include maximum clock frequency, minimum pulse widths for various inputs, and power dissipation. The power dissipation is the product of the supply voltage and the average current required.</a:t>
            </a:r>
          </a:p>
        </p:txBody>
      </p:sp>
      <p:pic>
        <p:nvPicPr>
          <p:cNvPr id="159747" name="Picture 3" descr="SH2507-cro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228600"/>
            <a:ext cx="2209800" cy="685800"/>
          </a:xfrm>
          <a:prstGeom prst="rect">
            <a:avLst/>
          </a:prstGeom>
          <a:noFill/>
          <a:ln w="19050">
            <a:solidFill>
              <a:schemeClr val="accent2"/>
            </a:solidFill>
            <a:miter lim="800000"/>
            <a:headEnd/>
            <a:tailEnd/>
          </a:ln>
        </p:spPr>
      </p:pic>
      <p:sp>
        <p:nvSpPr>
          <p:cNvPr id="159748" name="Text Box 4"/>
          <p:cNvSpPr txBox="1">
            <a:spLocks noChangeArrowheads="1"/>
          </p:cNvSpPr>
          <p:nvPr/>
        </p:nvSpPr>
        <p:spPr bwMode="auto">
          <a:xfrm>
            <a:off x="5105400" y="228600"/>
            <a:ext cx="1981200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3600">
                <a:solidFill>
                  <a:schemeClr val="bg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A6A6A"/>
                    </a:outerShdw>
                  </a:cont>
                  <a:effect ref="fillLine"/>
                </a:effectDag>
              </a:rPr>
              <a:t>Summary</a:t>
            </a:r>
          </a:p>
        </p:txBody>
      </p:sp>
      <p:sp>
        <p:nvSpPr>
          <p:cNvPr id="159749" name="Rectangle 5"/>
          <p:cNvSpPr>
            <a:spLocks noChangeArrowheads="1"/>
          </p:cNvSpPr>
          <p:nvPr/>
        </p:nvSpPr>
        <p:spPr bwMode="auto">
          <a:xfrm>
            <a:off x="2438401" y="1143000"/>
            <a:ext cx="2375779" cy="369332"/>
          </a:xfrm>
          <a:prstGeom prst="rect">
            <a:avLst/>
          </a:prstGeom>
          <a:solidFill>
            <a:srgbClr val="996633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eaLnBrk="1" hangingPunct="1"/>
            <a:r>
              <a:rPr lang="en-US">
                <a:solidFill>
                  <a:srgbClr val="FFFF99"/>
                </a:solidFill>
              </a:rPr>
              <a:t>Flip-flop Characteristics</a:t>
            </a:r>
          </a:p>
        </p:txBody>
      </p:sp>
      <p:sp>
        <p:nvSpPr>
          <p:cNvPr id="159760" name="Text Box 16"/>
          <p:cNvSpPr txBox="1">
            <a:spLocks noChangeArrowheads="1"/>
          </p:cNvSpPr>
          <p:nvPr/>
        </p:nvSpPr>
        <p:spPr bwMode="auto">
          <a:xfrm>
            <a:off x="2362200" y="3352801"/>
            <a:ext cx="76200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A useful comparison between logic families is the </a:t>
            </a:r>
            <a:r>
              <a:rPr lang="en-US" sz="2000" b="1"/>
              <a:t>speed-power product</a:t>
            </a:r>
            <a:r>
              <a:rPr lang="en-US" sz="2000"/>
              <a:t> which uses two of the specifications discussed: the average propagation delay and the average power dissipation. The unit is energy.</a:t>
            </a:r>
          </a:p>
        </p:txBody>
      </p:sp>
      <p:sp>
        <p:nvSpPr>
          <p:cNvPr id="159761" name="WordArt 17"/>
          <p:cNvSpPr>
            <a:spLocks noChangeArrowheads="1" noChangeShapeType="1" noTextEdit="1"/>
          </p:cNvSpPr>
          <p:nvPr/>
        </p:nvSpPr>
        <p:spPr bwMode="auto">
          <a:xfrm>
            <a:off x="2514600" y="4427538"/>
            <a:ext cx="1219200" cy="4492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2800" kern="1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/>
              </a:rPr>
              <a:t>Example</a:t>
            </a:r>
            <a:endParaRPr lang="ar-SA" sz="2800" kern="10">
              <a:ln w="9525">
                <a:noFill/>
                <a:round/>
                <a:headEnd/>
                <a:tailEnd/>
              </a:ln>
              <a:gradFill rotWithShape="0">
                <a:gsLst>
                  <a:gs pos="0">
                    <a:srgbClr val="FFFF00"/>
                  </a:gs>
                  <a:gs pos="100000">
                    <a:srgbClr val="FF9933"/>
                  </a:gs>
                </a:gsLst>
                <a:path path="rect">
                  <a:fillToRect l="50000" t="50000" r="50000" b="50000"/>
                </a:path>
              </a:gradFill>
              <a:effectLst>
                <a:outerShdw dist="35921" dir="2700000" algn="ctr" rotWithShape="0">
                  <a:srgbClr val="C0C0C0">
                    <a:alpha val="80000"/>
                  </a:srgbClr>
                </a:outerShdw>
              </a:effectLst>
              <a:latin typeface="Impact"/>
            </a:endParaRPr>
          </a:p>
        </p:txBody>
      </p:sp>
      <p:sp>
        <p:nvSpPr>
          <p:cNvPr id="159762" name="WordArt 18"/>
          <p:cNvSpPr>
            <a:spLocks noChangeArrowheads="1" noChangeShapeType="1" noTextEdit="1"/>
          </p:cNvSpPr>
          <p:nvPr/>
        </p:nvSpPr>
        <p:spPr bwMode="auto">
          <a:xfrm>
            <a:off x="2514600" y="5181601"/>
            <a:ext cx="1219200" cy="4492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2800" kern="10">
                <a:ln w="9525">
                  <a:noFill/>
                  <a:round/>
                  <a:headEnd/>
                  <a:tailEnd/>
                </a:ln>
                <a:gradFill rotWithShape="0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dist="35921" dir="2700000" algn="ctr" rotWithShape="0">
                    <a:srgbClr val="C0C0C0">
                      <a:alpha val="80000"/>
                    </a:srgbClr>
                  </a:outerShdw>
                </a:effectLst>
                <a:latin typeface="Impact"/>
              </a:rPr>
              <a:t>Solution</a:t>
            </a:r>
            <a:endParaRPr lang="ar-SA" sz="2800" kern="10">
              <a:ln w="9525">
                <a:noFill/>
                <a:round/>
                <a:headEnd/>
                <a:tailEnd/>
              </a:ln>
              <a:gradFill rotWithShape="0">
                <a:gsLst>
                  <a:gs pos="0">
                    <a:srgbClr val="FFFF00"/>
                  </a:gs>
                  <a:gs pos="100000">
                    <a:srgbClr val="FF9933"/>
                  </a:gs>
                </a:gsLst>
                <a:path path="rect">
                  <a:fillToRect l="50000" t="50000" r="50000" b="50000"/>
                </a:path>
              </a:gradFill>
              <a:effectLst>
                <a:outerShdw dist="35921" dir="2700000" algn="ctr" rotWithShape="0">
                  <a:srgbClr val="C0C0C0">
                    <a:alpha val="80000"/>
                  </a:srgbClr>
                </a:outerShdw>
              </a:effectLst>
              <a:latin typeface="Impact"/>
            </a:endParaRPr>
          </a:p>
        </p:txBody>
      </p:sp>
      <p:sp>
        <p:nvSpPr>
          <p:cNvPr id="159763" name="Text Box 19"/>
          <p:cNvSpPr txBox="1">
            <a:spLocks noChangeArrowheads="1"/>
          </p:cNvSpPr>
          <p:nvPr/>
        </p:nvSpPr>
        <p:spPr bwMode="auto">
          <a:xfrm>
            <a:off x="3810000" y="4403726"/>
            <a:ext cx="57912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What is the speed-power product for 74AHC74A? Use the data from Table 7-5 to determine the answer.</a:t>
            </a:r>
          </a:p>
        </p:txBody>
      </p:sp>
      <p:sp>
        <p:nvSpPr>
          <p:cNvPr id="159764" name="Text Box 20"/>
          <p:cNvSpPr txBox="1">
            <a:spLocks noChangeArrowheads="1"/>
          </p:cNvSpPr>
          <p:nvPr/>
        </p:nvSpPr>
        <p:spPr bwMode="auto">
          <a:xfrm>
            <a:off x="3810000" y="5105401"/>
            <a:ext cx="6096000" cy="10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/>
              <a:t>From Table 7-5, the average propagation delay is 4.6 ns. The quiescent power dissipated is 1.1 mW. Therefore, the speed-power product is</a:t>
            </a:r>
          </a:p>
        </p:txBody>
      </p:sp>
      <p:sp>
        <p:nvSpPr>
          <p:cNvPr id="159765" name="Text Box 21"/>
          <p:cNvSpPr txBox="1">
            <a:spLocks noChangeArrowheads="1"/>
          </p:cNvSpPr>
          <p:nvPr/>
        </p:nvSpPr>
        <p:spPr bwMode="auto">
          <a:xfrm>
            <a:off x="6705600" y="5715001"/>
            <a:ext cx="6096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000" dirty="0">
                <a:solidFill>
                  <a:srgbClr val="FF0000"/>
                </a:solidFill>
              </a:rPr>
              <a:t>5 </a:t>
            </a:r>
            <a:r>
              <a:rPr lang="en-US" sz="2000" dirty="0" err="1">
                <a:solidFill>
                  <a:srgbClr val="FF0000"/>
                </a:solidFill>
              </a:rPr>
              <a:t>pJ</a:t>
            </a: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49413" cy="1649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7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97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9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159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9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59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9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9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159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97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97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59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97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597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597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97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60" grpId="0"/>
      <p:bldP spid="159761" grpId="0" animBg="1"/>
      <p:bldP spid="159762" grpId="0" animBg="1"/>
      <p:bldP spid="159763" grpId="0"/>
      <p:bldP spid="159764" grpId="0"/>
      <p:bldP spid="159765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3348</TotalTime>
  <Words>2589</Words>
  <Application>Microsoft Office PowerPoint</Application>
  <PresentationFormat>Widescreen</PresentationFormat>
  <Paragraphs>631</Paragraphs>
  <Slides>69</Slides>
  <Notes>49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69</vt:i4>
      </vt:variant>
    </vt:vector>
  </HeadingPairs>
  <TitlesOfParts>
    <vt:vector size="77" baseType="lpstr">
      <vt:lpstr>Arial</vt:lpstr>
      <vt:lpstr>Calibri</vt:lpstr>
      <vt:lpstr>Calibri Light</vt:lpstr>
      <vt:lpstr>Impact</vt:lpstr>
      <vt:lpstr>Times</vt:lpstr>
      <vt:lpstr>urw-din</vt:lpstr>
      <vt:lpstr>Office Theme</vt:lpstr>
      <vt:lpstr>CorelDRAW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Science</dc:title>
  <dc:creator>Adil Soomro</dc:creator>
  <cp:lastModifiedBy>farhan ahmed</cp:lastModifiedBy>
  <cp:revision>282</cp:revision>
  <dcterms:created xsi:type="dcterms:W3CDTF">2018-08-05T16:50:42Z</dcterms:created>
  <dcterms:modified xsi:type="dcterms:W3CDTF">2022-12-03T08:31:07Z</dcterms:modified>
</cp:coreProperties>
</file>